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s-GT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2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7B52B-C30C-5CE6-392F-D5B7327BA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41FBE0-533D-F72B-6A2E-2BA43DC0D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10F5F1-6841-2216-3900-A07A60C70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2AFA-55B8-4917-9530-026497C54108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8D8757-CA65-677D-EF43-B92216147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7500EB-3BD5-FC2D-0EB4-A4DA34F1E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80258-AACD-4E38-8A54-53C929310D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60887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FF191F-EA6D-47FC-41C3-42D6AD3A2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B57BDC-0576-38B3-CB86-DF88B6CDB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D817F1-7A48-678E-C978-5B8F28606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2AFA-55B8-4917-9530-026497C54108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E4472D-9CCE-F96B-24EB-EF4FE3DF9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97F137-A288-E28E-FBB6-88AE92BE8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80258-AACD-4E38-8A54-53C929310D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467821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4390D3-C6D2-793D-9777-0CD467F0C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3213FF-D1C6-E7BE-4A74-32525ADC9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E43D64-F350-C1A1-20BA-4C3D3D684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2AFA-55B8-4917-9530-026497C54108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8090F8-050C-9842-E113-E47A48F78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45FE94-67CD-FC2B-F89B-085CCD6E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80258-AACD-4E38-8A54-53C929310D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66766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C06A4-A37B-E081-097C-47D944809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85DD88-A582-FA2D-59A5-AC8879983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FC658B3-EB4B-6A7E-E7AB-C697AF620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78F468-EDA2-BC5B-C20A-2428512C3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2AFA-55B8-4917-9530-026497C54108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B925D4-340B-E7A0-4FF9-55CF2340F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CF07FF-0EB4-36F9-1B81-8243565F6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80258-AACD-4E38-8A54-53C929310D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982737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EC48C-2C8B-B20D-C0CC-8AB9F40A0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B39A65-0EC5-B9AC-828D-2C29C26E7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DD46CF-DF44-E3E9-3ABE-03591D6F4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7C16DBC-43D2-FFDF-1F3E-E2DD4025E9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1F4AB4B-4981-EC71-F8C9-429377EF52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34E33FC-2162-9E89-63C6-86B4DD547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2AFA-55B8-4917-9530-026497C54108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3561CC8-892C-571F-4BA3-CB1334A4D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C3D5403-F08C-5C9C-95A2-1B76FAD81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80258-AACD-4E38-8A54-53C929310D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34711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7137E0-92E9-AA45-8DEC-B9D5DEE4E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35BE357-CDEC-6967-83CA-CCE420C52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2AFA-55B8-4917-9530-026497C54108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798C4B1-FC11-8D6C-8535-50A17FEE3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2AFAB4C-6495-B203-4B06-5E0A78327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80258-AACD-4E38-8A54-53C929310D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87791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A963881-EE3F-9337-BB8E-FCE61A6C8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2AFA-55B8-4917-9530-026497C54108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C64C81-E9B2-87D7-4E1A-3D9C18628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E8FA84-DB26-B60A-5614-173F0410E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80258-AACD-4E38-8A54-53C929310D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58719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5B49C-EDA9-A2DB-9837-23BF1F401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C1E4F9-DA9E-6093-ACD0-8B5E7C2A8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09E2B04-04AE-FB90-4465-90E936F8E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AC8664-A52D-2975-E0C1-CE7FB3E25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2AFA-55B8-4917-9530-026497C54108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F3FE7F-55F9-C3C0-EEA7-CA614D230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12C0A1-53B9-74BF-ECB6-5B6665EAE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80258-AACD-4E38-8A54-53C929310D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85147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492282-6A9D-3764-AE6D-B81A17CE7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F113617-ABC8-FF75-A9CF-25C2E05BDD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163A2C-49A9-8A51-0DCA-082D142E9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28E08B-3D25-6C15-E7ED-1215FD1E1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2AFA-55B8-4917-9530-026497C54108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F51DEAC-C7CE-63B4-E4B1-BE019DD21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B3D7AE-AE70-E521-DABE-2E104DF91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80258-AACD-4E38-8A54-53C929310D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784693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0C3B03-A735-3701-5E74-8CE59F217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C9B2BB7-677F-9B32-909F-31227D887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EB6D58-D209-AE25-6432-3CF43C375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2AFA-55B8-4917-9530-026497C54108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BA5598-39FF-3CD5-444D-F903BE518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94BBB4-8170-FEBE-286B-7067867B5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80258-AACD-4E38-8A54-53C929310D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29763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B5D343F-83E0-3A95-36B6-BAD90D6966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3DF800-9361-F10A-7827-4FF6736BE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8BD49E-B8C4-9BD7-95AB-45964C041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E2AFA-55B8-4917-9530-026497C54108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0FEAD3-235F-42D8-7E17-A6AC4F6E4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A9602A-EBCE-42DF-DE21-8F328D61E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80258-AACD-4E38-8A54-53C929310D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49961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A1BD3A-C076-C642-5214-899BE4CD9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60D9B6-1292-7C5A-ABD7-86CA27EBC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BD35AB-2444-FC2F-983B-AB9BFD5F9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E2AFA-55B8-4917-9530-026497C54108}" type="datetimeFigureOut">
              <a:rPr lang="es-GT" smtClean="0"/>
              <a:t>25/09/2026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11DCB5-4C5C-5D9D-296D-F56C9D239D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32A096-9BE7-D34C-6149-247ADBCD9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80258-AACD-4E38-8A54-53C929310D8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30765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8D9B32F-D9D1-803A-DAB6-81B5CFE4A80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0866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C6D8DA1-6E98-E251-6B80-A7FA757D8D0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04800"/>
            <a:ext cx="1778000" cy="406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CE8D80D-3158-D571-9E98-14BC53A6AC39}"/>
              </a:ext>
            </a:extLst>
          </p:cNvPr>
          <p:cNvSpPr txBox="1"/>
          <p:nvPr/>
        </p:nvSpPr>
        <p:spPr>
          <a:xfrm>
            <a:off x="609600" y="914400"/>
            <a:ext cx="9906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2500" b="1">
                <a:solidFill>
                  <a:srgbClr val="0C2F52"/>
                </a:solidFill>
                <a:latin typeface="Aptos" panose="020B0004020202020204" pitchFamily="34" charset="0"/>
              </a:rPr>
              <a:t>Avance de pagos y firma electronica</a:t>
            </a:r>
            <a:endParaRPr lang="es-GT" sz="2500" b="1">
              <a:solidFill>
                <a:srgbClr val="0C2F52"/>
              </a:solidFill>
              <a:latin typeface="Aptos" panose="020B00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CEA3A30-A649-DBA0-42E2-079A400A5371}"/>
              </a:ext>
            </a:extLst>
          </p:cNvPr>
          <p:cNvSpPr txBox="1"/>
          <p:nvPr/>
        </p:nvSpPr>
        <p:spPr>
          <a:xfrm>
            <a:off x="609600" y="1371600"/>
            <a:ext cx="1016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>
                <a:solidFill>
                  <a:srgbClr val="5D7082"/>
                </a:solidFill>
                <a:latin typeface="Aptos" panose="020B0004020202020204" pitchFamily="34" charset="0"/>
              </a:rPr>
              <a:t>Estado actual de las integraciones y evidencia visual de la interfaz</a:t>
            </a:r>
            <a:endParaRPr lang="es-GT" sz="1100">
              <a:solidFill>
                <a:srgbClr val="5D7082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FEABE3C-1D97-21A1-B0D9-2F1966B412DC}"/>
              </a:ext>
            </a:extLst>
          </p:cNvPr>
          <p:cNvSpPr txBox="1"/>
          <p:nvPr/>
        </p:nvSpPr>
        <p:spPr>
          <a:xfrm>
            <a:off x="609600" y="6527800"/>
            <a:ext cx="317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900">
                <a:solidFill>
                  <a:srgbClr val="5D7082"/>
                </a:solidFill>
                <a:latin typeface="Aptos" panose="020B0004020202020204" pitchFamily="34" charset="0"/>
              </a:rPr>
              <a:t>DGAC | 25 septiembre 2026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8A9054F-E68B-8984-93D1-528EBCF13E90}"/>
              </a:ext>
            </a:extLst>
          </p:cNvPr>
          <p:cNvSpPr/>
          <p:nvPr/>
        </p:nvSpPr>
        <p:spPr>
          <a:xfrm>
            <a:off x="609600" y="1905000"/>
            <a:ext cx="33020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693848A-6EAB-E6DE-17BB-416C9C61FD6F}"/>
              </a:ext>
            </a:extLst>
          </p:cNvPr>
          <p:cNvSpPr/>
          <p:nvPr/>
        </p:nvSpPr>
        <p:spPr>
          <a:xfrm>
            <a:off x="609600" y="1905000"/>
            <a:ext cx="101600" cy="1473200"/>
          </a:xfrm>
          <a:prstGeom prst="rect">
            <a:avLst/>
          </a:prstGeom>
          <a:solidFill>
            <a:srgbClr val="0866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7929980-558F-BA24-7454-34E1C78ECBA4}"/>
              </a:ext>
            </a:extLst>
          </p:cNvPr>
          <p:cNvSpPr txBox="1"/>
          <p:nvPr/>
        </p:nvSpPr>
        <p:spPr>
          <a:xfrm>
            <a:off x="889000" y="2120900"/>
            <a:ext cx="269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000" b="1">
                <a:solidFill>
                  <a:srgbClr val="5D7082"/>
                </a:solidFill>
                <a:latin typeface="Aptos" panose="020B0004020202020204" pitchFamily="34" charset="0"/>
              </a:rPr>
              <a:t>PAGOS NEONET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AFDD157-C1E5-A7B1-B0B4-4DB6A341A28A}"/>
              </a:ext>
            </a:extLst>
          </p:cNvPr>
          <p:cNvSpPr txBox="1"/>
          <p:nvPr/>
        </p:nvSpPr>
        <p:spPr>
          <a:xfrm>
            <a:off x="889000" y="24511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600" b="1">
                <a:solidFill>
                  <a:srgbClr val="23374C"/>
                </a:solidFill>
                <a:latin typeface="Aptos" panose="020B0004020202020204" pitchFamily="34" charset="0"/>
              </a:rPr>
              <a:t>Integracion avanzada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005D045-CF19-2DA7-D7A9-C1E29A0DE377}"/>
              </a:ext>
            </a:extLst>
          </p:cNvPr>
          <p:cNvSpPr txBox="1"/>
          <p:nvPr/>
        </p:nvSpPr>
        <p:spPr>
          <a:xfrm>
            <a:off x="889000" y="2844800"/>
            <a:ext cx="279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000">
                <a:solidFill>
                  <a:srgbClr val="5D7082"/>
                </a:solidFill>
                <a:latin typeface="Aptos" panose="020B0004020202020204" pitchFamily="34" charset="0"/>
              </a:rPr>
              <a:t>Pago, 3DS y estados visibles.</a:t>
            </a:r>
            <a:endParaRPr lang="es-GT" sz="1000">
              <a:solidFill>
                <a:srgbClr val="5D7082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8239C35-771C-36CE-5150-D7D4CD6BAF4C}"/>
              </a:ext>
            </a:extLst>
          </p:cNvPr>
          <p:cNvSpPr/>
          <p:nvPr/>
        </p:nvSpPr>
        <p:spPr>
          <a:xfrm>
            <a:off x="4445000" y="1905000"/>
            <a:ext cx="33020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7E63976-3AF0-D8F1-DD00-EACB186E9D3D}"/>
              </a:ext>
            </a:extLst>
          </p:cNvPr>
          <p:cNvSpPr/>
          <p:nvPr/>
        </p:nvSpPr>
        <p:spPr>
          <a:xfrm>
            <a:off x="4445000" y="1905000"/>
            <a:ext cx="101600" cy="1473200"/>
          </a:xfrm>
          <a:prstGeom prst="rect">
            <a:avLst/>
          </a:prstGeom>
          <a:solidFill>
            <a:srgbClr val="1B8B5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D2403CB-1105-A376-C759-85A37C7C6B81}"/>
              </a:ext>
            </a:extLst>
          </p:cNvPr>
          <p:cNvSpPr txBox="1"/>
          <p:nvPr/>
        </p:nvSpPr>
        <p:spPr>
          <a:xfrm>
            <a:off x="4724400" y="2120900"/>
            <a:ext cx="269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000" b="1">
                <a:solidFill>
                  <a:srgbClr val="5D7082"/>
                </a:solidFill>
                <a:latin typeface="Aptos" panose="020B0004020202020204" pitchFamily="34" charset="0"/>
              </a:rPr>
              <a:t>FIRMA PRISMA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F1268C5-1DE3-6EE3-15E9-A639D5A1AFD6}"/>
              </a:ext>
            </a:extLst>
          </p:cNvPr>
          <p:cNvSpPr txBox="1"/>
          <p:nvPr/>
        </p:nvSpPr>
        <p:spPr>
          <a:xfrm>
            <a:off x="4724400" y="24511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600" b="1">
                <a:solidFill>
                  <a:srgbClr val="23374C"/>
                </a:solidFill>
                <a:latin typeface="Aptos" panose="020B0004020202020204" pitchFamily="34" charset="0"/>
              </a:rPr>
              <a:t>Flujo implementado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C92B705-4C9E-D332-CE42-58A8EBF5AE8F}"/>
              </a:ext>
            </a:extLst>
          </p:cNvPr>
          <p:cNvSpPr txBox="1"/>
          <p:nvPr/>
        </p:nvSpPr>
        <p:spPr>
          <a:xfrm>
            <a:off x="4724400" y="2844800"/>
            <a:ext cx="279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000">
                <a:solidFill>
                  <a:srgbClr val="5D7082"/>
                </a:solidFill>
                <a:latin typeface="Aptos" panose="020B0004020202020204" pitchFamily="34" charset="0"/>
              </a:rPr>
              <a:t>Firma PDF y ubicacion visual.</a:t>
            </a:r>
            <a:endParaRPr lang="es-GT" sz="1000">
              <a:solidFill>
                <a:srgbClr val="5D7082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C5DC093-EE87-6799-2489-D7E5B66B4B79}"/>
              </a:ext>
            </a:extLst>
          </p:cNvPr>
          <p:cNvSpPr/>
          <p:nvPr/>
        </p:nvSpPr>
        <p:spPr>
          <a:xfrm>
            <a:off x="8280400" y="1905000"/>
            <a:ext cx="33020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48114E5-B2F2-4D1C-9ED3-EB49CFA40DD2}"/>
              </a:ext>
            </a:extLst>
          </p:cNvPr>
          <p:cNvSpPr/>
          <p:nvPr/>
        </p:nvSpPr>
        <p:spPr>
          <a:xfrm>
            <a:off x="8280400" y="1905000"/>
            <a:ext cx="101600" cy="1473200"/>
          </a:xfrm>
          <a:prstGeom prst="rect">
            <a:avLst/>
          </a:prstGeom>
          <a:solidFill>
            <a:srgbClr val="BA74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59CF07F-16BF-7E38-255A-F35F895DA25B}"/>
              </a:ext>
            </a:extLst>
          </p:cNvPr>
          <p:cNvSpPr txBox="1"/>
          <p:nvPr/>
        </p:nvSpPr>
        <p:spPr>
          <a:xfrm>
            <a:off x="8559800" y="2120900"/>
            <a:ext cx="269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000" b="1">
                <a:solidFill>
                  <a:srgbClr val="5D7082"/>
                </a:solidFill>
                <a:latin typeface="Aptos" panose="020B0004020202020204" pitchFamily="34" charset="0"/>
              </a:rPr>
              <a:t>ENTORNO DE PRUEBA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D17290B-C12E-BA69-615A-C5479AF41FFC}"/>
              </a:ext>
            </a:extLst>
          </p:cNvPr>
          <p:cNvSpPr txBox="1"/>
          <p:nvPr/>
        </p:nvSpPr>
        <p:spPr>
          <a:xfrm>
            <a:off x="8559800" y="24511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600" b="1">
                <a:solidFill>
                  <a:srgbClr val="23374C"/>
                </a:solidFill>
                <a:latin typeface="Aptos" panose="020B0004020202020204" pitchFamily="34" charset="0"/>
              </a:rPr>
              <a:t>Cierre pendiente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C208EA4-7568-FBAE-04EC-040190EDDA4B}"/>
              </a:ext>
            </a:extLst>
          </p:cNvPr>
          <p:cNvSpPr txBox="1"/>
          <p:nvPr/>
        </p:nvSpPr>
        <p:spPr>
          <a:xfrm>
            <a:off x="8559800" y="2844800"/>
            <a:ext cx="279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000">
                <a:solidFill>
                  <a:srgbClr val="5D7082"/>
                </a:solidFill>
                <a:latin typeface="Aptos" panose="020B0004020202020204" pitchFamily="34" charset="0"/>
              </a:rPr>
              <a:t>Validacion final con proveedores.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E3AA9F77-1300-204E-40EE-B073221F508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873500"/>
            <a:ext cx="5207000" cy="2222500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504AA4A7-B22C-D053-AC94-031149629DDC}"/>
              </a:ext>
            </a:extLst>
          </p:cNvPr>
          <p:cNvSpPr txBox="1"/>
          <p:nvPr/>
        </p:nvSpPr>
        <p:spPr>
          <a:xfrm>
            <a:off x="6350000" y="39370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800" b="1">
                <a:solidFill>
                  <a:srgbClr val="0C2F52"/>
                </a:solidFill>
                <a:latin typeface="Aptos" panose="020B0004020202020204" pitchFamily="34" charset="0"/>
              </a:rPr>
              <a:t>Pasarela de pagos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D28AAC1-6CF5-D8E5-E3A0-60BE18432DA4}"/>
              </a:ext>
            </a:extLst>
          </p:cNvPr>
          <p:cNvSpPr txBox="1"/>
          <p:nvPr/>
        </p:nvSpPr>
        <p:spPr>
          <a:xfrm>
            <a:off x="6350000" y="4381500"/>
            <a:ext cx="4445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>
                <a:solidFill>
                  <a:srgbClr val="23374C"/>
                </a:solidFill>
                <a:latin typeface="Aptos" panose="020B0004020202020204" pitchFamily="34" charset="0"/>
              </a:rPr>
              <a:t>La interfaz ya permite iniciar el pago, identificar Visa y Mastercard, mostrar el resultado y continuar la autenticacion 3DS cuando el emisor lo solicita.</a:t>
            </a:r>
            <a:endParaRPr lang="es-GT" sz="1400">
              <a:solidFill>
                <a:srgbClr val="23374C"/>
              </a:solidFill>
              <a:latin typeface="Aptos" panose="020B000402020202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54F93E4-0E6B-349A-2DFF-2B238A4FEBA5}"/>
              </a:ext>
            </a:extLst>
          </p:cNvPr>
          <p:cNvSpPr txBox="1"/>
          <p:nvPr/>
        </p:nvSpPr>
        <p:spPr>
          <a:xfrm>
            <a:off x="6350000" y="5308600"/>
            <a:ext cx="4445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200">
                <a:solidFill>
                  <a:srgbClr val="5D7082"/>
                </a:solidFill>
                <a:latin typeface="Aptos" panose="020B0004020202020204" pitchFamily="34" charset="0"/>
              </a:rPr>
              <a:t>El backend registra estado, monto, referencia, autorizacion y auditoria. Las respuestas sensibles se sanitizan antes de llegar al navegador.</a:t>
            </a:r>
            <a:endParaRPr lang="es-GT" sz="1200">
              <a:solidFill>
                <a:srgbClr val="5D708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46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1437FEE-31F9-BFEE-729F-77DC1982C893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0866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D14268C-1A17-3C49-8289-A8B8459CEB5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04800"/>
            <a:ext cx="1778000" cy="406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B72D8D1-7D9A-BCE7-F7BE-C0AAF0E43FBB}"/>
              </a:ext>
            </a:extLst>
          </p:cNvPr>
          <p:cNvSpPr txBox="1"/>
          <p:nvPr/>
        </p:nvSpPr>
        <p:spPr>
          <a:xfrm>
            <a:off x="609600" y="914400"/>
            <a:ext cx="9906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2500" b="1">
                <a:solidFill>
                  <a:srgbClr val="0C2F52"/>
                </a:solidFill>
                <a:latin typeface="Aptos" panose="020B0004020202020204" pitchFamily="34" charset="0"/>
              </a:rPr>
              <a:t>Que falta para pruebas y certificacion</a:t>
            </a:r>
            <a:endParaRPr lang="es-GT" sz="2500" b="1">
              <a:solidFill>
                <a:srgbClr val="0C2F52"/>
              </a:solidFill>
              <a:latin typeface="Aptos" panose="020B00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5E39E09-85F7-A3F9-28B1-6B17576CDAF4}"/>
              </a:ext>
            </a:extLst>
          </p:cNvPr>
          <p:cNvSpPr txBox="1"/>
          <p:nvPr/>
        </p:nvSpPr>
        <p:spPr>
          <a:xfrm>
            <a:off x="609600" y="1371600"/>
            <a:ext cx="1016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>
                <a:solidFill>
                  <a:srgbClr val="5D7082"/>
                </a:solidFill>
                <a:latin typeface="Aptos" panose="020B0004020202020204" pitchFamily="34" charset="0"/>
              </a:rPr>
              <a:t>Prioridades de cierre antes del despliegue al entorno de prueba</a:t>
            </a:r>
            <a:endParaRPr lang="es-GT" sz="1100">
              <a:solidFill>
                <a:srgbClr val="5D7082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7BCB2F0-91ED-8813-BAF5-44F0BB5A7E2F}"/>
              </a:ext>
            </a:extLst>
          </p:cNvPr>
          <p:cNvSpPr txBox="1"/>
          <p:nvPr/>
        </p:nvSpPr>
        <p:spPr>
          <a:xfrm>
            <a:off x="609600" y="6527800"/>
            <a:ext cx="317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900">
                <a:solidFill>
                  <a:srgbClr val="5D7082"/>
                </a:solidFill>
                <a:latin typeface="Aptos" panose="020B0004020202020204" pitchFamily="34" charset="0"/>
              </a:rPr>
              <a:t>DGAC | 25 septiembre 2026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CF11142-DE4A-1868-04E2-5606F9AB045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05000"/>
            <a:ext cx="4953000" cy="3175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4DCC1946-D16C-D71F-77C8-FDB2FEA27589}"/>
              </a:ext>
            </a:extLst>
          </p:cNvPr>
          <p:cNvSpPr txBox="1"/>
          <p:nvPr/>
        </p:nvSpPr>
        <p:spPr>
          <a:xfrm>
            <a:off x="609600" y="5334000"/>
            <a:ext cx="444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700" b="1">
                <a:solidFill>
                  <a:srgbClr val="0C2F52"/>
                </a:solidFill>
                <a:latin typeface="Aptos" panose="020B0004020202020204" pitchFamily="34" charset="0"/>
              </a:rPr>
              <a:t>Controles ya disponibles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5487F53-643D-735E-3245-86AB60DA34BF}"/>
              </a:ext>
            </a:extLst>
          </p:cNvPr>
          <p:cNvSpPr txBox="1"/>
          <p:nvPr/>
        </p:nvSpPr>
        <p:spPr>
          <a:xfrm>
            <a:off x="609600" y="57150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200">
                <a:solidFill>
                  <a:srgbClr val="23374C"/>
                </a:solidFill>
                <a:latin typeface="Aptos" panose="020B0004020202020204" pitchFamily="34" charset="0"/>
              </a:rPr>
              <a:t>Roles multiples, operador de pagos, administracion de usuarios y acceso restringido para gestion financiera.</a:t>
            </a:r>
            <a:endParaRPr lang="es-GT" sz="1200">
              <a:solidFill>
                <a:srgbClr val="23374C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3418AB5-D8DD-EC45-B1EF-D7D01164864A}"/>
              </a:ext>
            </a:extLst>
          </p:cNvPr>
          <p:cNvSpPr/>
          <p:nvPr/>
        </p:nvSpPr>
        <p:spPr>
          <a:xfrm>
            <a:off x="6350000" y="1905000"/>
            <a:ext cx="5016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C8D905B-851B-6C5C-A828-B53A9D111945}"/>
              </a:ext>
            </a:extLst>
          </p:cNvPr>
          <p:cNvSpPr txBox="1"/>
          <p:nvPr/>
        </p:nvSpPr>
        <p:spPr>
          <a:xfrm>
            <a:off x="6667500" y="2133600"/>
            <a:ext cx="4254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600" b="1">
                <a:solidFill>
                  <a:srgbClr val="0866BC"/>
                </a:solidFill>
                <a:latin typeface="Aptos" panose="020B0004020202020204" pitchFamily="34" charset="0"/>
              </a:rPr>
              <a:t>1. Resolver pruebas NeoNet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9FDFC63-6046-2992-11C6-3AC1C030B3C4}"/>
              </a:ext>
            </a:extLst>
          </p:cNvPr>
          <p:cNvSpPr txBox="1"/>
          <p:nvPr/>
        </p:nvSpPr>
        <p:spPr>
          <a:xfrm>
            <a:off x="6667500" y="2476500"/>
            <a:ext cx="4191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>
                <a:solidFill>
                  <a:srgbClr val="23374C"/>
                </a:solidFill>
                <a:latin typeface="Aptos" panose="020B0004020202020204" pitchFamily="34" charset="0"/>
              </a:rPr>
              <a:t>Validar el rechazo actual ResponseCode 96 y repetir la matriz Visa y Mastercard.</a:t>
            </a:r>
            <a:endParaRPr lang="es-GT" sz="1100">
              <a:solidFill>
                <a:srgbClr val="23374C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582F5AC-9891-32E2-C9B2-BC0E95ADE95A}"/>
              </a:ext>
            </a:extLst>
          </p:cNvPr>
          <p:cNvSpPr/>
          <p:nvPr/>
        </p:nvSpPr>
        <p:spPr>
          <a:xfrm>
            <a:off x="6350000" y="3022600"/>
            <a:ext cx="5016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0848440-9815-2A4C-43B1-34C5C7E35B41}"/>
              </a:ext>
            </a:extLst>
          </p:cNvPr>
          <p:cNvSpPr txBox="1"/>
          <p:nvPr/>
        </p:nvSpPr>
        <p:spPr>
          <a:xfrm>
            <a:off x="6667500" y="3251200"/>
            <a:ext cx="4254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600" b="1">
                <a:solidFill>
                  <a:srgbClr val="0866BC"/>
                </a:solidFill>
                <a:latin typeface="Aptos" panose="020B0004020202020204" pitchFamily="34" charset="0"/>
              </a:rPr>
              <a:t>2. Certificar operaciones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A21C439-D86F-40AA-CC8D-C2B24ECFFCD6}"/>
              </a:ext>
            </a:extLst>
          </p:cNvPr>
          <p:cNvSpPr txBox="1"/>
          <p:nvPr/>
        </p:nvSpPr>
        <p:spPr>
          <a:xfrm>
            <a:off x="6667500" y="3594100"/>
            <a:ext cx="4191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>
                <a:solidFill>
                  <a:srgbClr val="23374C"/>
                </a:solidFill>
                <a:latin typeface="Aptos" panose="020B0004020202020204" pitchFamily="34" charset="0"/>
              </a:rPr>
              <a:t>Venta, challenge 3DS, timeout con reversa, anulacion y comprobantes.</a:t>
            </a:r>
            <a:endParaRPr lang="es-GT" sz="1100">
              <a:solidFill>
                <a:srgbClr val="23374C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3314E41-1127-7A2C-D399-81AACAA4276F}"/>
              </a:ext>
            </a:extLst>
          </p:cNvPr>
          <p:cNvSpPr/>
          <p:nvPr/>
        </p:nvSpPr>
        <p:spPr>
          <a:xfrm>
            <a:off x="6350000" y="4140200"/>
            <a:ext cx="5016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86A5DBA-F159-6F71-331E-640428BB2FCE}"/>
              </a:ext>
            </a:extLst>
          </p:cNvPr>
          <p:cNvSpPr txBox="1"/>
          <p:nvPr/>
        </p:nvSpPr>
        <p:spPr>
          <a:xfrm>
            <a:off x="6667500" y="4368800"/>
            <a:ext cx="4254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600" b="1">
                <a:solidFill>
                  <a:srgbClr val="1B8B59"/>
                </a:solidFill>
                <a:latin typeface="Aptos" panose="020B0004020202020204" pitchFamily="34" charset="0"/>
              </a:rPr>
              <a:t>3. Cerrar firma Prisma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4BE4CF6-9F81-9013-D442-408CBFC94B34}"/>
              </a:ext>
            </a:extLst>
          </p:cNvPr>
          <p:cNvSpPr txBox="1"/>
          <p:nvPr/>
        </p:nvSpPr>
        <p:spPr>
          <a:xfrm>
            <a:off x="6667500" y="4711700"/>
            <a:ext cx="4191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>
                <a:solidFill>
                  <a:srgbClr val="23374C"/>
                </a:solidFill>
                <a:latin typeface="Aptos" panose="020B0004020202020204" pitchFamily="34" charset="0"/>
              </a:rPr>
              <a:t>Confirmar apariencia oficial y parametros definitivos de prueba o produccion.</a:t>
            </a:r>
            <a:endParaRPr lang="es-GT" sz="1100">
              <a:solidFill>
                <a:srgbClr val="23374C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CC02F14-6E84-AD43-5885-73A6C0A38F7C}"/>
              </a:ext>
            </a:extLst>
          </p:cNvPr>
          <p:cNvSpPr/>
          <p:nvPr/>
        </p:nvSpPr>
        <p:spPr>
          <a:xfrm>
            <a:off x="6350000" y="5257800"/>
            <a:ext cx="5016500" cy="889000"/>
          </a:xfrm>
          <a:prstGeom prst="rect">
            <a:avLst/>
          </a:prstGeom>
          <a:solidFill>
            <a:srgbClr val="EBF7F0"/>
          </a:solidFill>
          <a:ln w="12700">
            <a:solidFill>
              <a:srgbClr val="A9D4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567F90E-3A0B-B0B5-2FA6-E201C8FE99D5}"/>
              </a:ext>
            </a:extLst>
          </p:cNvPr>
          <p:cNvSpPr txBox="1"/>
          <p:nvPr/>
        </p:nvSpPr>
        <p:spPr>
          <a:xfrm>
            <a:off x="6667500" y="5486400"/>
            <a:ext cx="4254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GT" sz="1600" b="1">
                <a:solidFill>
                  <a:srgbClr val="1B8B59"/>
                </a:solidFill>
                <a:latin typeface="Aptos" panose="020B0004020202020204" pitchFamily="34" charset="0"/>
              </a:rPr>
              <a:t>Resultado esperado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2D4253A-DAFF-6CF3-BE16-137BFA1756EE}"/>
              </a:ext>
            </a:extLst>
          </p:cNvPr>
          <p:cNvSpPr txBox="1"/>
          <p:nvPr/>
        </p:nvSpPr>
        <p:spPr>
          <a:xfrm>
            <a:off x="6667500" y="5829300"/>
            <a:ext cx="4191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>
                <a:solidFill>
                  <a:srgbClr val="23374C"/>
                </a:solidFill>
                <a:latin typeface="Aptos" panose="020B0004020202020204" pitchFamily="34" charset="0"/>
              </a:rPr>
              <a:t>Integraciones validadas y listas para despliegue controlado en pruebas.</a:t>
            </a:r>
            <a:endParaRPr lang="es-GT" sz="1100">
              <a:solidFill>
                <a:srgbClr val="23374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7036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</Words>
  <Application>Microsoft Office PowerPoint</Application>
  <PresentationFormat>Presentación en pantalla (16:9)</PresentationFormat>
  <Paragraphs>28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Gerber Eduardo Salazar Estrada</dc:creator>
  <cp:lastModifiedBy>Gerber Eduardo Salazar Estrada</cp:lastModifiedBy>
  <cp:revision>1</cp:revision>
  <dcterms:created xsi:type="dcterms:W3CDTF">2026-09-25T17:32:05Z</dcterms:created>
  <dcterms:modified xsi:type="dcterms:W3CDTF">2026-09-25T17:32:05Z</dcterms:modified>
</cp:coreProperties>
</file>