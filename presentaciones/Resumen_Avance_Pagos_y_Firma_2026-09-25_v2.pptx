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s-GT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2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325816-5519-2E40-67C9-26595310E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038DE4-05DF-628A-521D-9A854D0CB4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0B0AB0-51E4-A8DC-9901-36742DD6A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418B1-847E-4F5F-A607-76518BEDA947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3C97A0-1A8A-EDE3-A1C9-764256C38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D984AD-F571-050B-4FFD-48D6D10CA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121D-935F-448C-8F52-3BB3E235882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6237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E13C24-7C4C-8B4C-0101-D0083048F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E5C64A-7E30-62AD-5693-FAB992D7D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3E61CD-CC68-103F-9857-832BA06DD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418B1-847E-4F5F-A607-76518BEDA947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C4EEA8-6CB3-468C-FDCF-73E6C4622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E7DE70-8A46-F1AE-F865-82BB1B6D5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121D-935F-448C-8F52-3BB3E235882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997258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38352C-0C16-E504-6D3D-FA416BE1A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3705F6-6B50-3790-EDA4-41972DE39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54673E-F457-7BED-8DAA-DD40E05E0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418B1-847E-4F5F-A607-76518BEDA947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32CD67-0620-9660-88E8-C79642479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4B3504-FF9F-F42E-6A29-AD1DDA29B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121D-935F-448C-8F52-3BB3E235882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08660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A43D18-AB8A-B3C9-CB44-3D8A5021E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B10118-D2E9-FF1F-55D7-A28BBF64FC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2B15EC-FDB4-9F5D-DD71-DA841C350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BDC535-DB6E-CE24-2282-E155CE271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418B1-847E-4F5F-A607-76518BEDA947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B27426-4CB4-B581-2501-822F498FF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6111E2-2A07-0F85-D98D-6481713A1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121D-935F-448C-8F52-3BB3E235882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74617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299E8-3E92-5902-C797-C3F50B7B4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2DA275-954A-A465-2076-D1245C0EF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73A27A-D53B-D91C-2BE4-BE1C0CCE4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C21A055-49CB-C08F-3FCE-077E266818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4D0A2AC-C69D-88C5-E829-83AE9B19A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CE840A-FBF6-C27A-7A5F-78C432F2B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418B1-847E-4F5F-A607-76518BEDA947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CD69DE6-B8B7-B876-B4A2-D30F12208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FDADB46-CF58-FE6B-6B1D-2905D3093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121D-935F-448C-8F52-3BB3E235882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450128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F3AA28-1517-7B39-06A2-1A51FE3FF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956306E-3330-549B-843E-24AF68504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418B1-847E-4F5F-A607-76518BEDA947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A624234-CFC9-3931-BC73-417A132F8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A20144-70BC-F9B7-9A5B-04E33B792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121D-935F-448C-8F52-3BB3E235882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180161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431E4B3-D967-14DB-403F-27272BBF7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418B1-847E-4F5F-A607-76518BEDA947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93AD6B9-7F2F-312C-2534-75DB8EF34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0A32E7F-DF18-E5BD-F7D1-645C9A434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121D-935F-448C-8F52-3BB3E235882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913492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F13B6-6BE7-FBA7-AAC3-328AB6EAD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A1B21F-AD54-FFD7-A3EB-7A2DF01E6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3AE2083-A902-9462-313C-22F75E601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DE2ED72-DB00-C83C-BDA1-50E403292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418B1-847E-4F5F-A607-76518BEDA947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46AB02-682D-39C6-940D-171F34A3B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ACF12DE-0A65-1EF5-C497-807BC54ED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121D-935F-448C-8F52-3BB3E235882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933506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348287-42AC-2268-5210-1F56ECE26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9561169-FBEF-9336-A75A-40F812F85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A96EB92-29B9-44EF-3D58-05C6031D0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F5B579-80E9-48D4-D2A1-690044F16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418B1-847E-4F5F-A607-76518BEDA947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2A30E8-99C9-DE30-D6BD-FAAC380F1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4A67EA0-2DFF-3059-9469-BDB366031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121D-935F-448C-8F52-3BB3E235882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62134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E9A14D-2184-7EEE-8631-7FE13C046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707D9C-F075-AC66-C72A-6BE99FB98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26A150-01B3-7F3C-D499-0F7008C55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418B1-847E-4F5F-A607-76518BEDA947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D4BCB3-B5AC-3A8F-C4CF-BC68034FD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DC0C6B-4730-9C8B-4F3F-16412075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121D-935F-448C-8F52-3BB3E235882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040068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D42E5F4-5550-13CB-C6CB-E75E75A308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C961E1-B63D-1194-A408-A4571C251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E77DE8-8140-9694-9CE6-3BB04BFB7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418B1-847E-4F5F-A607-76518BEDA947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2963DB-D0FC-F5C5-C558-7F192FF3E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D443AC-2110-B569-AFE4-3DCDBF299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121D-935F-448C-8F52-3BB3E235882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625564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BFC1A3E-E7C3-AC3A-FEDF-BFED6725A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8AB5B4-442E-212F-685B-D18F71567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8E2619-1BF5-825E-6608-D9758984D8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418B1-847E-4F5F-A607-76518BEDA947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7B3EBE-AE0F-EE15-59CF-8488AD5482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A440A5-1A66-7FFC-2D7A-9C0559B194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1121D-935F-448C-8F52-3BB3E235882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808187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D882D64-A925-9596-D89A-CC1672089A17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0866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1C6289F-B91E-50A7-E5FD-33D3A424677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04800"/>
            <a:ext cx="1778000" cy="4064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D72D101-E0F1-F4BF-300D-2C8F234A87D1}"/>
              </a:ext>
            </a:extLst>
          </p:cNvPr>
          <p:cNvSpPr txBox="1"/>
          <p:nvPr/>
        </p:nvSpPr>
        <p:spPr>
          <a:xfrm>
            <a:off x="609600" y="914400"/>
            <a:ext cx="1041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2500" b="1">
                <a:solidFill>
                  <a:srgbClr val="0C2F52"/>
                </a:solidFill>
                <a:latin typeface="Aptos" panose="020B0004020202020204" pitchFamily="34" charset="0"/>
              </a:rPr>
              <a:t>Pasarela de pagos NeoNet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943A0B6-D867-A78D-BC32-EBF39F005864}"/>
              </a:ext>
            </a:extLst>
          </p:cNvPr>
          <p:cNvSpPr txBox="1"/>
          <p:nvPr/>
        </p:nvSpPr>
        <p:spPr>
          <a:xfrm>
            <a:off x="609600" y="1371600"/>
            <a:ext cx="1047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00">
                <a:solidFill>
                  <a:srgbClr val="5D7082"/>
                </a:solidFill>
                <a:latin typeface="Aptos" panose="020B0004020202020204" pitchFamily="34" charset="0"/>
              </a:rPr>
              <a:t>Avance de la integracion y estado de pruebas</a:t>
            </a:r>
            <a:endParaRPr lang="es-GT" sz="1100">
              <a:solidFill>
                <a:srgbClr val="5D7082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2A271B8-CF07-E2F2-EF55-B30E7C5F4366}"/>
              </a:ext>
            </a:extLst>
          </p:cNvPr>
          <p:cNvSpPr txBox="1"/>
          <p:nvPr/>
        </p:nvSpPr>
        <p:spPr>
          <a:xfrm>
            <a:off x="609600" y="6527800"/>
            <a:ext cx="317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900">
                <a:solidFill>
                  <a:srgbClr val="5D7082"/>
                </a:solidFill>
                <a:latin typeface="Aptos" panose="020B0004020202020204" pitchFamily="34" charset="0"/>
              </a:rPr>
              <a:t>DGAC | 25 septiembre 2026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F808DC4-90CE-4CB5-69AA-0D2280E790F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05000"/>
            <a:ext cx="5715000" cy="3810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535883E-09A3-BA77-C1E6-59865A11BA50}"/>
              </a:ext>
            </a:extLst>
          </p:cNvPr>
          <p:cNvSpPr txBox="1"/>
          <p:nvPr/>
        </p:nvSpPr>
        <p:spPr>
          <a:xfrm>
            <a:off x="6985000" y="1968500"/>
            <a:ext cx="3175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900" b="1">
                <a:solidFill>
                  <a:srgbClr val="0C2F52"/>
                </a:solidFill>
                <a:latin typeface="Aptos" panose="020B0004020202020204" pitchFamily="34" charset="0"/>
              </a:rPr>
              <a:t>Avance actual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4F4E644-1095-F96B-220C-CD69A9A34BF2}"/>
              </a:ext>
            </a:extLst>
          </p:cNvPr>
          <p:cNvSpPr txBox="1"/>
          <p:nvPr/>
        </p:nvSpPr>
        <p:spPr>
          <a:xfrm>
            <a:off x="6985000" y="2476500"/>
            <a:ext cx="43815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400">
                <a:solidFill>
                  <a:srgbClr val="23374C"/>
                </a:solidFill>
                <a:latin typeface="Aptos" panose="020B0004020202020204" pitchFamily="34" charset="0"/>
              </a:rPr>
              <a:t>La plataforma ya cuenta con una interfaz de pago para tramites, validacion de tarjeta y manejo de autenticacion 3D Secure.</a:t>
            </a:r>
            <a:endParaRPr lang="es-GT" sz="1400">
              <a:solidFill>
                <a:srgbClr val="23374C"/>
              </a:solidFill>
              <a:latin typeface="Aptos" panose="020B00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5945C1D-DC87-5BAF-1965-EDB57F1DD28F}"/>
              </a:ext>
            </a:extLst>
          </p:cNvPr>
          <p:cNvSpPr txBox="1"/>
          <p:nvPr/>
        </p:nvSpPr>
        <p:spPr>
          <a:xfrm>
            <a:off x="6985000" y="35560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600" b="1">
                <a:solidFill>
                  <a:srgbClr val="0866BC"/>
                </a:solidFill>
                <a:latin typeface="Aptos" panose="020B0004020202020204" pitchFamily="34" charset="0"/>
              </a:rPr>
              <a:t>Implementado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85DA404-4076-1D1C-025D-16E53D93F0B9}"/>
              </a:ext>
            </a:extLst>
          </p:cNvPr>
          <p:cNvSpPr txBox="1"/>
          <p:nvPr/>
        </p:nvSpPr>
        <p:spPr>
          <a:xfrm>
            <a:off x="6985000" y="3987800"/>
            <a:ext cx="4445000" cy="6232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300">
                <a:solidFill>
                  <a:srgbClr val="23374C"/>
                </a:solidFill>
                <a:latin typeface="Aptos" panose="020B0004020202020204" pitchFamily="34" charset="0"/>
              </a:rPr>
              <a:t>Pago con Visa y Mastercard, estados de transaccion, comprobante, auditoria, roles para operacion financiera y controles de reversa.</a:t>
            </a:r>
            <a:endParaRPr lang="es-GT" sz="1300">
              <a:solidFill>
                <a:srgbClr val="23374C"/>
              </a:solidFill>
              <a:latin typeface="Aptos" panose="020B00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132E0B8-F4B8-0AF4-8E67-6DDD7F00E916}"/>
              </a:ext>
            </a:extLst>
          </p:cNvPr>
          <p:cNvSpPr txBox="1"/>
          <p:nvPr/>
        </p:nvSpPr>
        <p:spPr>
          <a:xfrm>
            <a:off x="6985000" y="51435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600" b="1">
                <a:solidFill>
                  <a:srgbClr val="BA7400"/>
                </a:solidFill>
                <a:latin typeface="Aptos" panose="020B0004020202020204" pitchFamily="34" charset="0"/>
              </a:rPr>
              <a:t>Pendiente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518B00E-7E9E-58A1-EE76-36064E7CAAB0}"/>
              </a:ext>
            </a:extLst>
          </p:cNvPr>
          <p:cNvSpPr txBox="1"/>
          <p:nvPr/>
        </p:nvSpPr>
        <p:spPr>
          <a:xfrm>
            <a:off x="6985000" y="5562600"/>
            <a:ext cx="4445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200">
                <a:solidFill>
                  <a:srgbClr val="23374C"/>
                </a:solidFill>
                <a:latin typeface="Aptos" panose="020B0004020202020204" pitchFamily="34" charset="0"/>
              </a:rPr>
              <a:t>Resolver el ResponseCode 96 actual con NeoNet y completar la matriz de certificacion: venta, 3DS, reversa, anulacion y comprobantes.</a:t>
            </a:r>
            <a:endParaRPr lang="es-GT" sz="1200">
              <a:solidFill>
                <a:srgbClr val="23374C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397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D815F03-C7AA-3ED3-6F4F-86EAF84E95E6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0866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5974264-CA24-A14C-5C79-388D8EAFB4D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04800"/>
            <a:ext cx="1778000" cy="4064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072DEFE-93EA-DE0A-67BA-84A7F15BDA67}"/>
              </a:ext>
            </a:extLst>
          </p:cNvPr>
          <p:cNvSpPr txBox="1"/>
          <p:nvPr/>
        </p:nvSpPr>
        <p:spPr>
          <a:xfrm>
            <a:off x="609600" y="914400"/>
            <a:ext cx="1041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2500" b="1">
                <a:solidFill>
                  <a:srgbClr val="0C2F52"/>
                </a:solidFill>
                <a:latin typeface="Aptos" panose="020B0004020202020204" pitchFamily="34" charset="0"/>
              </a:rPr>
              <a:t>Firma electronica Prisma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59BF5B9-0F3C-5BD1-E0C5-B4F2B36289B3}"/>
              </a:ext>
            </a:extLst>
          </p:cNvPr>
          <p:cNvSpPr txBox="1"/>
          <p:nvPr/>
        </p:nvSpPr>
        <p:spPr>
          <a:xfrm>
            <a:off x="609600" y="1371600"/>
            <a:ext cx="1047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100">
                <a:solidFill>
                  <a:srgbClr val="5D7082"/>
                </a:solidFill>
                <a:latin typeface="Aptos" panose="020B0004020202020204" pitchFamily="34" charset="0"/>
              </a:rPr>
              <a:t>Concepto, avance y evidencia visual pendiente de incorporar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3FAC327-C2EA-9306-5461-ADB82CC35C8A}"/>
              </a:ext>
            </a:extLst>
          </p:cNvPr>
          <p:cNvSpPr txBox="1"/>
          <p:nvPr/>
        </p:nvSpPr>
        <p:spPr>
          <a:xfrm>
            <a:off x="609600" y="6527800"/>
            <a:ext cx="317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900">
                <a:solidFill>
                  <a:srgbClr val="5D7082"/>
                </a:solidFill>
                <a:latin typeface="Aptos" panose="020B0004020202020204" pitchFamily="34" charset="0"/>
              </a:rPr>
              <a:t>DGAC | 25 septiembre 2026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E8F5E28-9E81-4F9E-3902-1334C5708D9E}"/>
              </a:ext>
            </a:extLst>
          </p:cNvPr>
          <p:cNvSpPr txBox="1"/>
          <p:nvPr/>
        </p:nvSpPr>
        <p:spPr>
          <a:xfrm>
            <a:off x="609600" y="1905000"/>
            <a:ext cx="2794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900" b="1">
                <a:solidFill>
                  <a:srgbClr val="0C2F52"/>
                </a:solidFill>
                <a:latin typeface="Aptos" panose="020B0004020202020204" pitchFamily="34" charset="0"/>
              </a:rPr>
              <a:t>Concepto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EBF91E7-1EAF-562F-E96A-7BBEA33991B9}"/>
              </a:ext>
            </a:extLst>
          </p:cNvPr>
          <p:cNvSpPr txBox="1"/>
          <p:nvPr/>
        </p:nvSpPr>
        <p:spPr>
          <a:xfrm>
            <a:off x="609600" y="238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400">
                <a:solidFill>
                  <a:srgbClr val="23374C"/>
                </a:solidFill>
                <a:latin typeface="Aptos" panose="020B0004020202020204" pitchFamily="34" charset="0"/>
              </a:rPr>
              <a:t>El sistema envia el PDF y los parametros de firma a Prisma. El proveedor aplica la firma electronica oficial y devuelve el documento firmado para incorporarlo al expediente.</a:t>
            </a:r>
            <a:endParaRPr lang="es-GT" sz="1400">
              <a:solidFill>
                <a:srgbClr val="23374C"/>
              </a:solidFill>
              <a:latin typeface="Aptos" panose="020B00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CADAC47-18A4-2DA8-8740-1C3A904826AC}"/>
              </a:ext>
            </a:extLst>
          </p:cNvPr>
          <p:cNvSpPr txBox="1"/>
          <p:nvPr/>
        </p:nvSpPr>
        <p:spPr>
          <a:xfrm>
            <a:off x="609600" y="3124200"/>
            <a:ext cx="10541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300">
                <a:solidFill>
                  <a:srgbClr val="5D7082"/>
                </a:solidFill>
                <a:latin typeface="Aptos" panose="020B0004020202020204" pitchFamily="34" charset="0"/>
              </a:rPr>
              <a:t>Avance actual: integracion de firma, posicionamiento visual sobre el PDF, configuracion de pagina y coordenadas, y almacenamiento del documento firmado.</a:t>
            </a:r>
            <a:endParaRPr lang="es-GT" sz="1300">
              <a:solidFill>
                <a:srgbClr val="5D7082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A9E93DC-9022-E975-64E4-C7A4511C63C7}"/>
              </a:ext>
            </a:extLst>
          </p:cNvPr>
          <p:cNvSpPr/>
          <p:nvPr/>
        </p:nvSpPr>
        <p:spPr>
          <a:xfrm>
            <a:off x="609600" y="3937000"/>
            <a:ext cx="50165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7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C15F482-53C4-5CD6-DA92-234C5B005564}"/>
              </a:ext>
            </a:extLst>
          </p:cNvPr>
          <p:cNvSpPr txBox="1"/>
          <p:nvPr/>
        </p:nvSpPr>
        <p:spPr>
          <a:xfrm>
            <a:off x="609600" y="4635500"/>
            <a:ext cx="5016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400" b="1">
                <a:solidFill>
                  <a:srgbClr val="5D7082"/>
                </a:solidFill>
                <a:latin typeface="Aptos" panose="020B0004020202020204" pitchFamily="34" charset="0"/>
              </a:rPr>
              <a:t>IMAGEN 1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FDC0C4D-9CC8-B817-AA28-12CC33A5EF29}"/>
              </a:ext>
            </a:extLst>
          </p:cNvPr>
          <p:cNvSpPr txBox="1"/>
          <p:nvPr/>
        </p:nvSpPr>
        <p:spPr>
          <a:xfrm>
            <a:off x="609600" y="4978400"/>
            <a:ext cx="5016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200">
                <a:solidFill>
                  <a:srgbClr val="5D7082"/>
                </a:solidFill>
                <a:latin typeface="Aptos" panose="020B0004020202020204" pitchFamily="34" charset="0"/>
              </a:rPr>
              <a:t>Firma mostrada en la plataforma Prisma</a:t>
            </a:r>
            <a:endParaRPr lang="es-GT" sz="1200">
              <a:solidFill>
                <a:srgbClr val="5D7082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3F4CFFC-5FAD-4E31-F06B-C01D35ECB945}"/>
              </a:ext>
            </a:extLst>
          </p:cNvPr>
          <p:cNvSpPr/>
          <p:nvPr/>
        </p:nvSpPr>
        <p:spPr>
          <a:xfrm>
            <a:off x="6565900" y="3937000"/>
            <a:ext cx="50165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7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F90187C-FC98-A145-B5D6-67EABFEA9ADF}"/>
              </a:ext>
            </a:extLst>
          </p:cNvPr>
          <p:cNvSpPr txBox="1"/>
          <p:nvPr/>
        </p:nvSpPr>
        <p:spPr>
          <a:xfrm>
            <a:off x="6565900" y="4635500"/>
            <a:ext cx="5016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400" b="1">
                <a:solidFill>
                  <a:srgbClr val="5D7082"/>
                </a:solidFill>
                <a:latin typeface="Aptos" panose="020B0004020202020204" pitchFamily="34" charset="0"/>
              </a:rPr>
              <a:t>IMAGEN 2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CAC1CD6-50C3-FD43-7316-A76A2D0177BE}"/>
              </a:ext>
            </a:extLst>
          </p:cNvPr>
          <p:cNvSpPr txBox="1"/>
          <p:nvPr/>
        </p:nvSpPr>
        <p:spPr>
          <a:xfrm>
            <a:off x="6565900" y="4978400"/>
            <a:ext cx="5016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200">
                <a:solidFill>
                  <a:srgbClr val="5D7082"/>
                </a:solidFill>
                <a:latin typeface="Aptos" panose="020B0004020202020204" pitchFamily="34" charset="0"/>
              </a:rPr>
              <a:t>Firma mostrada desde la aplicacion DGAC</a:t>
            </a:r>
            <a:endParaRPr lang="es-GT" sz="1200">
              <a:solidFill>
                <a:srgbClr val="5D708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1958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</Words>
  <Application>Microsoft Office PowerPoint</Application>
  <PresentationFormat>Presentación en pantalla (16:9)</PresentationFormat>
  <Paragraphs>19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Gerber Eduardo Salazar Estrada</dc:creator>
  <cp:lastModifiedBy>Gerber Eduardo Salazar Estrada</cp:lastModifiedBy>
  <cp:revision>1</cp:revision>
  <dcterms:created xsi:type="dcterms:W3CDTF">2026-09-25T17:46:18Z</dcterms:created>
  <dcterms:modified xsi:type="dcterms:W3CDTF">2026-09-25T17:46:18Z</dcterms:modified>
</cp:coreProperties>
</file>