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4AE4E-7A8A-A247-CB88-DF755A64D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EA2B5F-8635-1958-E035-102A034E5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D0319-041F-B15A-8CB2-0B8384F4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A57456-F1A7-B1E2-6289-A6A2E3AE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38FF77-6891-2B36-CA7F-F3DB9C8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8201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0F698-9D44-45C0-A150-92F37E76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D05842-D9D1-8AA1-BD58-1B4C6134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630C57-D59C-A31D-A3D5-8BA085F1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34E82E-49F8-404A-1CA1-3A07B092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EF7A1-AA98-BEFC-1549-5BD7C4F7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7376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51E1E-5586-6E8E-F592-BA44BB66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FF1500-2D08-EEED-AA5B-8E689265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9B3A3-75B4-60B7-B352-6EA32DA6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381561-10A5-AEFB-0121-6B7AF7F2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9A0CE3-92E2-BD46-6145-5C36306F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194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C9D43-016E-6E19-F4E3-40971724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7757D-43A1-FB27-7DE8-13AB60AEA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583A15-942E-DA6C-09C4-04FCCCF69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62C4C1-35F5-129F-DE0F-5100EBC2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499855-8DC2-D690-33AD-D060C795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150092-B10D-DA7E-0F7C-DF0193AE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8524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70F78-D3C3-E2B6-B95E-4205E981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29EA5F-FF71-EC7C-02BC-3D313328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32AE97-1649-07B4-432C-6982F9675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27CC98-9F7B-E2D8-48C1-80ACD99EF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DADC94-19A1-4A59-9348-16C7AD76D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693FB5-B967-A39B-C545-1CB66BA9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52CEB7-BA11-E8AC-941E-85E5439A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25B9F2-0F30-F147-7405-098441D4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7991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26EB2-EE44-C398-5113-459F4654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A89F555-7E6A-CE89-9382-CD6EC563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92FC91-0172-1EBE-77C7-CEAED3F2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334C42-3353-DC2F-7C91-1A7BE619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4125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1BFB63-5962-FFEE-DD13-61126938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416C21-A0B8-CE17-BE5D-6F2A615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DBC6AD-53C8-104E-CA60-54F01A63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6650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CC2F5-A310-74BE-2633-44A50DA5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8AE82-01A4-02FE-BE9D-882B96407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58C75B-F013-416B-0C7D-5F3AE2402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965C53-74FE-0228-FE44-9076D339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95D6A6-5600-A77F-2C2E-2B7893FF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1DDD1C-076A-019F-634D-5F64B071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4909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810B-6359-9434-A4FC-54727FDA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F022443-C536-FAEB-3A2C-F7A1AD1E1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CBD0BC-C89D-18AB-0A93-5E8B9D0C8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67A7E7-8553-59E6-430A-BA181EE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7614EB-9E88-E055-4637-70ED7978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96DED2-3F67-F74E-0CB9-51C3818C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4830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D72A9-D251-2908-BDB8-C0770ECA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D83F03-7669-583F-308A-C1DCB7D2C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19DB23-1A03-2547-51FD-D403392E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36C1C-5643-0DEE-9C4A-44F9B251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6553D-7AD0-1A99-82F3-28AF6F4D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6401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4140F8-A1F2-81BC-826E-E22387AF1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18B53F-8584-102E-4B82-87EBA518D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CD190-B9E7-4AEE-41F4-933421FB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D59DE7-C0D6-7C23-D3E6-C8282A7A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FF7EEA-8DB8-4A36-06B1-084A0EFE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4675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30A818-AD28-256D-5120-3886108B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59BC24-3B0D-905B-FC14-D5CC43024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B7DF2B-6247-2BF6-AABD-FD405B114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557EE2-B513-0216-E1C7-D09F37845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31CA74-6F9D-AFD9-7F97-85AB7C6C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6678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C74529-BA9F-1DAD-6AF9-C11F5BFC1B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B7FB687-A6A2-080C-85D3-6B5F4963421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1F44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7BE45E-2684-1397-5764-C8F79AB26052}"/>
              </a:ext>
            </a:extLst>
          </p:cNvPr>
          <p:cNvSpPr/>
          <p:nvPr/>
        </p:nvSpPr>
        <p:spPr>
          <a:xfrm>
            <a:off x="0" y="0"/>
            <a:ext cx="6604000" cy="9144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73E5D2-DEAE-B608-DE2A-3CC67D012B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571500"/>
            <a:ext cx="2794000" cy="685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296ABE5-294A-D4A2-7A02-2EA7F68A7C64}"/>
              </a:ext>
            </a:extLst>
          </p:cNvPr>
          <p:cNvSpPr txBox="1"/>
          <p:nvPr/>
        </p:nvSpPr>
        <p:spPr>
          <a:xfrm>
            <a:off x="736600" y="2159000"/>
            <a:ext cx="6604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100" b="1">
                <a:solidFill>
                  <a:srgbClr val="FFFFFF"/>
                </a:solidFill>
                <a:latin typeface="Aptos" panose="020B0004020202020204" pitchFamily="34" charset="0"/>
              </a:rPr>
              <a:t>AVANCES DEL PROYECTO</a:t>
            </a:r>
          </a:p>
          <a:p>
            <a:r>
              <a:rPr lang="es-ES" sz="3100" b="1">
                <a:solidFill>
                  <a:srgbClr val="FFFFFF"/>
                </a:solidFill>
                <a:latin typeface="Aptos" panose="020B0004020202020204" pitchFamily="34" charset="0"/>
              </a:rPr>
              <a:t>DE MODERNIZACIÓN DIGITAL</a:t>
            </a:r>
            <a:endParaRPr lang="es-GT" sz="3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1ECF2E-FFF6-CFC5-44A1-7761040105C2}"/>
              </a:ext>
            </a:extLst>
          </p:cNvPr>
          <p:cNvSpPr txBox="1"/>
          <p:nvPr/>
        </p:nvSpPr>
        <p:spPr>
          <a:xfrm>
            <a:off x="762000" y="4000500"/>
            <a:ext cx="571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>
                <a:solidFill>
                  <a:srgbClr val="00AEEF"/>
                </a:solidFill>
                <a:latin typeface="Aptos" panose="020B0004020202020204" pitchFamily="34" charset="0"/>
              </a:rPr>
              <a:t>Página web institucional y plataforma digital de trámites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11C469-29A3-C10F-C7EE-3FE913A83364}"/>
              </a:ext>
            </a:extLst>
          </p:cNvPr>
          <p:cNvSpPr txBox="1"/>
          <p:nvPr/>
        </p:nvSpPr>
        <p:spPr>
          <a:xfrm>
            <a:off x="762000" y="6604000"/>
            <a:ext cx="342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FFFFFF"/>
                </a:solidFill>
                <a:latin typeface="Aptos" panose="020B0004020202020204" pitchFamily="34" charset="0"/>
              </a:rPr>
              <a:t>15 DE JULIO DE 2026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4B7DFA-E360-EB95-E0D3-014F9B0E9AED}"/>
              </a:ext>
            </a:extLst>
          </p:cNvPr>
          <p:cNvSpPr txBox="1"/>
          <p:nvPr/>
        </p:nvSpPr>
        <p:spPr>
          <a:xfrm>
            <a:off x="762000" y="70485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FFFFFF"/>
                </a:solidFill>
                <a:latin typeface="Aptos" panose="020B0004020202020204" pitchFamily="34" charset="0"/>
              </a:rPr>
              <a:t>GUATEMALA, GUATEMALA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B90448F-E288-B322-E761-C7148C356985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B7D94C-BEEB-3F79-EDDE-D7391485B1BC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272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4D4ED79-B817-B2BD-EB6D-B7AEAC4B8436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B85461-18B0-A411-2F92-A10C7B2B3E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629381E-FC70-4531-9BD1-5F9E083AFCF9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OBJETIVO DE LA REUNIÓN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E70F8C-1147-BA8E-8530-4CC8BA117812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CCE317-9AF8-1029-52C8-C79E57A09547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E61D08-1607-0764-09B7-6188AB94C2AB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C47B701-EAC6-B291-CBCA-21969FCD510C}"/>
              </a:ext>
            </a:extLst>
          </p:cNvPr>
          <p:cNvSpPr/>
          <p:nvPr/>
        </p:nvSpPr>
        <p:spPr>
          <a:xfrm>
            <a:off x="1397000" y="2984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2CCC6F-860B-7A97-8A0D-7157F4F17980}"/>
              </a:ext>
            </a:extLst>
          </p:cNvPr>
          <p:cNvSpPr/>
          <p:nvPr/>
        </p:nvSpPr>
        <p:spPr>
          <a:xfrm>
            <a:off x="1676400" y="3263900"/>
            <a:ext cx="1600200" cy="1600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BCB2C2-64EF-77E0-82C6-A2545CCDED67}"/>
              </a:ext>
            </a:extLst>
          </p:cNvPr>
          <p:cNvSpPr/>
          <p:nvPr/>
        </p:nvSpPr>
        <p:spPr>
          <a:xfrm>
            <a:off x="1955800" y="3543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42CFD6-2131-1F1E-37F8-6A81CE7B0365}"/>
              </a:ext>
            </a:extLst>
          </p:cNvPr>
          <p:cNvSpPr txBox="1"/>
          <p:nvPr/>
        </p:nvSpPr>
        <p:spPr>
          <a:xfrm>
            <a:off x="1778000" y="3644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9ADA0C-D000-5DE5-193D-5AE1F5FD80D4}"/>
              </a:ext>
            </a:extLst>
          </p:cNvPr>
          <p:cNvSpPr txBox="1"/>
          <p:nvPr/>
        </p:nvSpPr>
        <p:spPr>
          <a:xfrm>
            <a:off x="1714500" y="4254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Objetivo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138BD64-7DDD-53C5-E7D1-3CAF545B027F}"/>
              </a:ext>
            </a:extLst>
          </p:cNvPr>
          <p:cNvSpPr/>
          <p:nvPr/>
        </p:nvSpPr>
        <p:spPr>
          <a:xfrm>
            <a:off x="5334000" y="2349500"/>
            <a:ext cx="863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42950C1-40A1-8934-2391-1E4CE3950AA0}"/>
              </a:ext>
            </a:extLst>
          </p:cNvPr>
          <p:cNvSpPr/>
          <p:nvPr/>
        </p:nvSpPr>
        <p:spPr>
          <a:xfrm>
            <a:off x="5334000" y="2349500"/>
            <a:ext cx="88900" cy="11684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8D6F25-C1DD-F439-C64C-E355F0FC4367}"/>
              </a:ext>
            </a:extLst>
          </p:cNvPr>
          <p:cNvSpPr txBox="1"/>
          <p:nvPr/>
        </p:nvSpPr>
        <p:spPr>
          <a:xfrm>
            <a:off x="5613400" y="25781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Presentar avances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C50D64-528E-B433-744D-07D44485F63D}"/>
              </a:ext>
            </a:extLst>
          </p:cNvPr>
          <p:cNvSpPr txBox="1"/>
          <p:nvPr/>
        </p:nvSpPr>
        <p:spPr>
          <a:xfrm>
            <a:off x="5613400" y="30480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Estado actual de la página web institucional y plataforma digital de trámites.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D807109-8692-33E8-6070-33934C32BBB2}"/>
              </a:ext>
            </a:extLst>
          </p:cNvPr>
          <p:cNvSpPr/>
          <p:nvPr/>
        </p:nvSpPr>
        <p:spPr>
          <a:xfrm>
            <a:off x="5334000" y="3810000"/>
            <a:ext cx="863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8B6B9D3-BCC0-2A8A-1522-815B33C1E3B5}"/>
              </a:ext>
            </a:extLst>
          </p:cNvPr>
          <p:cNvSpPr/>
          <p:nvPr/>
        </p:nvSpPr>
        <p:spPr>
          <a:xfrm>
            <a:off x="5334000" y="3810000"/>
            <a:ext cx="88900" cy="11684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A321C3B-E099-296A-17BF-3D69F2BCA2FD}"/>
              </a:ext>
            </a:extLst>
          </p:cNvPr>
          <p:cNvSpPr txBox="1"/>
          <p:nvPr/>
        </p:nvSpPr>
        <p:spPr>
          <a:xfrm>
            <a:off x="5613400" y="40386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Revisar prioridades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CC0D35-8175-EDF9-5FB7-12AAE0B95AF0}"/>
              </a:ext>
            </a:extLst>
          </p:cNvPr>
          <p:cNvSpPr txBox="1"/>
          <p:nvPr/>
        </p:nvSpPr>
        <p:spPr>
          <a:xfrm>
            <a:off x="5613400" y="45085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Avances acumulados de los 17 trámites administrativos priorizados por la DGAC.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4C6431-102C-4332-CB8A-7F8036FC0640}"/>
              </a:ext>
            </a:extLst>
          </p:cNvPr>
          <p:cNvSpPr/>
          <p:nvPr/>
        </p:nvSpPr>
        <p:spPr>
          <a:xfrm>
            <a:off x="5334000" y="5270500"/>
            <a:ext cx="8636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8339975-2DFF-5C4F-496A-450F0DECCFFA}"/>
              </a:ext>
            </a:extLst>
          </p:cNvPr>
          <p:cNvSpPr/>
          <p:nvPr/>
        </p:nvSpPr>
        <p:spPr>
          <a:xfrm>
            <a:off x="5334000" y="5270500"/>
            <a:ext cx="88900" cy="1397000"/>
          </a:xfrm>
          <a:prstGeom prst="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F55037A-60F7-FFE5-64D7-A18A72F50B65}"/>
              </a:ext>
            </a:extLst>
          </p:cNvPr>
          <p:cNvSpPr txBox="1"/>
          <p:nvPr/>
        </p:nvSpPr>
        <p:spPr>
          <a:xfrm>
            <a:off x="5613400" y="54991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Definir próximos pasos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A52FA7-86EB-5480-38F4-C3C7CE066059}"/>
              </a:ext>
            </a:extLst>
          </p:cNvPr>
          <p:cNvSpPr txBox="1"/>
          <p:nvPr/>
        </p:nvSpPr>
        <p:spPr>
          <a:xfrm>
            <a:off x="5613400" y="59690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Pendientes de validación, capacitación, lanzamiento, Neonet y firma electrónica avanzada.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A9E308-BA08-74C9-AFED-7BE8E59983EA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B5ADD01-8AAA-350E-4600-2BFD3D1F21FD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D854574-2F35-C1C8-B35C-6BA998660043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56F8112-C63F-1C76-7511-7E2AE5F8B190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93F907-F8BF-F807-8CBE-6B37926AEC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5424862-A974-A817-7038-2BB07C3300A8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ESTADO ACTUAL DE LA PÁGINA WEB INSTITUCIONAL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D0AECC4-DA63-83E4-BB79-16AE6504E89C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B52D64-6967-C320-3875-E0DAC72BC6EE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4EF28F-6CDF-3224-24F1-79A7F7A76C17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76E588C-BD78-C029-C1D5-2A2089AFDA3A}"/>
              </a:ext>
            </a:extLst>
          </p:cNvPr>
          <p:cNvSpPr/>
          <p:nvPr/>
        </p:nvSpPr>
        <p:spPr>
          <a:xfrm>
            <a:off x="8382000" y="2222500"/>
            <a:ext cx="4889500" cy="152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7AED1DB-744E-AD46-74C8-2314917B3466}"/>
              </a:ext>
            </a:extLst>
          </p:cNvPr>
          <p:cNvSpPr/>
          <p:nvPr/>
        </p:nvSpPr>
        <p:spPr>
          <a:xfrm>
            <a:off x="8382000" y="2222500"/>
            <a:ext cx="88900" cy="15240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9E962F7-906F-DFFC-88EB-CBE2E2EDEA5B}"/>
              </a:ext>
            </a:extLst>
          </p:cNvPr>
          <p:cNvSpPr txBox="1"/>
          <p:nvPr/>
        </p:nvSpPr>
        <p:spPr>
          <a:xfrm>
            <a:off x="8661400" y="2451100"/>
            <a:ext cx="438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Concluido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EECE2A-D72F-31A4-4016-167D6179A0E9}"/>
              </a:ext>
            </a:extLst>
          </p:cNvPr>
          <p:cNvSpPr txBox="1"/>
          <p:nvPr/>
        </p:nvSpPr>
        <p:spPr>
          <a:xfrm>
            <a:off x="8661400" y="2921000"/>
            <a:ext cx="43561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Migración de información a la nueva página web institucional, en cumplimiento de requerimientos de Gobierno Abierto y Electrónico -GAE-.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6FCCA67-4D6E-AFF2-2054-42B365DE572B}"/>
              </a:ext>
            </a:extLst>
          </p:cNvPr>
          <p:cNvSpPr/>
          <p:nvPr/>
        </p:nvSpPr>
        <p:spPr>
          <a:xfrm>
            <a:off x="8382000" y="4127500"/>
            <a:ext cx="4889500" cy="165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A7791ED-82D6-C6C7-D25D-4B4E8B7949DF}"/>
              </a:ext>
            </a:extLst>
          </p:cNvPr>
          <p:cNvSpPr/>
          <p:nvPr/>
        </p:nvSpPr>
        <p:spPr>
          <a:xfrm>
            <a:off x="8382000" y="4127500"/>
            <a:ext cx="88900" cy="1651000"/>
          </a:xfrm>
          <a:prstGeom prst="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78A827-C976-F1E4-B77D-CF43B25AC7EC}"/>
              </a:ext>
            </a:extLst>
          </p:cNvPr>
          <p:cNvSpPr txBox="1"/>
          <p:nvPr/>
        </p:nvSpPr>
        <p:spPr>
          <a:xfrm>
            <a:off x="8661400" y="4356100"/>
            <a:ext cx="438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Pendiente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9E0629-25A4-151C-ED16-B7659F3E71A0}"/>
              </a:ext>
            </a:extLst>
          </p:cNvPr>
          <p:cNvSpPr txBox="1"/>
          <p:nvPr/>
        </p:nvSpPr>
        <p:spPr>
          <a:xfrm>
            <a:off x="8661400" y="4826000"/>
            <a:ext cx="43561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Reordenamiento, actualización y validación de la información publicada con unidades y departamentos responsables.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422D2CC-53B5-4721-2A90-B98C1E06F06F}"/>
              </a:ext>
            </a:extLst>
          </p:cNvPr>
          <p:cNvSpPr/>
          <p:nvPr/>
        </p:nvSpPr>
        <p:spPr>
          <a:xfrm>
            <a:off x="13462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3485F4C-90E0-2DA2-EB88-AF7075089740}"/>
              </a:ext>
            </a:extLst>
          </p:cNvPr>
          <p:cNvSpPr/>
          <p:nvPr/>
        </p:nvSpPr>
        <p:spPr>
          <a:xfrm>
            <a:off x="13741400" y="30099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59A4ED5-C656-95A2-2A71-052AA720955B}"/>
              </a:ext>
            </a:extLst>
          </p:cNvPr>
          <p:cNvSpPr/>
          <p:nvPr/>
        </p:nvSpPr>
        <p:spPr>
          <a:xfrm>
            <a:off x="14020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BDCA85-129A-AAD7-6BA4-FDF2DF2B29DA}"/>
              </a:ext>
            </a:extLst>
          </p:cNvPr>
          <p:cNvSpPr txBox="1"/>
          <p:nvPr/>
        </p:nvSpPr>
        <p:spPr>
          <a:xfrm>
            <a:off x="13843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9783CD-0CBB-C35C-B441-CB2F08D90C1E}"/>
              </a:ext>
            </a:extLst>
          </p:cNvPr>
          <p:cNvSpPr txBox="1"/>
          <p:nvPr/>
        </p:nvSpPr>
        <p:spPr>
          <a:xfrm>
            <a:off x="13779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Migración concluida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CC7F4EE-F3E0-E7B6-6562-470BB1EC1C12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9FF386-5153-76A3-6019-4B8E90FAAE1D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094307D-8118-05B4-DC85-41FB4661DE0A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6968DF-AEB6-497C-38B8-D716E618A4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349500"/>
            <a:ext cx="6858000" cy="4292600"/>
          </a:xfrm>
          <a:prstGeom prst="rect">
            <a:avLst/>
          </a:prstGeom>
          <a:ln w="15875">
            <a:solidFill>
              <a:srgbClr val="BFD8F2"/>
            </a:solidFill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F5338D72-328E-A4A9-AA6A-2923FCCCE66F}"/>
              </a:ext>
            </a:extLst>
          </p:cNvPr>
          <p:cNvSpPr txBox="1"/>
          <p:nvPr/>
        </p:nvSpPr>
        <p:spPr>
          <a:xfrm>
            <a:off x="1016000" y="6794500"/>
            <a:ext cx="685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GT" sz="1200">
                <a:solidFill>
                  <a:srgbClr val="566373"/>
                </a:solidFill>
                <a:latin typeface="Aptos" panose="020B0004020202020204" pitchFamily="34" charset="0"/>
              </a:rPr>
              <a:t>Captura real de www.dgac.gob.gt</a:t>
            </a:r>
          </a:p>
        </p:txBody>
      </p:sp>
    </p:spTree>
    <p:extLst>
      <p:ext uri="{BB962C8B-B14F-4D97-AF65-F5344CB8AC3E}">
        <p14:creationId xmlns:p14="http://schemas.microsoft.com/office/powerpoint/2010/main" val="2681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BF0B81-BD69-E0CE-BE3B-01273421E093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98F28F-B56B-2088-8218-4F840D3AEE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9CB8BCA-E3B8-C4B8-D28A-0AA594EF6A5D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AVANCE GENERAL DE LA PLATAFORMA DIGITAL DE TRÁMITES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E68D47-2E9D-1802-0C08-BDA1375BAFE3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CEF365-23BC-2BB4-46CB-56C21BF6D290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4A6A9-361C-32C4-91B8-FA1554D8B70C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E97F033-A7F1-A205-99B0-DEE2CC7B1421}"/>
              </a:ext>
            </a:extLst>
          </p:cNvPr>
          <p:cNvSpPr/>
          <p:nvPr/>
        </p:nvSpPr>
        <p:spPr>
          <a:xfrm>
            <a:off x="1143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738349A-9697-F948-DE27-FC2E2B4E1ECE}"/>
              </a:ext>
            </a:extLst>
          </p:cNvPr>
          <p:cNvSpPr/>
          <p:nvPr/>
        </p:nvSpPr>
        <p:spPr>
          <a:xfrm>
            <a:off x="1422400" y="3009900"/>
            <a:ext cx="1600200" cy="1600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C6F71A6-5E77-604B-F623-65B4217F7D0F}"/>
              </a:ext>
            </a:extLst>
          </p:cNvPr>
          <p:cNvSpPr/>
          <p:nvPr/>
        </p:nvSpPr>
        <p:spPr>
          <a:xfrm>
            <a:off x="1701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2AE15EE-8874-23FE-0C4C-5188B627069E}"/>
              </a:ext>
            </a:extLst>
          </p:cNvPr>
          <p:cNvSpPr txBox="1"/>
          <p:nvPr/>
        </p:nvSpPr>
        <p:spPr>
          <a:xfrm>
            <a:off x="1524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2ED7CF-BCB7-3F4F-5EF5-C855312157A8}"/>
              </a:ext>
            </a:extLst>
          </p:cNvPr>
          <p:cNvSpPr txBox="1"/>
          <p:nvPr/>
        </p:nvSpPr>
        <p:spPr>
          <a:xfrm>
            <a:off x="1460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 priorizados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F1BBA93-7C61-1142-E841-2144409883CC}"/>
              </a:ext>
            </a:extLst>
          </p:cNvPr>
          <p:cNvSpPr/>
          <p:nvPr/>
        </p:nvSpPr>
        <p:spPr>
          <a:xfrm>
            <a:off x="3810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31E16DC-EE7F-F60F-6C5D-A2BDCAC149BE}"/>
              </a:ext>
            </a:extLst>
          </p:cNvPr>
          <p:cNvSpPr/>
          <p:nvPr/>
        </p:nvSpPr>
        <p:spPr>
          <a:xfrm>
            <a:off x="4089400" y="30099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0EC8568-4EC4-5F6B-B1A4-59CB49475392}"/>
              </a:ext>
            </a:extLst>
          </p:cNvPr>
          <p:cNvSpPr/>
          <p:nvPr/>
        </p:nvSpPr>
        <p:spPr>
          <a:xfrm>
            <a:off x="4368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0878B9-4F3F-3E25-BBAF-624CEC21791F}"/>
              </a:ext>
            </a:extLst>
          </p:cNvPr>
          <p:cNvSpPr txBox="1"/>
          <p:nvPr/>
        </p:nvSpPr>
        <p:spPr>
          <a:xfrm>
            <a:off x="4191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33%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942960-1813-DEFE-392C-709DC1F91CCC}"/>
              </a:ext>
            </a:extLst>
          </p:cNvPr>
          <p:cNvSpPr txBox="1"/>
          <p:nvPr/>
        </p:nvSpPr>
        <p:spPr>
          <a:xfrm>
            <a:off x="4127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Promedio acumulado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8B475BA-8424-90E6-3EA9-1C1440EE82D6}"/>
              </a:ext>
            </a:extLst>
          </p:cNvPr>
          <p:cNvSpPr/>
          <p:nvPr/>
        </p:nvSpPr>
        <p:spPr>
          <a:xfrm>
            <a:off x="7112000" y="2222500"/>
            <a:ext cx="38100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22CE890-CD2E-9E8B-E1BA-C2EC2CA27E2A}"/>
              </a:ext>
            </a:extLst>
          </p:cNvPr>
          <p:cNvSpPr/>
          <p:nvPr/>
        </p:nvSpPr>
        <p:spPr>
          <a:xfrm>
            <a:off x="7112000" y="2222500"/>
            <a:ext cx="88900" cy="24130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339BE55-0AA4-91F3-9838-0ACA7ED1F9CA}"/>
              </a:ext>
            </a:extLst>
          </p:cNvPr>
          <p:cNvSpPr txBox="1"/>
          <p:nvPr/>
        </p:nvSpPr>
        <p:spPr>
          <a:xfrm>
            <a:off x="7391400" y="2451100"/>
            <a:ext cx="330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Distribución por avance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5B54BEF-E37E-FF07-BE26-07E81FA803DD}"/>
              </a:ext>
            </a:extLst>
          </p:cNvPr>
          <p:cNvSpPr txBox="1"/>
          <p:nvPr/>
        </p:nvSpPr>
        <p:spPr>
          <a:xfrm>
            <a:off x="7391400" y="2921000"/>
            <a:ext cx="32766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5 trámites al 83%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4 trámites al 29%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1 trámite al 14%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3 trámites al 8%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4 trámites al 0%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714C546-D3E7-34BA-ED00-AF0C833F9F14}"/>
              </a:ext>
            </a:extLst>
          </p:cNvPr>
          <p:cNvSpPr/>
          <p:nvPr/>
        </p:nvSpPr>
        <p:spPr>
          <a:xfrm>
            <a:off x="11430000" y="2222500"/>
            <a:ext cx="38100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D5B4351-4178-FF52-586E-343E845849D5}"/>
              </a:ext>
            </a:extLst>
          </p:cNvPr>
          <p:cNvSpPr/>
          <p:nvPr/>
        </p:nvSpPr>
        <p:spPr>
          <a:xfrm>
            <a:off x="11430000" y="2222500"/>
            <a:ext cx="88900" cy="24130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C0E613B-4098-BA77-E5F6-92F5E9F7EA90}"/>
              </a:ext>
            </a:extLst>
          </p:cNvPr>
          <p:cNvSpPr txBox="1"/>
          <p:nvPr/>
        </p:nvSpPr>
        <p:spPr>
          <a:xfrm>
            <a:off x="11709400" y="2451100"/>
            <a:ext cx="330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Lectura del avance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27E6A5-116B-6620-03B7-7C12D45F7E8B}"/>
              </a:ext>
            </a:extLst>
          </p:cNvPr>
          <p:cNvSpPr txBox="1"/>
          <p:nvPr/>
        </p:nvSpPr>
        <p:spPr>
          <a:xfrm>
            <a:off x="11709400" y="2921000"/>
            <a:ext cx="327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El primer grupo ya completó análisis, desarrollo, pruebas e implementación; quedan capacitación y lanzamiento.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F99E99-5A3D-1E1B-90E8-46EB35126D18}"/>
              </a:ext>
            </a:extLst>
          </p:cNvPr>
          <p:cNvSpPr txBox="1"/>
          <p:nvPr/>
        </p:nvSpPr>
        <p:spPr>
          <a:xfrm>
            <a:off x="7112000" y="5435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83%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9ABDE7A-E91C-D264-A8A1-BADE3389067A}"/>
              </a:ext>
            </a:extLst>
          </p:cNvPr>
          <p:cNvSpPr/>
          <p:nvPr/>
        </p:nvSpPr>
        <p:spPr>
          <a:xfrm>
            <a:off x="7874000" y="5461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D9090EC-AE43-8E38-8721-C4CDB1CB4E21}"/>
              </a:ext>
            </a:extLst>
          </p:cNvPr>
          <p:cNvSpPr/>
          <p:nvPr/>
        </p:nvSpPr>
        <p:spPr>
          <a:xfrm>
            <a:off x="7874000" y="5461000"/>
            <a:ext cx="4533900" cy="254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B8CBCC-8825-9D66-0F8D-6F30D96A5A6B}"/>
              </a:ext>
            </a:extLst>
          </p:cNvPr>
          <p:cNvSpPr txBox="1"/>
          <p:nvPr/>
        </p:nvSpPr>
        <p:spPr>
          <a:xfrm>
            <a:off x="13589000" y="5435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5 trámites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DC2E30-6189-D17E-8E03-4F84C897AB7A}"/>
              </a:ext>
            </a:extLst>
          </p:cNvPr>
          <p:cNvSpPr txBox="1"/>
          <p:nvPr/>
        </p:nvSpPr>
        <p:spPr>
          <a:xfrm>
            <a:off x="7112000" y="6324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29%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8CEA62B4-1E2C-B559-B341-401DDBC67AE1}"/>
              </a:ext>
            </a:extLst>
          </p:cNvPr>
          <p:cNvSpPr/>
          <p:nvPr/>
        </p:nvSpPr>
        <p:spPr>
          <a:xfrm>
            <a:off x="7874000" y="6350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BDB8BE5-1C6C-95B9-94F6-9E528B7410EE}"/>
              </a:ext>
            </a:extLst>
          </p:cNvPr>
          <p:cNvSpPr/>
          <p:nvPr/>
        </p:nvSpPr>
        <p:spPr>
          <a:xfrm>
            <a:off x="7874000" y="6350000"/>
            <a:ext cx="1587500" cy="254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883B243-05B3-0413-E415-4338789CEB44}"/>
              </a:ext>
            </a:extLst>
          </p:cNvPr>
          <p:cNvSpPr txBox="1"/>
          <p:nvPr/>
        </p:nvSpPr>
        <p:spPr>
          <a:xfrm>
            <a:off x="13589000" y="6324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4 trámites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7434AC5-5698-0E84-D5F5-B2428F31AC94}"/>
              </a:ext>
            </a:extLst>
          </p:cNvPr>
          <p:cNvSpPr txBox="1"/>
          <p:nvPr/>
        </p:nvSpPr>
        <p:spPr>
          <a:xfrm>
            <a:off x="7112000" y="7213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14%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AD45A07-C9A0-7448-5580-8A2F12DEF8D8}"/>
              </a:ext>
            </a:extLst>
          </p:cNvPr>
          <p:cNvSpPr/>
          <p:nvPr/>
        </p:nvSpPr>
        <p:spPr>
          <a:xfrm>
            <a:off x="7874000" y="7239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420A28D-AC1E-F21F-228E-653D49495C1F}"/>
              </a:ext>
            </a:extLst>
          </p:cNvPr>
          <p:cNvSpPr/>
          <p:nvPr/>
        </p:nvSpPr>
        <p:spPr>
          <a:xfrm>
            <a:off x="7874000" y="7239000"/>
            <a:ext cx="762000" cy="254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B9C0CB6-4313-369E-C428-761337EDACAD}"/>
              </a:ext>
            </a:extLst>
          </p:cNvPr>
          <p:cNvSpPr txBox="1"/>
          <p:nvPr/>
        </p:nvSpPr>
        <p:spPr>
          <a:xfrm>
            <a:off x="13589000" y="7213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1 trámites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127883D-E993-1D12-3665-64D8C6D6DF60}"/>
              </a:ext>
            </a:extLst>
          </p:cNvPr>
          <p:cNvSpPr txBox="1"/>
          <p:nvPr/>
        </p:nvSpPr>
        <p:spPr>
          <a:xfrm>
            <a:off x="7112000" y="8102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8%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4A88DD5-6E01-9AFB-4428-5C7BF2D96A8F}"/>
              </a:ext>
            </a:extLst>
          </p:cNvPr>
          <p:cNvSpPr/>
          <p:nvPr/>
        </p:nvSpPr>
        <p:spPr>
          <a:xfrm>
            <a:off x="7874000" y="8128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A728C620-6910-6855-B26A-82AD6A7DA2AC}"/>
              </a:ext>
            </a:extLst>
          </p:cNvPr>
          <p:cNvSpPr/>
          <p:nvPr/>
        </p:nvSpPr>
        <p:spPr>
          <a:xfrm>
            <a:off x="7874000" y="8128000"/>
            <a:ext cx="431800" cy="254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F0C69E1-8582-83BF-3276-6C5B4E45D3B9}"/>
              </a:ext>
            </a:extLst>
          </p:cNvPr>
          <p:cNvSpPr txBox="1"/>
          <p:nvPr/>
        </p:nvSpPr>
        <p:spPr>
          <a:xfrm>
            <a:off x="13589000" y="8102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3 trámites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B46696C-F2DC-99C6-EFC2-B66AF0341616}"/>
              </a:ext>
            </a:extLst>
          </p:cNvPr>
          <p:cNvSpPr txBox="1"/>
          <p:nvPr/>
        </p:nvSpPr>
        <p:spPr>
          <a:xfrm>
            <a:off x="7112000" y="8991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B28F03A-F4CD-D1C6-3D4F-F6170172C9E3}"/>
              </a:ext>
            </a:extLst>
          </p:cNvPr>
          <p:cNvSpPr/>
          <p:nvPr/>
        </p:nvSpPr>
        <p:spPr>
          <a:xfrm>
            <a:off x="7874000" y="9017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FAA9F8C0-D03A-7190-06C7-2E132A5B3037}"/>
              </a:ext>
            </a:extLst>
          </p:cNvPr>
          <p:cNvSpPr/>
          <p:nvPr/>
        </p:nvSpPr>
        <p:spPr>
          <a:xfrm>
            <a:off x="7874000" y="9017000"/>
            <a:ext cx="101600" cy="254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36F19A7-EFB1-762C-0B43-19A42E70EFBE}"/>
              </a:ext>
            </a:extLst>
          </p:cNvPr>
          <p:cNvSpPr txBox="1"/>
          <p:nvPr/>
        </p:nvSpPr>
        <p:spPr>
          <a:xfrm>
            <a:off x="13589000" y="8991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4 trámites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5476E02-245F-7F8D-FEF3-97A23387FD08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8EAA421-981B-FEEE-A924-F1605A184B62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01AB4C1-22E2-7525-CD9E-CF7683EF19EF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330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753EE6A-0C57-258A-B02F-BCD4D98B4320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0E242A-2290-9CB8-C177-197717E3D3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4659114-9E44-D376-560A-AFA921BC7998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CON MAYOR AVANCE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FB0BE4-DEBE-FE99-86E4-342B4D03D3CF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3DDED1-9CDF-5CF1-F427-41512A89B4B2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71A2FD-0B14-18D4-8DBC-B84918AF5E14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78006CA-7403-8102-6E0F-355B4CD7A121}"/>
              </a:ext>
            </a:extLst>
          </p:cNvPr>
          <p:cNvSpPr/>
          <p:nvPr/>
        </p:nvSpPr>
        <p:spPr>
          <a:xfrm>
            <a:off x="1016000" y="2095500"/>
            <a:ext cx="292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28F894-BFAB-CC2D-0562-733723A2A775}"/>
              </a:ext>
            </a:extLst>
          </p:cNvPr>
          <p:cNvSpPr txBox="1"/>
          <p:nvPr/>
        </p:nvSpPr>
        <p:spPr>
          <a:xfrm>
            <a:off x="1117600" y="2184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83% DE AVANCE ACUMULADO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18850EE-C23D-89E4-0B8C-006E7BCD44F8}"/>
              </a:ext>
            </a:extLst>
          </p:cNvPr>
          <p:cNvSpPr/>
          <p:nvPr/>
        </p:nvSpPr>
        <p:spPr>
          <a:xfrm>
            <a:off x="11430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8B72342-6BC7-0CDA-FB07-EA28C4BA4B4A}"/>
              </a:ext>
            </a:extLst>
          </p:cNvPr>
          <p:cNvSpPr/>
          <p:nvPr/>
        </p:nvSpPr>
        <p:spPr>
          <a:xfrm>
            <a:off x="1422400" y="34544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965DCF6-DB62-160F-74EB-8A557D58B27A}"/>
              </a:ext>
            </a:extLst>
          </p:cNvPr>
          <p:cNvSpPr/>
          <p:nvPr/>
        </p:nvSpPr>
        <p:spPr>
          <a:xfrm>
            <a:off x="17018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CC2D2D-03E2-9454-429E-A01E350EA7FF}"/>
              </a:ext>
            </a:extLst>
          </p:cNvPr>
          <p:cNvSpPr txBox="1"/>
          <p:nvPr/>
        </p:nvSpPr>
        <p:spPr>
          <a:xfrm>
            <a:off x="15240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2F0FA4-FE44-46C3-7BA4-A573CFA327C1}"/>
              </a:ext>
            </a:extLst>
          </p:cNvPr>
          <p:cNvSpPr txBox="1"/>
          <p:nvPr/>
        </p:nvSpPr>
        <p:spPr>
          <a:xfrm>
            <a:off x="14605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C8D1785-6573-5916-1CD8-27390B5E147B}"/>
              </a:ext>
            </a:extLst>
          </p:cNvPr>
          <p:cNvSpPr/>
          <p:nvPr/>
        </p:nvSpPr>
        <p:spPr>
          <a:xfrm>
            <a:off x="4826000" y="23495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6742A57-2C92-B6EC-4C9B-A611FC0248BC}"/>
              </a:ext>
            </a:extLst>
          </p:cNvPr>
          <p:cNvSpPr/>
          <p:nvPr/>
        </p:nvSpPr>
        <p:spPr>
          <a:xfrm>
            <a:off x="4953000" y="24384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22A1D9-147D-AF0D-9797-8127249FBDB2}"/>
              </a:ext>
            </a:extLst>
          </p:cNvPr>
          <p:cNvSpPr txBox="1"/>
          <p:nvPr/>
        </p:nvSpPr>
        <p:spPr>
          <a:xfrm>
            <a:off x="5029200" y="25019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ADB364-BA2D-B94C-C73A-0CF240BC89E2}"/>
              </a:ext>
            </a:extLst>
          </p:cNvPr>
          <p:cNvSpPr txBox="1"/>
          <p:nvPr/>
        </p:nvSpPr>
        <p:spPr>
          <a:xfrm>
            <a:off x="5511800" y="24384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Reserva, prórroga o cesión de matrícula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F367CDE-88D8-17FD-6655-935B66164F44}"/>
              </a:ext>
            </a:extLst>
          </p:cNvPr>
          <p:cNvSpPr/>
          <p:nvPr/>
        </p:nvSpPr>
        <p:spPr>
          <a:xfrm>
            <a:off x="4826000" y="30607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45D6453-677D-1907-5C21-68AE10540B68}"/>
              </a:ext>
            </a:extLst>
          </p:cNvPr>
          <p:cNvSpPr/>
          <p:nvPr/>
        </p:nvSpPr>
        <p:spPr>
          <a:xfrm>
            <a:off x="4953000" y="31496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CD330D-66BC-A091-7873-1F6DE67575EB}"/>
              </a:ext>
            </a:extLst>
          </p:cNvPr>
          <p:cNvSpPr txBox="1"/>
          <p:nvPr/>
        </p:nvSpPr>
        <p:spPr>
          <a:xfrm>
            <a:off x="5029200" y="32131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029598-65A0-F0B4-5FB1-5628AFC02842}"/>
              </a:ext>
            </a:extLst>
          </p:cNvPr>
          <p:cNvSpPr txBox="1"/>
          <p:nvPr/>
        </p:nvSpPr>
        <p:spPr>
          <a:xfrm>
            <a:off x="5511800" y="31496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Reserva de Distintivo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3AE2709-8531-A073-2A7B-76444D916C2E}"/>
              </a:ext>
            </a:extLst>
          </p:cNvPr>
          <p:cNvSpPr/>
          <p:nvPr/>
        </p:nvSpPr>
        <p:spPr>
          <a:xfrm>
            <a:off x="4826000" y="37719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BB4AA5B-2166-E479-4BD9-ED282E01DF9E}"/>
              </a:ext>
            </a:extLst>
          </p:cNvPr>
          <p:cNvSpPr/>
          <p:nvPr/>
        </p:nvSpPr>
        <p:spPr>
          <a:xfrm>
            <a:off x="4953000" y="38608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6B08019-0FB6-5C8E-5018-81534716DD4C}"/>
              </a:ext>
            </a:extLst>
          </p:cNvPr>
          <p:cNvSpPr txBox="1"/>
          <p:nvPr/>
        </p:nvSpPr>
        <p:spPr>
          <a:xfrm>
            <a:off x="5029200" y="39243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62E4E-C3B0-E8CF-E13E-8325E8DA99FE}"/>
              </a:ext>
            </a:extLst>
          </p:cNvPr>
          <p:cNvSpPr txBox="1"/>
          <p:nvPr/>
        </p:nvSpPr>
        <p:spPr>
          <a:xfrm>
            <a:off x="5511800" y="38608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Certificación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426CC89-F484-464B-C95A-442CD7A2196A}"/>
              </a:ext>
            </a:extLst>
          </p:cNvPr>
          <p:cNvSpPr/>
          <p:nvPr/>
        </p:nvSpPr>
        <p:spPr>
          <a:xfrm>
            <a:off x="4826000" y="44831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A16F0ED-3E0D-8602-53AB-AB58CADCD1F4}"/>
              </a:ext>
            </a:extLst>
          </p:cNvPr>
          <p:cNvSpPr/>
          <p:nvPr/>
        </p:nvSpPr>
        <p:spPr>
          <a:xfrm>
            <a:off x="4953000" y="45720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CD9AA13-63DC-1FD9-6852-4679FCC5C068}"/>
              </a:ext>
            </a:extLst>
          </p:cNvPr>
          <p:cNvSpPr txBox="1"/>
          <p:nvPr/>
        </p:nvSpPr>
        <p:spPr>
          <a:xfrm>
            <a:off x="5029200" y="46355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35F6F99-5F4F-8AEC-22BA-17819A1AA8EF}"/>
              </a:ext>
            </a:extLst>
          </p:cNvPr>
          <p:cNvSpPr txBox="1"/>
          <p:nvPr/>
        </p:nvSpPr>
        <p:spPr>
          <a:xfrm>
            <a:off x="5511800" y="45720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Contraseña de pago de otros rubros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3C43C90B-46F5-5B47-9306-3C3757ACFF8A}"/>
              </a:ext>
            </a:extLst>
          </p:cNvPr>
          <p:cNvSpPr/>
          <p:nvPr/>
        </p:nvSpPr>
        <p:spPr>
          <a:xfrm>
            <a:off x="4826000" y="51943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CF4A84F-C113-241A-567E-0CE7264F2E97}"/>
              </a:ext>
            </a:extLst>
          </p:cNvPr>
          <p:cNvSpPr/>
          <p:nvPr/>
        </p:nvSpPr>
        <p:spPr>
          <a:xfrm>
            <a:off x="4953000" y="52832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C6A85F6-C3DB-EE7E-BB48-9AD1AF0AA84B}"/>
              </a:ext>
            </a:extLst>
          </p:cNvPr>
          <p:cNvSpPr txBox="1"/>
          <p:nvPr/>
        </p:nvSpPr>
        <p:spPr>
          <a:xfrm>
            <a:off x="5029200" y="53467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F3C51B1-CD81-1E75-E9D0-A47CBD89FD96}"/>
              </a:ext>
            </a:extLst>
          </p:cNvPr>
          <p:cNvSpPr txBox="1"/>
          <p:nvPr/>
        </p:nvSpPr>
        <p:spPr>
          <a:xfrm>
            <a:off x="5511800" y="52832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Solvencia financiera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C521214-1EBB-8C58-C8BB-FF722FB79C55}"/>
              </a:ext>
            </a:extLst>
          </p:cNvPr>
          <p:cNvSpPr/>
          <p:nvPr/>
        </p:nvSpPr>
        <p:spPr>
          <a:xfrm>
            <a:off x="18415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DCCAA3E-FC07-FE18-CE82-50BADADD2941}"/>
              </a:ext>
            </a:extLst>
          </p:cNvPr>
          <p:cNvSpPr txBox="1"/>
          <p:nvPr/>
        </p:nvSpPr>
        <p:spPr>
          <a:xfrm>
            <a:off x="20066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0F8E4F0-48D7-9467-0FDD-E2FBE4AB59CB}"/>
              </a:ext>
            </a:extLst>
          </p:cNvPr>
          <p:cNvSpPr txBox="1"/>
          <p:nvPr/>
        </p:nvSpPr>
        <p:spPr>
          <a:xfrm>
            <a:off x="15875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Análisis finalizado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9FDA448-C800-58E1-CE6F-F8E9B4F8DF6A}"/>
              </a:ext>
            </a:extLst>
          </p:cNvPr>
          <p:cNvCxnSpPr/>
          <p:nvPr/>
        </p:nvCxnSpPr>
        <p:spPr>
          <a:xfrm>
            <a:off x="2603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A2C64A50-2DAE-9E17-45BF-B6404FA72826}"/>
              </a:ext>
            </a:extLst>
          </p:cNvPr>
          <p:cNvSpPr/>
          <p:nvPr/>
        </p:nvSpPr>
        <p:spPr>
          <a:xfrm>
            <a:off x="38100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D887198-1FF2-059F-C793-3A8C92A2A346}"/>
              </a:ext>
            </a:extLst>
          </p:cNvPr>
          <p:cNvSpPr txBox="1"/>
          <p:nvPr/>
        </p:nvSpPr>
        <p:spPr>
          <a:xfrm>
            <a:off x="39751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81C4E9E-D320-57DD-C09A-5D3F9C76D992}"/>
              </a:ext>
            </a:extLst>
          </p:cNvPr>
          <p:cNvSpPr txBox="1"/>
          <p:nvPr/>
        </p:nvSpPr>
        <p:spPr>
          <a:xfrm>
            <a:off x="35560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Desarrollo finalizado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95EC6155-42D8-7643-E340-C5FF075BA49E}"/>
              </a:ext>
            </a:extLst>
          </p:cNvPr>
          <p:cNvCxnSpPr/>
          <p:nvPr/>
        </p:nvCxnSpPr>
        <p:spPr>
          <a:xfrm>
            <a:off x="45720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74D8CF7F-944D-EB05-9ACB-4F99CDF07EB1}"/>
              </a:ext>
            </a:extLst>
          </p:cNvPr>
          <p:cNvSpPr/>
          <p:nvPr/>
        </p:nvSpPr>
        <p:spPr>
          <a:xfrm>
            <a:off x="57785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E85B5A3-EC3F-11B9-FB6C-5CAAF3580C0D}"/>
              </a:ext>
            </a:extLst>
          </p:cNvPr>
          <p:cNvSpPr txBox="1"/>
          <p:nvPr/>
        </p:nvSpPr>
        <p:spPr>
          <a:xfrm>
            <a:off x="59436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FE83884-537A-CB7B-F7E9-1D065F231C0C}"/>
              </a:ext>
            </a:extLst>
          </p:cNvPr>
          <p:cNvSpPr txBox="1"/>
          <p:nvPr/>
        </p:nvSpPr>
        <p:spPr>
          <a:xfrm>
            <a:off x="55245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Pruebas finalizadas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CC80C5B-CE30-F0CA-6609-9C09BD8F92C3}"/>
              </a:ext>
            </a:extLst>
          </p:cNvPr>
          <p:cNvCxnSpPr/>
          <p:nvPr/>
        </p:nvCxnSpPr>
        <p:spPr>
          <a:xfrm>
            <a:off x="6540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5E610E26-E265-79A7-FBCF-FC88DA7092F0}"/>
              </a:ext>
            </a:extLst>
          </p:cNvPr>
          <p:cNvSpPr/>
          <p:nvPr/>
        </p:nvSpPr>
        <p:spPr>
          <a:xfrm>
            <a:off x="77470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ED4C1B1-E22D-63EF-685B-A16FCCE470F8}"/>
              </a:ext>
            </a:extLst>
          </p:cNvPr>
          <p:cNvSpPr txBox="1"/>
          <p:nvPr/>
        </p:nvSpPr>
        <p:spPr>
          <a:xfrm>
            <a:off x="79121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B1419AB-80E1-4375-470B-B8E0C5CE3CFA}"/>
              </a:ext>
            </a:extLst>
          </p:cNvPr>
          <p:cNvSpPr txBox="1"/>
          <p:nvPr/>
        </p:nvSpPr>
        <p:spPr>
          <a:xfrm>
            <a:off x="74930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Implementación finalizada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DE5F7272-E849-4E77-2366-BFD1B52500EA}"/>
              </a:ext>
            </a:extLst>
          </p:cNvPr>
          <p:cNvCxnSpPr/>
          <p:nvPr/>
        </p:nvCxnSpPr>
        <p:spPr>
          <a:xfrm>
            <a:off x="85090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94BBEDCE-ED87-6068-A42E-69520E37FCEE}"/>
              </a:ext>
            </a:extLst>
          </p:cNvPr>
          <p:cNvSpPr/>
          <p:nvPr/>
        </p:nvSpPr>
        <p:spPr>
          <a:xfrm>
            <a:off x="9715500" y="65405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623490A-4DDD-459F-9B2C-83F8EDC415DA}"/>
              </a:ext>
            </a:extLst>
          </p:cNvPr>
          <p:cNvSpPr txBox="1"/>
          <p:nvPr/>
        </p:nvSpPr>
        <p:spPr>
          <a:xfrm>
            <a:off x="9931400" y="66040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E0A6326-3EFC-5CE4-9482-67787B6F5374}"/>
              </a:ext>
            </a:extLst>
          </p:cNvPr>
          <p:cNvSpPr txBox="1"/>
          <p:nvPr/>
        </p:nvSpPr>
        <p:spPr>
          <a:xfrm>
            <a:off x="94615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Capacitación en proceso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2DBA3B4-84C9-17A0-8673-F3D7BC4CE180}"/>
              </a:ext>
            </a:extLst>
          </p:cNvPr>
          <p:cNvCxnSpPr/>
          <p:nvPr/>
        </p:nvCxnSpPr>
        <p:spPr>
          <a:xfrm>
            <a:off x="10477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04BA0994-D398-BE9A-6A7D-2FF03B966A61}"/>
              </a:ext>
            </a:extLst>
          </p:cNvPr>
          <p:cNvSpPr/>
          <p:nvPr/>
        </p:nvSpPr>
        <p:spPr>
          <a:xfrm>
            <a:off x="11684000" y="65405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9F8D466-712F-7F0A-BB4C-5522D885E6A3}"/>
              </a:ext>
            </a:extLst>
          </p:cNvPr>
          <p:cNvSpPr txBox="1"/>
          <p:nvPr/>
        </p:nvSpPr>
        <p:spPr>
          <a:xfrm>
            <a:off x="11899900" y="66040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4EFD71E-1546-BE11-C0DB-2E259F7411D7}"/>
              </a:ext>
            </a:extLst>
          </p:cNvPr>
          <p:cNvSpPr txBox="1"/>
          <p:nvPr/>
        </p:nvSpPr>
        <p:spPr>
          <a:xfrm>
            <a:off x="114300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Lanzamiento en proceso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ADD20BB-03EE-3931-DAE0-2A26DA7150A2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97CC213-D255-F48F-E354-BE5D9FC7928C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29A8479-0294-31CA-3CBB-978AA0751043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3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8E3D2AE-CC1A-78C6-0061-C0DC25F4F001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64FCA5-D2D7-2A3F-3243-25A2685E8C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1F3BB9F-439E-822D-20D0-16F32A570916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EN DESARROLLO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A8A40D-3535-5E58-05E1-8FBC9E509875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B4875F-D4EE-DBD9-5223-26582056E5D4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E0620E-A206-CA0C-C800-20A54020F84D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8A7BB59-DA3E-8C26-BF77-0592915D8126}"/>
              </a:ext>
            </a:extLst>
          </p:cNvPr>
          <p:cNvSpPr/>
          <p:nvPr/>
        </p:nvSpPr>
        <p:spPr>
          <a:xfrm>
            <a:off x="1016000" y="2095500"/>
            <a:ext cx="2794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6B7596-5F75-BDC5-8683-FED8892D571B}"/>
              </a:ext>
            </a:extLst>
          </p:cNvPr>
          <p:cNvSpPr txBox="1"/>
          <p:nvPr/>
        </p:nvSpPr>
        <p:spPr>
          <a:xfrm>
            <a:off x="1117600" y="21844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29% Y 14%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971D29D-73F5-1282-BC27-80853C79A01C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EFA7206-BAD6-0982-2D0D-7A21DC3BFE2F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0D77E36-937C-0C2D-DD57-D3C1E7594D43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FA4F1D-0BAB-E5A1-1D10-9D849EA3A5F4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843668-5EEB-ED70-9BBD-F16C07DCAD1F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8CD3A3A-1CF4-E7AA-8E4A-B03F0999F91D}"/>
              </a:ext>
            </a:extLst>
          </p:cNvPr>
          <p:cNvSpPr/>
          <p:nvPr/>
        </p:nvSpPr>
        <p:spPr>
          <a:xfrm>
            <a:off x="4826000" y="20955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E97FD5B-8C3A-6DFA-5A59-DFEEC040CF8A}"/>
              </a:ext>
            </a:extLst>
          </p:cNvPr>
          <p:cNvSpPr/>
          <p:nvPr/>
        </p:nvSpPr>
        <p:spPr>
          <a:xfrm>
            <a:off x="4953000" y="21844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97441E-6574-EE95-E483-004DD1FBAF36}"/>
              </a:ext>
            </a:extLst>
          </p:cNvPr>
          <p:cNvSpPr txBox="1"/>
          <p:nvPr/>
        </p:nvSpPr>
        <p:spPr>
          <a:xfrm>
            <a:off x="5029200" y="22479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E293F67-8664-4C52-C425-BB0F75FFCDDA}"/>
              </a:ext>
            </a:extLst>
          </p:cNvPr>
          <p:cNvSpPr txBox="1"/>
          <p:nvPr/>
        </p:nvSpPr>
        <p:spPr>
          <a:xfrm>
            <a:off x="5511800" y="21844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Permiso de Vuelo Especial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73998D0-6DE6-D160-2718-DCDC47F3F3D5}"/>
              </a:ext>
            </a:extLst>
          </p:cNvPr>
          <p:cNvSpPr/>
          <p:nvPr/>
        </p:nvSpPr>
        <p:spPr>
          <a:xfrm>
            <a:off x="4826000" y="27813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60BD0B2-E54E-03C4-0460-DCFC6CB1576D}"/>
              </a:ext>
            </a:extLst>
          </p:cNvPr>
          <p:cNvSpPr/>
          <p:nvPr/>
        </p:nvSpPr>
        <p:spPr>
          <a:xfrm>
            <a:off x="4953000" y="28702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6542337-A96D-9A19-F528-11EEAB2A6513}"/>
              </a:ext>
            </a:extLst>
          </p:cNvPr>
          <p:cNvSpPr txBox="1"/>
          <p:nvPr/>
        </p:nvSpPr>
        <p:spPr>
          <a:xfrm>
            <a:off x="5029200" y="29337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619D2F9-069C-0084-CABB-CA5918A062E6}"/>
              </a:ext>
            </a:extLst>
          </p:cNvPr>
          <p:cNvSpPr txBox="1"/>
          <p:nvPr/>
        </p:nvSpPr>
        <p:spPr>
          <a:xfrm>
            <a:off x="5511800" y="28702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Dictamen Técnico Aeronave Pilotada a Distancia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8B646E1-E935-AC7C-B8D2-19100024C60F}"/>
              </a:ext>
            </a:extLst>
          </p:cNvPr>
          <p:cNvSpPr/>
          <p:nvPr/>
        </p:nvSpPr>
        <p:spPr>
          <a:xfrm>
            <a:off x="4826000" y="34671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91C256F-FBB8-531B-3FA3-55AED2E3A7FF}"/>
              </a:ext>
            </a:extLst>
          </p:cNvPr>
          <p:cNvSpPr/>
          <p:nvPr/>
        </p:nvSpPr>
        <p:spPr>
          <a:xfrm>
            <a:off x="4953000" y="35560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798E51F-BE7A-8C0B-0785-E8F77236C86C}"/>
              </a:ext>
            </a:extLst>
          </p:cNvPr>
          <p:cNvSpPr txBox="1"/>
          <p:nvPr/>
        </p:nvSpPr>
        <p:spPr>
          <a:xfrm>
            <a:off x="5029200" y="36195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B3E9EB-238F-9830-4962-2717D560BD5B}"/>
              </a:ext>
            </a:extLst>
          </p:cNvPr>
          <p:cNvSpPr txBox="1"/>
          <p:nvPr/>
        </p:nvSpPr>
        <p:spPr>
          <a:xfrm>
            <a:off x="5511800" y="35560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Autorización de vuelo con RPA/Drones para turistas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DE2FC31-4F19-90FE-958B-77AF25080CA6}"/>
              </a:ext>
            </a:extLst>
          </p:cNvPr>
          <p:cNvSpPr/>
          <p:nvPr/>
        </p:nvSpPr>
        <p:spPr>
          <a:xfrm>
            <a:off x="4826000" y="41529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26230C1-D544-9606-5C42-F2ECC2B32CDF}"/>
              </a:ext>
            </a:extLst>
          </p:cNvPr>
          <p:cNvSpPr/>
          <p:nvPr/>
        </p:nvSpPr>
        <p:spPr>
          <a:xfrm>
            <a:off x="4953000" y="42418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BB3212-8F26-92EF-3111-69DE470A1EDF}"/>
              </a:ext>
            </a:extLst>
          </p:cNvPr>
          <p:cNvSpPr txBox="1"/>
          <p:nvPr/>
        </p:nvSpPr>
        <p:spPr>
          <a:xfrm>
            <a:off x="5029200" y="43053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8F8BF62-63A6-D405-3797-34EA7DCE4C63}"/>
              </a:ext>
            </a:extLst>
          </p:cNvPr>
          <p:cNvSpPr txBox="1"/>
          <p:nvPr/>
        </p:nvSpPr>
        <p:spPr>
          <a:xfrm>
            <a:off x="5511800" y="42418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aeronavegabilidad para exportación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37C85715-43EA-FD6A-41FD-EFF0DD54912F}"/>
              </a:ext>
            </a:extLst>
          </p:cNvPr>
          <p:cNvSpPr/>
          <p:nvPr/>
        </p:nvSpPr>
        <p:spPr>
          <a:xfrm>
            <a:off x="4826000" y="48387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9C4DCCE-972B-452E-5B27-A6636B02B20F}"/>
              </a:ext>
            </a:extLst>
          </p:cNvPr>
          <p:cNvSpPr/>
          <p:nvPr/>
        </p:nvSpPr>
        <p:spPr>
          <a:xfrm>
            <a:off x="4953000" y="49276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9993CEA-40E3-F0DF-A88A-1338F3C8988B}"/>
              </a:ext>
            </a:extLst>
          </p:cNvPr>
          <p:cNvSpPr txBox="1"/>
          <p:nvPr/>
        </p:nvSpPr>
        <p:spPr>
          <a:xfrm>
            <a:off x="5029200" y="49911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F519EA3-71D8-3D4D-650D-8DD2845C01F9}"/>
              </a:ext>
            </a:extLst>
          </p:cNvPr>
          <p:cNvSpPr txBox="1"/>
          <p:nvPr/>
        </p:nvSpPr>
        <p:spPr>
          <a:xfrm>
            <a:off x="5511800" y="49276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Permiso de ingreso a instalaciones AILA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1592385-F14E-09D5-7653-5607A3661D85}"/>
              </a:ext>
            </a:extLst>
          </p:cNvPr>
          <p:cNvSpPr/>
          <p:nvPr/>
        </p:nvSpPr>
        <p:spPr>
          <a:xfrm>
            <a:off x="1143000" y="5969000"/>
            <a:ext cx="13081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D4EE439-2FB9-E4B2-18BD-CDB66A7D55DC}"/>
              </a:ext>
            </a:extLst>
          </p:cNvPr>
          <p:cNvSpPr/>
          <p:nvPr/>
        </p:nvSpPr>
        <p:spPr>
          <a:xfrm>
            <a:off x="1143000" y="5969000"/>
            <a:ext cx="88900" cy="1397000"/>
          </a:xfrm>
          <a:prstGeom prst="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B092FDA-AFCC-08F0-092C-B907EFFE9F5D}"/>
              </a:ext>
            </a:extLst>
          </p:cNvPr>
          <p:cNvSpPr txBox="1"/>
          <p:nvPr/>
        </p:nvSpPr>
        <p:spPr>
          <a:xfrm>
            <a:off x="1422400" y="6197600"/>
            <a:ext cx="1257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Estado general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3C510E8-731D-15BA-196E-54FF5ABA45A4}"/>
              </a:ext>
            </a:extLst>
          </p:cNvPr>
          <p:cNvSpPr txBox="1"/>
          <p:nvPr/>
        </p:nvSpPr>
        <p:spPr>
          <a:xfrm>
            <a:off x="1422400" y="6667500"/>
            <a:ext cx="12547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Trámites 6 al 9: análisis finalizado y codificación en proceso. Trámite 10: análisis y codificación en proceso. Pruebas, implementación, capacitación y lanzamiento aún no iniciados.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FAEBE45-0410-7261-18CD-AEDF4A4802F8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BBF9E91-042B-451E-95B9-B51D554FD02A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2ABEE29-3F76-781F-EC0F-E8546964B532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89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18D6DF-8B46-39A8-4EC4-C06CBCA1765F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5B7740-510F-F885-FBF9-1BDD0D8324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ED22369-F739-2280-5176-BC9E40ED0B3B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EN ANÁLISIS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97FD60-5E14-B5FE-B10A-74A21C14DEA5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D422FD-7F8E-065C-635F-F70853EA540D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DBF217-6889-6C3A-EFAA-389EB082B844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A57646B-7544-AC58-7B7F-93C9C26CAA68}"/>
              </a:ext>
            </a:extLst>
          </p:cNvPr>
          <p:cNvSpPr/>
          <p:nvPr/>
        </p:nvSpPr>
        <p:spPr>
          <a:xfrm>
            <a:off x="1016000" y="2095500"/>
            <a:ext cx="2032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7C5792-9AF1-E511-6C62-27B92B6B3B3B}"/>
              </a:ext>
            </a:extLst>
          </p:cNvPr>
          <p:cNvSpPr txBox="1"/>
          <p:nvPr/>
        </p:nvSpPr>
        <p:spPr>
          <a:xfrm>
            <a:off x="1117600" y="2184400"/>
            <a:ext cx="1828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50F484C-ED3D-72A1-3754-FF264C31A997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85299EE-4DB6-CA7C-37B9-9001D2D51D86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548A331-62EE-F731-3CF0-4127C3DE79DF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1FD0DD-E87A-C00C-ACB1-E9288682A687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3170F5-A2C4-271B-9EC7-89DCF4FABF99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987C367-66FC-B56C-2A54-60D4F10480AD}"/>
              </a:ext>
            </a:extLst>
          </p:cNvPr>
          <p:cNvSpPr/>
          <p:nvPr/>
        </p:nvSpPr>
        <p:spPr>
          <a:xfrm>
            <a:off x="4826000" y="27940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76ABDD1-B931-BDB7-6041-6CE24D3565B3}"/>
              </a:ext>
            </a:extLst>
          </p:cNvPr>
          <p:cNvSpPr/>
          <p:nvPr/>
        </p:nvSpPr>
        <p:spPr>
          <a:xfrm>
            <a:off x="4953000" y="28829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87495D7-7D5F-3AD4-3704-B199D4E68C19}"/>
              </a:ext>
            </a:extLst>
          </p:cNvPr>
          <p:cNvSpPr txBox="1"/>
          <p:nvPr/>
        </p:nvSpPr>
        <p:spPr>
          <a:xfrm>
            <a:off x="5029200" y="29464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897177-01BF-63E2-137C-9F0F69F5AE37}"/>
              </a:ext>
            </a:extLst>
          </p:cNvPr>
          <p:cNvSpPr txBox="1"/>
          <p:nvPr/>
        </p:nvSpPr>
        <p:spPr>
          <a:xfrm>
            <a:off x="5511800" y="28829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Autorización de Altura Máxima Permisible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33E449E-6F87-ED2D-AC7A-AD453AF62FE9}"/>
              </a:ext>
            </a:extLst>
          </p:cNvPr>
          <p:cNvSpPr/>
          <p:nvPr/>
        </p:nvSpPr>
        <p:spPr>
          <a:xfrm>
            <a:off x="4826000" y="35814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B861EC1-281B-7FE6-349A-F68B8E8C6C09}"/>
              </a:ext>
            </a:extLst>
          </p:cNvPr>
          <p:cNvSpPr/>
          <p:nvPr/>
        </p:nvSpPr>
        <p:spPr>
          <a:xfrm>
            <a:off x="4953000" y="36703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812A334-8E04-4550-6A64-B562699668CA}"/>
              </a:ext>
            </a:extLst>
          </p:cNvPr>
          <p:cNvSpPr txBox="1"/>
          <p:nvPr/>
        </p:nvSpPr>
        <p:spPr>
          <a:xfrm>
            <a:off x="5029200" y="37338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726ACDB-A4C6-5609-1B98-FEB1D243EC00}"/>
              </a:ext>
            </a:extLst>
          </p:cNvPr>
          <p:cNvSpPr txBox="1"/>
          <p:nvPr/>
        </p:nvSpPr>
        <p:spPr>
          <a:xfrm>
            <a:off x="5511800" y="36703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Construcción/Operación/Modificación de Pista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300EADB-D83D-1716-7159-5D7CB5B3B0E4}"/>
              </a:ext>
            </a:extLst>
          </p:cNvPr>
          <p:cNvSpPr/>
          <p:nvPr/>
        </p:nvSpPr>
        <p:spPr>
          <a:xfrm>
            <a:off x="4826000" y="43688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9B3766C-2294-CE3E-CE92-3ED34ABF1255}"/>
              </a:ext>
            </a:extLst>
          </p:cNvPr>
          <p:cNvSpPr/>
          <p:nvPr/>
        </p:nvSpPr>
        <p:spPr>
          <a:xfrm>
            <a:off x="4953000" y="44577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99F3FD-10F3-7744-9623-F7CD53616B48}"/>
              </a:ext>
            </a:extLst>
          </p:cNvPr>
          <p:cNvSpPr txBox="1"/>
          <p:nvPr/>
        </p:nvSpPr>
        <p:spPr>
          <a:xfrm>
            <a:off x="5029200" y="45212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637689-891E-FD5F-64B1-182256951D85}"/>
              </a:ext>
            </a:extLst>
          </p:cNvPr>
          <p:cNvSpPr txBox="1"/>
          <p:nvPr/>
        </p:nvSpPr>
        <p:spPr>
          <a:xfrm>
            <a:off x="5511800" y="44577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Construcción/Operación/Modificación de Helipuerto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086B247-FF29-CE34-6FA6-7EFDE76486B9}"/>
              </a:ext>
            </a:extLst>
          </p:cNvPr>
          <p:cNvSpPr/>
          <p:nvPr/>
        </p:nvSpPr>
        <p:spPr>
          <a:xfrm>
            <a:off x="4826000" y="5715000"/>
            <a:ext cx="9398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09F7ACB-F644-01F4-FC89-87240C0B5BB2}"/>
              </a:ext>
            </a:extLst>
          </p:cNvPr>
          <p:cNvSpPr/>
          <p:nvPr/>
        </p:nvSpPr>
        <p:spPr>
          <a:xfrm>
            <a:off x="4826000" y="5715000"/>
            <a:ext cx="88900" cy="1397000"/>
          </a:xfrm>
          <a:prstGeom prst="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6A05745-A4FA-1EDC-9A4A-ABF8D7127276}"/>
              </a:ext>
            </a:extLst>
          </p:cNvPr>
          <p:cNvSpPr txBox="1"/>
          <p:nvPr/>
        </p:nvSpPr>
        <p:spPr>
          <a:xfrm>
            <a:off x="5105400" y="59436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Estado actual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66C896-1F26-3F90-336D-F64DE38740A3}"/>
              </a:ext>
            </a:extLst>
          </p:cNvPr>
          <p:cNvSpPr txBox="1"/>
          <p:nvPr/>
        </p:nvSpPr>
        <p:spPr>
          <a:xfrm>
            <a:off x="5105400" y="6413500"/>
            <a:ext cx="8864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Los trámites de infraestructura se encuentran en análisis de requerimientos. Codificación, pruebas, implementación, capacitación y lanzamiento aún no han iniciado.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9A8465A-ED4A-6F5D-3F0F-338F3312180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DCB799-EE0C-C7EB-677F-6297922249B8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68144FA-A18E-B54D-081E-3F01F2B2341F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1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545F0CD-3E37-FBD3-B419-9056072FDE18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647916-3368-B4B5-DCA3-ADAE6C4C13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C99782-2F5A-F5E0-7D63-7E027A362F09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PENDIENTES DE INICIAR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BA8456-C18F-20E8-6881-27C9341588BF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A6D5EA-9CDA-E417-5E68-BEBB78D48CD8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819228-E9E4-CE15-0DB1-257E88301EE5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BF6C97A-B5CB-278B-CCDF-3C2B847F4238}"/>
              </a:ext>
            </a:extLst>
          </p:cNvPr>
          <p:cNvSpPr/>
          <p:nvPr/>
        </p:nvSpPr>
        <p:spPr>
          <a:xfrm>
            <a:off x="1016000" y="2095500"/>
            <a:ext cx="2032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7500AF-1C34-AC4A-BC57-BA9A101BA51E}"/>
              </a:ext>
            </a:extLst>
          </p:cNvPr>
          <p:cNvSpPr txBox="1"/>
          <p:nvPr/>
        </p:nvSpPr>
        <p:spPr>
          <a:xfrm>
            <a:off x="1117600" y="2184400"/>
            <a:ext cx="1828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0%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B49112C-C7E5-0BBD-CFF3-BC400B145C86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A4F8BC-8894-3FFB-46B0-5B96B9B311C3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5B059AF-4F85-7C6B-E0F0-6BB50B88B8E7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534F10-C0CC-DF82-5030-40F3E83D945B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7E2318-FB58-BC6E-3C73-C544AF55941D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FB1EA63-5AE1-BB05-8DC8-674060E5934A}"/>
              </a:ext>
            </a:extLst>
          </p:cNvPr>
          <p:cNvSpPr/>
          <p:nvPr/>
        </p:nvSpPr>
        <p:spPr>
          <a:xfrm>
            <a:off x="4826000" y="22860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7DD7501-295E-4586-DB66-96CEBB8574C9}"/>
              </a:ext>
            </a:extLst>
          </p:cNvPr>
          <p:cNvSpPr/>
          <p:nvPr/>
        </p:nvSpPr>
        <p:spPr>
          <a:xfrm>
            <a:off x="4953000" y="23749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4ED0839-20FA-94F6-B16F-11677812D209}"/>
              </a:ext>
            </a:extLst>
          </p:cNvPr>
          <p:cNvSpPr txBox="1"/>
          <p:nvPr/>
        </p:nvSpPr>
        <p:spPr>
          <a:xfrm>
            <a:off x="5029200" y="24384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E448A1F-8373-6D33-82BF-79D01171810D}"/>
              </a:ext>
            </a:extLst>
          </p:cNvPr>
          <p:cNvSpPr txBox="1"/>
          <p:nvPr/>
        </p:nvSpPr>
        <p:spPr>
          <a:xfrm>
            <a:off x="5511800" y="23749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Explotación de una Línea Aérea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6C0DAD7-420A-24CF-80E2-4A55205F2AD4}"/>
              </a:ext>
            </a:extLst>
          </p:cNvPr>
          <p:cNvSpPr/>
          <p:nvPr/>
        </p:nvSpPr>
        <p:spPr>
          <a:xfrm>
            <a:off x="4826000" y="30734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6754D03-535C-9823-AB57-47879292985E}"/>
              </a:ext>
            </a:extLst>
          </p:cNvPr>
          <p:cNvSpPr/>
          <p:nvPr/>
        </p:nvSpPr>
        <p:spPr>
          <a:xfrm>
            <a:off x="4953000" y="31623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48DC9ED-6274-BEA5-15BB-C1727A0223A4}"/>
              </a:ext>
            </a:extLst>
          </p:cNvPr>
          <p:cNvSpPr txBox="1"/>
          <p:nvPr/>
        </p:nvSpPr>
        <p:spPr>
          <a:xfrm>
            <a:off x="5029200" y="32258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9F76871-CD91-05F6-4739-680920FDDA6F}"/>
              </a:ext>
            </a:extLst>
          </p:cNvPr>
          <p:cNvSpPr txBox="1"/>
          <p:nvPr/>
        </p:nvSpPr>
        <p:spPr>
          <a:xfrm>
            <a:off x="5511800" y="31623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Explotación a trabajos aéreos/Servicios Auxiliares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9E4B11F-9039-5176-A696-7E54E085C1FD}"/>
              </a:ext>
            </a:extLst>
          </p:cNvPr>
          <p:cNvSpPr/>
          <p:nvPr/>
        </p:nvSpPr>
        <p:spPr>
          <a:xfrm>
            <a:off x="4826000" y="38608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AF81674-724D-0A50-2BC3-4A1F52CFDC79}"/>
              </a:ext>
            </a:extLst>
          </p:cNvPr>
          <p:cNvSpPr/>
          <p:nvPr/>
        </p:nvSpPr>
        <p:spPr>
          <a:xfrm>
            <a:off x="4953000" y="39497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C9F336-84F5-C174-4736-7B252B9943F1}"/>
              </a:ext>
            </a:extLst>
          </p:cNvPr>
          <p:cNvSpPr txBox="1"/>
          <p:nvPr/>
        </p:nvSpPr>
        <p:spPr>
          <a:xfrm>
            <a:off x="5029200" y="40132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B359BBF-D18F-32FE-F8DC-ACDE775784D0}"/>
              </a:ext>
            </a:extLst>
          </p:cNvPr>
          <p:cNvSpPr txBox="1"/>
          <p:nvPr/>
        </p:nvSpPr>
        <p:spPr>
          <a:xfrm>
            <a:off x="5511800" y="39497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Modificación Horario, Ruta, Frecuencias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1CBC9ED-65D5-65FF-B9CE-5798DBCEF6AE}"/>
              </a:ext>
            </a:extLst>
          </p:cNvPr>
          <p:cNvSpPr/>
          <p:nvPr/>
        </p:nvSpPr>
        <p:spPr>
          <a:xfrm>
            <a:off x="4826000" y="46482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E01C997-7334-21EE-4DA9-4309F0C206E3}"/>
              </a:ext>
            </a:extLst>
          </p:cNvPr>
          <p:cNvSpPr/>
          <p:nvPr/>
        </p:nvSpPr>
        <p:spPr>
          <a:xfrm>
            <a:off x="4953000" y="47371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A38B7FD-61A4-5DFC-EC8C-782BCAEB1673}"/>
              </a:ext>
            </a:extLst>
          </p:cNvPr>
          <p:cNvSpPr txBox="1"/>
          <p:nvPr/>
        </p:nvSpPr>
        <p:spPr>
          <a:xfrm>
            <a:off x="5029200" y="48006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B22422-AC08-755A-AC14-F1F04C6BD5C1}"/>
              </a:ext>
            </a:extLst>
          </p:cNvPr>
          <p:cNvSpPr txBox="1"/>
          <p:nvPr/>
        </p:nvSpPr>
        <p:spPr>
          <a:xfrm>
            <a:off x="5511800" y="47371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Permiso Temporal de Explotación - Vuelo Comercial No Regular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FB43093D-8959-B1B6-C6A2-200BCAC503A2}"/>
              </a:ext>
            </a:extLst>
          </p:cNvPr>
          <p:cNvSpPr/>
          <p:nvPr/>
        </p:nvSpPr>
        <p:spPr>
          <a:xfrm>
            <a:off x="4826000" y="6286500"/>
            <a:ext cx="99060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76E8A63-30E5-C051-ADB4-AF9EC48EA9DE}"/>
              </a:ext>
            </a:extLst>
          </p:cNvPr>
          <p:cNvSpPr/>
          <p:nvPr/>
        </p:nvSpPr>
        <p:spPr>
          <a:xfrm>
            <a:off x="4826000" y="6286500"/>
            <a:ext cx="88900" cy="1143000"/>
          </a:xfrm>
          <a:prstGeom prst="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A8CC379-9348-660D-3F1F-15CA1550E638}"/>
              </a:ext>
            </a:extLst>
          </p:cNvPr>
          <p:cNvSpPr txBox="1"/>
          <p:nvPr/>
        </p:nvSpPr>
        <p:spPr>
          <a:xfrm>
            <a:off x="5105400" y="6515100"/>
            <a:ext cx="939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Próximo a iniciar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2896630-954B-2E27-21ED-2790F9388CC2}"/>
              </a:ext>
            </a:extLst>
          </p:cNvPr>
          <p:cNvSpPr txBox="1"/>
          <p:nvPr/>
        </p:nvSpPr>
        <p:spPr>
          <a:xfrm>
            <a:off x="5105400" y="6985000"/>
            <a:ext cx="9372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Estos trámites requieren iniciar análisis de requerimientos, definición de flujo, diseño de formulario, programación, pruebas y planificación de lanzamiento.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A43963D-06FE-4051-AA77-90AEB9081266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427B539-AB4A-0912-6E4A-ACF58ED0D6BB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16ED409-D7F7-68FD-1638-9FED07BE31A0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9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465269-2530-47BE-A384-F7A90FD0CC8F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13695A-2E89-F71D-B7AA-C46A9867AE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3B6666-29AF-1BA9-8080-508F91259001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PAGO ELECTRÓNICO NEONET Y FIRMA ELECTRÓNICA AVANZADA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E119FE-288D-D0FF-97E4-93B0C407E218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C8369E-F4E3-20F2-2C89-A8B2A03C5CDA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70E12F-11CA-1FA6-DBDD-53F700D78B56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B496FE3-C168-326A-C55A-F4DB21DC3DB5}"/>
              </a:ext>
            </a:extLst>
          </p:cNvPr>
          <p:cNvSpPr/>
          <p:nvPr/>
        </p:nvSpPr>
        <p:spPr>
          <a:xfrm>
            <a:off x="1143000" y="2667000"/>
            <a:ext cx="6350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38F8F3-12C3-6A58-2C56-2EE192CBC19B}"/>
              </a:ext>
            </a:extLst>
          </p:cNvPr>
          <p:cNvSpPr/>
          <p:nvPr/>
        </p:nvSpPr>
        <p:spPr>
          <a:xfrm>
            <a:off x="1143000" y="2667000"/>
            <a:ext cx="88900" cy="29210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31E818-DC92-AFB0-C926-F2DC06453737}"/>
              </a:ext>
            </a:extLst>
          </p:cNvPr>
          <p:cNvSpPr txBox="1"/>
          <p:nvPr/>
        </p:nvSpPr>
        <p:spPr>
          <a:xfrm>
            <a:off x="1422400" y="2895600"/>
            <a:ext cx="584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Pago electrónico Neonet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576177-BDC1-0415-2F49-45988BEF82F2}"/>
              </a:ext>
            </a:extLst>
          </p:cNvPr>
          <p:cNvSpPr txBox="1"/>
          <p:nvPr/>
        </p:nvSpPr>
        <p:spPr>
          <a:xfrm>
            <a:off x="1422400" y="3365500"/>
            <a:ext cx="581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Estado actual: No iniciado.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Objetivo: integrar el servicio de pago electrónico dentro de la plataforma digital de trámites para facilitar pagos y trazabilidad.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046F235-7988-43B3-A70C-F4CD9E4A08C7}"/>
              </a:ext>
            </a:extLst>
          </p:cNvPr>
          <p:cNvSpPr/>
          <p:nvPr/>
        </p:nvSpPr>
        <p:spPr>
          <a:xfrm>
            <a:off x="8763000" y="2667000"/>
            <a:ext cx="6350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51C4D76-CDDC-AAAD-94A5-1DF6E1FCBB91}"/>
              </a:ext>
            </a:extLst>
          </p:cNvPr>
          <p:cNvSpPr/>
          <p:nvPr/>
        </p:nvSpPr>
        <p:spPr>
          <a:xfrm>
            <a:off x="8763000" y="2667000"/>
            <a:ext cx="88900" cy="2921000"/>
          </a:xfrm>
          <a:prstGeom prst="rect">
            <a:avLst/>
          </a:prstGeom>
          <a:solidFill>
            <a:srgbClr val="6859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3C3E880-3B0D-3596-E0AD-1DAE1D19E2C8}"/>
              </a:ext>
            </a:extLst>
          </p:cNvPr>
          <p:cNvSpPr txBox="1"/>
          <p:nvPr/>
        </p:nvSpPr>
        <p:spPr>
          <a:xfrm>
            <a:off x="9042400" y="2895600"/>
            <a:ext cx="584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Firma Electrónica Avanzada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B9E73D-4C98-34E6-FD41-066BAF6F6C10}"/>
              </a:ext>
            </a:extLst>
          </p:cNvPr>
          <p:cNvSpPr txBox="1"/>
          <p:nvPr/>
        </p:nvSpPr>
        <p:spPr>
          <a:xfrm>
            <a:off x="9042400" y="3365500"/>
            <a:ext cx="581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Estado actual: No iniciado.</a:t>
            </a:r>
          </a:p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Objetivo: incorporar firma electrónica avanzada para fortalecer validez documental y gestión digital de expedientes.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09BE8E3-36B7-4836-B089-ECCB00CE6ADC}"/>
              </a:ext>
            </a:extLst>
          </p:cNvPr>
          <p:cNvSpPr/>
          <p:nvPr/>
        </p:nvSpPr>
        <p:spPr>
          <a:xfrm>
            <a:off x="3111500" y="6477000"/>
            <a:ext cx="660400" cy="6604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C9EB768-43D5-0525-A2DD-A52B8D56FA8C}"/>
              </a:ext>
            </a:extLst>
          </p:cNvPr>
          <p:cNvSpPr txBox="1"/>
          <p:nvPr/>
        </p:nvSpPr>
        <p:spPr>
          <a:xfrm>
            <a:off x="3327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C580BC4-6BB5-F3B3-86F4-372565066036}"/>
              </a:ext>
            </a:extLst>
          </p:cNvPr>
          <p:cNvSpPr txBox="1"/>
          <p:nvPr/>
        </p:nvSpPr>
        <p:spPr>
          <a:xfrm>
            <a:off x="2857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Definición técnica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AAEAE97-90F1-ED95-ED79-2D09DCE3B23E}"/>
              </a:ext>
            </a:extLst>
          </p:cNvPr>
          <p:cNvCxnSpPr/>
          <p:nvPr/>
        </p:nvCxnSpPr>
        <p:spPr>
          <a:xfrm>
            <a:off x="3873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ED06B11-C8A8-D026-A648-437DBABAC0A7}"/>
              </a:ext>
            </a:extLst>
          </p:cNvPr>
          <p:cNvSpPr/>
          <p:nvPr/>
        </p:nvSpPr>
        <p:spPr>
          <a:xfrm>
            <a:off x="5524500" y="64770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8E529A3-F738-0A92-B5A4-322B76D22B4B}"/>
              </a:ext>
            </a:extLst>
          </p:cNvPr>
          <p:cNvSpPr txBox="1"/>
          <p:nvPr/>
        </p:nvSpPr>
        <p:spPr>
          <a:xfrm>
            <a:off x="5740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C14CB31-221A-426A-F113-92EB4049351E}"/>
              </a:ext>
            </a:extLst>
          </p:cNvPr>
          <p:cNvSpPr txBox="1"/>
          <p:nvPr/>
        </p:nvSpPr>
        <p:spPr>
          <a:xfrm>
            <a:off x="5270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Integración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2C23931-0AAC-FDB4-85EE-E5DE4A724B04}"/>
              </a:ext>
            </a:extLst>
          </p:cNvPr>
          <p:cNvCxnSpPr/>
          <p:nvPr/>
        </p:nvCxnSpPr>
        <p:spPr>
          <a:xfrm>
            <a:off x="6286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5E4A8473-68CB-920E-4AD6-BF5145E08A39}"/>
              </a:ext>
            </a:extLst>
          </p:cNvPr>
          <p:cNvSpPr/>
          <p:nvPr/>
        </p:nvSpPr>
        <p:spPr>
          <a:xfrm>
            <a:off x="7937500" y="6477000"/>
            <a:ext cx="660400" cy="660400"/>
          </a:xfrm>
          <a:prstGeom prst="ellipse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7C2B2E2-4E78-60C3-2755-B9F0D646F308}"/>
              </a:ext>
            </a:extLst>
          </p:cNvPr>
          <p:cNvSpPr txBox="1"/>
          <p:nvPr/>
        </p:nvSpPr>
        <p:spPr>
          <a:xfrm>
            <a:off x="8153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9B50827-70AD-26E1-0E50-DEBCABF5E21C}"/>
              </a:ext>
            </a:extLst>
          </p:cNvPr>
          <p:cNvSpPr txBox="1"/>
          <p:nvPr/>
        </p:nvSpPr>
        <p:spPr>
          <a:xfrm>
            <a:off x="7683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Pruebas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74014F5-D71C-F490-8A9E-0BFFA8819F28}"/>
              </a:ext>
            </a:extLst>
          </p:cNvPr>
          <p:cNvCxnSpPr/>
          <p:nvPr/>
        </p:nvCxnSpPr>
        <p:spPr>
          <a:xfrm>
            <a:off x="8699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73465AD-368B-25CA-4F0B-E0257FF280C8}"/>
              </a:ext>
            </a:extLst>
          </p:cNvPr>
          <p:cNvSpPr/>
          <p:nvPr/>
        </p:nvSpPr>
        <p:spPr>
          <a:xfrm>
            <a:off x="10350500" y="64770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8832D4-B10F-A1DA-9400-00D66A710989}"/>
              </a:ext>
            </a:extLst>
          </p:cNvPr>
          <p:cNvSpPr txBox="1"/>
          <p:nvPr/>
        </p:nvSpPr>
        <p:spPr>
          <a:xfrm>
            <a:off x="10566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4315DFF-6484-9BE9-F988-254C9BC66FEA}"/>
              </a:ext>
            </a:extLst>
          </p:cNvPr>
          <p:cNvSpPr txBox="1"/>
          <p:nvPr/>
        </p:nvSpPr>
        <p:spPr>
          <a:xfrm>
            <a:off x="10096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A756733-9DF8-3E4C-43B0-9EDE494622D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A0CED45-B744-6FC4-678A-7A6AC942C364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114C262-027B-FC2D-5BB3-EB75557A79ED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4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1045C5-350F-120F-4B0C-9C8A741E945C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FEE966-C680-115C-BA3F-11B20B349D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4072CAD-E272-8602-064C-3514353E7DCA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HOJA DE RUTA Y BENEFICIOS ESPERADOS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C4481C-E8EB-4A23-1885-57ADAADE37E8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D023CF-3800-0295-763F-40E1D3C33E17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8E3600-5583-23A8-5B75-0A25438C4FBE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634ACB6-0EE5-9480-E337-121737E801E1}"/>
              </a:ext>
            </a:extLst>
          </p:cNvPr>
          <p:cNvCxnSpPr/>
          <p:nvPr/>
        </p:nvCxnSpPr>
        <p:spPr>
          <a:xfrm>
            <a:off x="1524000" y="4635500"/>
            <a:ext cx="12573000" cy="0"/>
          </a:xfrm>
          <a:prstGeom prst="line">
            <a:avLst/>
          </a:prstGeom>
          <a:ln w="63500">
            <a:solidFill>
              <a:srgbClr val="005A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0F83A429-0124-237D-F411-6F498BB214D3}"/>
              </a:ext>
            </a:extLst>
          </p:cNvPr>
          <p:cNvSpPr/>
          <p:nvPr/>
        </p:nvSpPr>
        <p:spPr>
          <a:xfrm>
            <a:off x="1803400" y="4064000"/>
            <a:ext cx="711200" cy="711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34F174-9BA8-0B6B-9A7E-26E4162EDFC9}"/>
              </a:ext>
            </a:extLst>
          </p:cNvPr>
          <p:cNvSpPr txBox="1"/>
          <p:nvPr/>
        </p:nvSpPr>
        <p:spPr>
          <a:xfrm>
            <a:off x="2057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261FF5-D5A8-E1FE-E7A9-1B7A102531D6}"/>
              </a:ext>
            </a:extLst>
          </p:cNvPr>
          <p:cNvSpPr txBox="1"/>
          <p:nvPr/>
        </p:nvSpPr>
        <p:spPr>
          <a:xfrm>
            <a:off x="1016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34A853"/>
                </a:solidFill>
                <a:latin typeface="Aptos" panose="020B0004020202020204" pitchFamily="34" charset="0"/>
              </a:rPr>
              <a:t>Julio - Agosto 2026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8E28BE-82F1-3BBE-7780-7DC59D284DA1}"/>
              </a:ext>
            </a:extLst>
          </p:cNvPr>
          <p:cNvSpPr txBox="1"/>
          <p:nvPr/>
        </p:nvSpPr>
        <p:spPr>
          <a:xfrm>
            <a:off x="825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Validación de contenido y capacitación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9532491-ECAC-0EAA-6C25-D36C72D61B2D}"/>
              </a:ext>
            </a:extLst>
          </p:cNvPr>
          <p:cNvSpPr/>
          <p:nvPr/>
        </p:nvSpPr>
        <p:spPr>
          <a:xfrm>
            <a:off x="5105400" y="4064000"/>
            <a:ext cx="711200" cy="7112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9452C5-C4C3-8E6E-B3A2-0CAED0F1AAD1}"/>
              </a:ext>
            </a:extLst>
          </p:cNvPr>
          <p:cNvSpPr txBox="1"/>
          <p:nvPr/>
        </p:nvSpPr>
        <p:spPr>
          <a:xfrm>
            <a:off x="5359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2FFBBB-81AB-91AF-258B-FD1B3440DB79}"/>
              </a:ext>
            </a:extLst>
          </p:cNvPr>
          <p:cNvSpPr txBox="1"/>
          <p:nvPr/>
        </p:nvSpPr>
        <p:spPr>
          <a:xfrm>
            <a:off x="4318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F5B400"/>
                </a:solidFill>
                <a:latin typeface="Aptos" panose="020B0004020202020204" pitchFamily="34" charset="0"/>
              </a:rPr>
              <a:t>Agosto - Octubre 2026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846078-226F-1278-D50F-5C57885DFADE}"/>
              </a:ext>
            </a:extLst>
          </p:cNvPr>
          <p:cNvSpPr txBox="1"/>
          <p:nvPr/>
        </p:nvSpPr>
        <p:spPr>
          <a:xfrm>
            <a:off x="4127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Continuar desarrollo del segundo grupo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B670353-F3C3-2CE1-408E-EDCE015944C7}"/>
              </a:ext>
            </a:extLst>
          </p:cNvPr>
          <p:cNvSpPr/>
          <p:nvPr/>
        </p:nvSpPr>
        <p:spPr>
          <a:xfrm>
            <a:off x="8407400" y="4064000"/>
            <a:ext cx="711200" cy="711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5AE94D-9776-020B-72A8-6BCEA10E8351}"/>
              </a:ext>
            </a:extLst>
          </p:cNvPr>
          <p:cNvSpPr txBox="1"/>
          <p:nvPr/>
        </p:nvSpPr>
        <p:spPr>
          <a:xfrm>
            <a:off x="8661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3302C2D-5A57-16D2-80A9-76FC53A9242C}"/>
              </a:ext>
            </a:extLst>
          </p:cNvPr>
          <p:cNvSpPr txBox="1"/>
          <p:nvPr/>
        </p:nvSpPr>
        <p:spPr>
          <a:xfrm>
            <a:off x="7620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005AA9"/>
                </a:solidFill>
                <a:latin typeface="Aptos" panose="020B0004020202020204" pitchFamily="34" charset="0"/>
              </a:rPr>
              <a:t>Octubre - Diciembre 2026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673064-E959-8BEC-CB0E-681B1BEF77A0}"/>
              </a:ext>
            </a:extLst>
          </p:cNvPr>
          <p:cNvSpPr txBox="1"/>
          <p:nvPr/>
        </p:nvSpPr>
        <p:spPr>
          <a:xfrm>
            <a:off x="7429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Pruebas, preparación y lanzamiento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7278570-0560-4A32-F8E6-7961F7FA5113}"/>
              </a:ext>
            </a:extLst>
          </p:cNvPr>
          <p:cNvSpPr/>
          <p:nvPr/>
        </p:nvSpPr>
        <p:spPr>
          <a:xfrm>
            <a:off x="11709400" y="4064000"/>
            <a:ext cx="711200" cy="711200"/>
          </a:xfrm>
          <a:prstGeom prst="ellipse">
            <a:avLst/>
          </a:prstGeom>
          <a:solidFill>
            <a:srgbClr val="6859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1FFB3A-A189-F270-27A8-15B8086AA184}"/>
              </a:ext>
            </a:extLst>
          </p:cNvPr>
          <p:cNvSpPr txBox="1"/>
          <p:nvPr/>
        </p:nvSpPr>
        <p:spPr>
          <a:xfrm>
            <a:off x="11963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539024B-0F7C-4275-BA77-B6C715973FE4}"/>
              </a:ext>
            </a:extLst>
          </p:cNvPr>
          <p:cNvSpPr txBox="1"/>
          <p:nvPr/>
        </p:nvSpPr>
        <p:spPr>
          <a:xfrm>
            <a:off x="10922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6859DC"/>
                </a:solidFill>
                <a:latin typeface="Aptos" panose="020B0004020202020204" pitchFamily="34" charset="0"/>
              </a:rPr>
              <a:t>2027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5056F2-4CB2-E55C-41DD-1A2E73CBBFF7}"/>
              </a:ext>
            </a:extLst>
          </p:cNvPr>
          <p:cNvSpPr txBox="1"/>
          <p:nvPr/>
        </p:nvSpPr>
        <p:spPr>
          <a:xfrm>
            <a:off x="10731500" y="5486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Integración de pago electrónico y firma avanzada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074D980-520E-14EC-CB75-97BDEC5F8B76}"/>
              </a:ext>
            </a:extLst>
          </p:cNvPr>
          <p:cNvSpPr/>
          <p:nvPr/>
        </p:nvSpPr>
        <p:spPr>
          <a:xfrm>
            <a:off x="1143000" y="1714500"/>
            <a:ext cx="13716000" cy="184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4C73844-0306-045D-3E0C-D79FF5ED9312}"/>
              </a:ext>
            </a:extLst>
          </p:cNvPr>
          <p:cNvSpPr/>
          <p:nvPr/>
        </p:nvSpPr>
        <p:spPr>
          <a:xfrm>
            <a:off x="1143000" y="1714500"/>
            <a:ext cx="88900" cy="1841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A108F11-1D96-C485-10B9-028DB5655DAC}"/>
              </a:ext>
            </a:extLst>
          </p:cNvPr>
          <p:cNvSpPr txBox="1"/>
          <p:nvPr/>
        </p:nvSpPr>
        <p:spPr>
          <a:xfrm>
            <a:off x="1422400" y="1943100"/>
            <a:ext cx="1320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Beneficios esperados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22551D-6C3D-8071-11EB-FA0AAC14C953}"/>
              </a:ext>
            </a:extLst>
          </p:cNvPr>
          <p:cNvSpPr txBox="1"/>
          <p:nvPr/>
        </p:nvSpPr>
        <p:spPr>
          <a:xfrm>
            <a:off x="1422400" y="2413000"/>
            <a:ext cx="13182600" cy="12926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Reducción de tiempos de atención.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Digitalización de procesos.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Mayor disponibilidad de servicios.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Mejor trazabilidad y control.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Disminución del uso de papel.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Atención en línea para usuarios nacionales e internacionales.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80293BF-3089-1F76-86EB-5EAA2457DB59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30B4C1F-F2B3-E507-6CE0-E4D14090F0E0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F577EC8-0B99-D899-30A7-CF6E6A0742A6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636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Personalizado</PresentationFormat>
  <Paragraphs>176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Perez</dc:creator>
  <cp:lastModifiedBy>Fernando Perez</cp:lastModifiedBy>
  <cp:revision>2</cp:revision>
  <dcterms:created xsi:type="dcterms:W3CDTF">2026-07-15T19:19:34Z</dcterms:created>
  <dcterms:modified xsi:type="dcterms:W3CDTF">2026-07-15T19:35:44Z</dcterms:modified>
</cp:coreProperties>
</file>