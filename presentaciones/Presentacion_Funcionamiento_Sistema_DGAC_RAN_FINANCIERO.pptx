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8A809-AEF3-2EE4-1BB2-364E39E21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CCCC0B-6340-3CBE-027E-DE11565DB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17D93-9F23-B23C-6474-F84E946E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EEB3FA-2E61-0B6E-7C0D-841CB482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0DB2DF-9A4C-D078-3F59-0F13A8BB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0963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A875A-97C0-81AF-3C1B-50050927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AF64BA-E805-8E6F-DA1C-A1843CBB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DE387-588A-4904-E983-2323313B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3EA917-2BE5-D4EF-8678-293E0C10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45F75C-4B65-F7A8-6257-FE5816C1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6905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AA70-0B55-0A0B-4367-0A807C3E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15BD4-A644-D70B-022A-7FBC1548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3A6D7-CD00-51CF-EDDB-C6263EC1F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012862-30DB-A1FB-C1A9-36F9E38D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476E9-4242-7D33-4C16-150FA857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934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0F6D9-45DB-3554-F97F-A76E0136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4EBA54-D251-94D7-F72B-497E4C9F3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20E05D-C1C1-AEA2-5813-33F3F761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F7AE7B-D40E-B3F8-C948-6E0CB96E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2C7A55-BBE4-D39C-21BB-591C892C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6D36E-D04F-BF1B-3DDB-FAC3DC7E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1307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C1BB9-8975-1709-70DC-AC5ED74B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E8C166-FD4E-1BA4-D42F-E621F21CE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6B95E-E111-00FB-143D-52A2B4B9E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838CAC-9AE8-FEB6-54C7-731E903BF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D12787-1971-A162-39E7-035A8C803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D9525C-5B8E-B72E-1B68-2E57F5B7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D33395-3E12-FE17-9ADB-6ADD0C26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15F440-CD9A-1C22-7081-94B68B3B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9656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8298-6448-C0AC-F0FA-43473BF9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DA8C99-1D4F-E646-1F70-465577F0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B401E4-5F5F-9306-5B31-9D17FB91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B0B1C7-F7B6-CCE2-A08A-974EB2D3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3057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C6866A-B319-DDD1-072D-E7EEEA8C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D94CC2-B13F-297B-F0B6-AA12E253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862D20-1D90-2F54-7EB9-1842F597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8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D73E-57C2-D926-AB84-103C596E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5A40E7-94E1-CA94-3F35-358BA2E03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16080B-C045-A8E9-C957-0D2A5E250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60CFD7-7283-DB5C-61BD-0FC57359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8CC535-9EED-C108-D79A-90A5015C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C65692-2964-0A21-8790-A2BEA21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2489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0B259-61CB-C27C-8753-3200A1EB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9CE247-F755-036D-8161-72BAEC22F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A73A77-D82A-4BDE-EF11-54C53F8A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C5086D-0AC6-699F-D517-120C916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5DB139-86B7-7EBD-F723-D6977B0C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681D16-F711-A10B-A13E-9063F45B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2716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04DBF-0A0E-495E-E24E-83D87E96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15EBCB-D86C-1C3C-2859-DB8CA3C20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40FDA-33A6-145D-A670-A35BE01C5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6ADD3-0D44-2EFD-626F-ADAC4713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84402-8562-4B72-C9BE-03DDED01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4064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6C74A4-B59E-C8BF-A319-F4ECC6CE9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7B40AD-8563-3E31-F571-870CFE538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7758C-C297-B7DE-364D-183CD90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1E162-8C21-F94D-ABBB-6591F04B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4E80FE-40F0-742A-A322-1B36C0D6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0349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DED905-6E7F-F317-E812-686A9F8D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A97A0-EF96-48F0-9202-08CC19F54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107334-2C0E-4EBE-9BD8-D5AD12D1F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0355C-624D-44AD-A992-A0D3AA5CFC6F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2E7D1-8CB8-074B-FD86-3958FAEC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597373-25F7-75F8-B236-9A76280E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58768-CAE5-481F-A2DE-AD20EA70D23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419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40691C2-244E-3BE2-8B92-E80483D0329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EAF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999F15B-CD25-9586-7F78-9FAE220F39E1}"/>
              </a:ext>
            </a:extLst>
          </p:cNvPr>
          <p:cNvSpPr/>
          <p:nvPr/>
        </p:nvSpPr>
        <p:spPr>
          <a:xfrm>
            <a:off x="812800" y="889000"/>
            <a:ext cx="14630400" cy="711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39107D-08F3-27F0-E558-F00FE747964B}"/>
              </a:ext>
            </a:extLst>
          </p:cNvPr>
          <p:cNvSpPr txBox="1"/>
          <p:nvPr/>
        </p:nvSpPr>
        <p:spPr>
          <a:xfrm>
            <a:off x="1397000" y="1524000"/>
            <a:ext cx="2794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4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AE2A7B-1724-7A35-2C9F-546B1B49C239}"/>
              </a:ext>
            </a:extLst>
          </p:cNvPr>
          <p:cNvSpPr txBox="1"/>
          <p:nvPr/>
        </p:nvSpPr>
        <p:spPr>
          <a:xfrm>
            <a:off x="1397000" y="2857500"/>
            <a:ext cx="10541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4400" b="1">
                <a:solidFill>
                  <a:srgbClr val="002D5A"/>
                </a:solidFill>
                <a:latin typeface="Aptos" panose="020B0004020202020204" pitchFamily="34" charset="0"/>
              </a:rPr>
              <a:t>Funcionamiento del Sistema de Trámites</a:t>
            </a:r>
            <a:endParaRPr lang="es-GT" sz="4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69635F-C7EC-FE4B-0BEB-EE0D09AAB0DF}"/>
              </a:ext>
            </a:extLst>
          </p:cNvPr>
          <p:cNvSpPr txBox="1"/>
          <p:nvPr/>
        </p:nvSpPr>
        <p:spPr>
          <a:xfrm>
            <a:off x="1422400" y="4038600"/>
            <a:ext cx="1079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200">
                <a:solidFill>
                  <a:srgbClr val="506073"/>
                </a:solidFill>
                <a:latin typeface="Aptos" panose="020B0004020202020204" pitchFamily="34" charset="0"/>
              </a:rPr>
              <a:t>Enfoque en ambientes de producción y pruebas · Unidades RAN y FINANCIERO</a:t>
            </a:r>
            <a:endParaRPr lang="es-GT" sz="22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9903AF7-B247-6C6A-5CAD-C8CD24ADE6A1}"/>
              </a:ext>
            </a:extLst>
          </p:cNvPr>
          <p:cNvSpPr/>
          <p:nvPr/>
        </p:nvSpPr>
        <p:spPr>
          <a:xfrm>
            <a:off x="1422400" y="5207000"/>
            <a:ext cx="2032000" cy="431800"/>
          </a:xfrm>
          <a:prstGeom prst="round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B1FCD-BF57-7280-D0A8-1A57B9E501C5}"/>
              </a:ext>
            </a:extLst>
          </p:cNvPr>
          <p:cNvSpPr txBox="1"/>
          <p:nvPr/>
        </p:nvSpPr>
        <p:spPr>
          <a:xfrm>
            <a:off x="1524000" y="5308600"/>
            <a:ext cx="1828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74B07B8-7146-83C9-39DE-95AC3C341837}"/>
              </a:ext>
            </a:extLst>
          </p:cNvPr>
          <p:cNvSpPr/>
          <p:nvPr/>
        </p:nvSpPr>
        <p:spPr>
          <a:xfrm>
            <a:off x="3708400" y="5207000"/>
            <a:ext cx="1651000" cy="431800"/>
          </a:xfrm>
          <a:prstGeom prst="roundRect">
            <a:avLst/>
          </a:prstGeom>
          <a:solidFill>
            <a:srgbClr val="1598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C738F6-A3ED-E707-EEFB-BE09254ABC45}"/>
              </a:ext>
            </a:extLst>
          </p:cNvPr>
          <p:cNvSpPr txBox="1"/>
          <p:nvPr/>
        </p:nvSpPr>
        <p:spPr>
          <a:xfrm>
            <a:off x="3810000" y="5308600"/>
            <a:ext cx="144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Pruebas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F14BD2F-D89E-7B79-CF2E-E355909B25AF}"/>
              </a:ext>
            </a:extLst>
          </p:cNvPr>
          <p:cNvSpPr/>
          <p:nvPr/>
        </p:nvSpPr>
        <p:spPr>
          <a:xfrm>
            <a:off x="5613400" y="5207000"/>
            <a:ext cx="1143000" cy="431800"/>
          </a:xfrm>
          <a:prstGeom prst="roundRect">
            <a:avLst/>
          </a:prstGeom>
          <a:solidFill>
            <a:srgbClr val="002D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BFE3C0-C1F2-6BEB-D00D-C34D42031158}"/>
              </a:ext>
            </a:extLst>
          </p:cNvPr>
          <p:cNvSpPr txBox="1"/>
          <p:nvPr/>
        </p:nvSpPr>
        <p:spPr>
          <a:xfrm>
            <a:off x="5715000" y="5308600"/>
            <a:ext cx="93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101D0B2-4D52-B7AA-EEEE-D155374CB259}"/>
              </a:ext>
            </a:extLst>
          </p:cNvPr>
          <p:cNvSpPr/>
          <p:nvPr/>
        </p:nvSpPr>
        <p:spPr>
          <a:xfrm>
            <a:off x="7010400" y="5207000"/>
            <a:ext cx="2159000" cy="431800"/>
          </a:xfrm>
          <a:prstGeom prst="roundRect">
            <a:avLst/>
          </a:prstGeom>
          <a:solidFill>
            <a:srgbClr val="002D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DE90F6-A04B-C982-AF75-D1CF162878E0}"/>
              </a:ext>
            </a:extLst>
          </p:cNvPr>
          <p:cNvSpPr txBox="1"/>
          <p:nvPr/>
        </p:nvSpPr>
        <p:spPr>
          <a:xfrm>
            <a:off x="7112000" y="5308600"/>
            <a:ext cx="1955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FFFFFF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822AFB-5387-87E4-431A-AFB066211630}"/>
              </a:ext>
            </a:extLst>
          </p:cNvPr>
          <p:cNvSpPr txBox="1"/>
          <p:nvPr/>
        </p:nvSpPr>
        <p:spPr>
          <a:xfrm>
            <a:off x="1422400" y="6604000"/>
            <a:ext cx="533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>
                <a:solidFill>
                  <a:srgbClr val="506073"/>
                </a:solidFill>
                <a:latin typeface="Aptos" panose="020B0004020202020204" pitchFamily="34" charset="0"/>
              </a:rPr>
              <a:t>Presentación operativa</a:t>
            </a:r>
          </a:p>
        </p:txBody>
      </p:sp>
    </p:spTree>
    <p:extLst>
      <p:ext uri="{BB962C8B-B14F-4D97-AF65-F5344CB8AC3E}">
        <p14:creationId xmlns:p14="http://schemas.microsoft.com/office/powerpoint/2010/main" val="396852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FE36E8-75CA-B7E9-48E0-00F0173AE12C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DF2F2D-E10C-22CE-543A-B698EC53E7D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C46142-FD40-1026-74D5-E663CC0F85D5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Objetivo de la presentación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8589C3-70F7-BED3-5F51-340BE95F0E29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Mostrar cómo opera el sistema en producción y pruebas, acotado a RAN y FINANCIERO.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55E4F6-F1B1-B995-D779-2ABB69CFA3CC}"/>
              </a:ext>
            </a:extLst>
          </p:cNvPr>
          <p:cNvSpPr/>
          <p:nvPr/>
        </p:nvSpPr>
        <p:spPr>
          <a:xfrm>
            <a:off x="88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3743A6-2401-DD2C-F0F8-ABAFA05E9700}"/>
              </a:ext>
            </a:extLst>
          </p:cNvPr>
          <p:cNvSpPr txBox="1"/>
          <p:nvPr/>
        </p:nvSpPr>
        <p:spPr>
          <a:xfrm>
            <a:off x="116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Qué resuelve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3071B8-0046-4635-E41C-35A58602F5F2}"/>
              </a:ext>
            </a:extLst>
          </p:cNvPr>
          <p:cNvSpPr txBox="1"/>
          <p:nvPr/>
        </p:nvSpPr>
        <p:spPr>
          <a:xfrm>
            <a:off x="116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Centraliza el ingreso, revisión, asignación, devolución, aprobación, finalización y consulta de trámites.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BF7CEB0-ED24-1E2C-F9F2-6EBACC4247BE}"/>
              </a:ext>
            </a:extLst>
          </p:cNvPr>
          <p:cNvSpPr/>
          <p:nvPr/>
        </p:nvSpPr>
        <p:spPr>
          <a:xfrm>
            <a:off x="596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5E7765-6D15-D4BA-41AE-C60479D76D8A}"/>
              </a:ext>
            </a:extLst>
          </p:cNvPr>
          <p:cNvSpPr txBox="1"/>
          <p:nvPr/>
        </p:nvSpPr>
        <p:spPr>
          <a:xfrm>
            <a:off x="624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A quién apoya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F8C41C-4AEA-F549-B2DB-BC8AD51B55A6}"/>
              </a:ext>
            </a:extLst>
          </p:cNvPr>
          <p:cNvSpPr txBox="1"/>
          <p:nvPr/>
        </p:nvSpPr>
        <p:spPr>
          <a:xfrm>
            <a:off x="624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Usuarios externos que ingresan solicitudes y usuarios internos responsables de revisar, aprobar y dar seguimiento.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7C3E5D9-42BC-AC95-9BF8-98198E4E2112}"/>
              </a:ext>
            </a:extLst>
          </p:cNvPr>
          <p:cNvSpPr/>
          <p:nvPr/>
        </p:nvSpPr>
        <p:spPr>
          <a:xfrm>
            <a:off x="11049000" y="2984500"/>
            <a:ext cx="4318000" cy="279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BA1E95-A079-83DB-58DD-7BBF66AC456D}"/>
              </a:ext>
            </a:extLst>
          </p:cNvPr>
          <p:cNvSpPr txBox="1"/>
          <p:nvPr/>
        </p:nvSpPr>
        <p:spPr>
          <a:xfrm>
            <a:off x="11328400" y="32131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Dónde se valida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30C564-CD5F-9840-D105-F6E12407E351}"/>
              </a:ext>
            </a:extLst>
          </p:cNvPr>
          <p:cNvSpPr txBox="1"/>
          <p:nvPr/>
        </p:nvSpPr>
        <p:spPr>
          <a:xfrm>
            <a:off x="11328400" y="3721100"/>
            <a:ext cx="3759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Producción se usa para operación real; pruebas se usa para ensayar cambios antes de publicarlos.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ADA9FD-5BF0-9329-4563-C46CD7EED2F8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DF3C237-E5B7-293B-2063-05EE429C4328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199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7EBBB35-3146-AC53-BF9E-C56C410D2975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9D5AF8-C8AD-74C9-7212-560B8C9FA3A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87F31C-4980-5332-1982-0DBCDCAD9D78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Ambientes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3E8C6F-12F2-63F3-F5EA-EEC69F5E83A6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Separación funcional entre operación real y validación controlada.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7C85DF4-EC1C-A59D-B4D1-54F2E4C23AEE}"/>
              </a:ext>
            </a:extLst>
          </p:cNvPr>
          <p:cNvSpPr/>
          <p:nvPr/>
        </p:nvSpPr>
        <p:spPr>
          <a:xfrm>
            <a:off x="1079500" y="2794000"/>
            <a:ext cx="635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8D0ACF-425D-B2E6-BBD8-D404E943DABC}"/>
              </a:ext>
            </a:extLst>
          </p:cNvPr>
          <p:cNvSpPr txBox="1"/>
          <p:nvPr/>
        </p:nvSpPr>
        <p:spPr>
          <a:xfrm>
            <a:off x="1358900" y="30226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D80A54-35C7-D798-FF85-7E041735A0F3}"/>
              </a:ext>
            </a:extLst>
          </p:cNvPr>
          <p:cNvSpPr txBox="1"/>
          <p:nvPr/>
        </p:nvSpPr>
        <p:spPr>
          <a:xfrm>
            <a:off x="1358900" y="3530600"/>
            <a:ext cx="579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Ambiente utilizado por usuarios reales.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Contiene procesos oficiales.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Requiere estabilidad, respaldo y control de cambios.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Solo deben publicarse funciones validadas.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0F9603B-ECD3-CEFB-41A3-01EA54E004B8}"/>
              </a:ext>
            </a:extLst>
          </p:cNvPr>
          <p:cNvSpPr/>
          <p:nvPr/>
        </p:nvSpPr>
        <p:spPr>
          <a:xfrm>
            <a:off x="8826500" y="2794000"/>
            <a:ext cx="635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6B99F4-0636-D992-AE3D-4AEC1081810C}"/>
              </a:ext>
            </a:extLst>
          </p:cNvPr>
          <p:cNvSpPr txBox="1"/>
          <p:nvPr/>
        </p:nvSpPr>
        <p:spPr>
          <a:xfrm>
            <a:off x="9105900" y="30226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Pruebas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47BE90-6FDF-D15C-941A-8D7CDC6FCB55}"/>
              </a:ext>
            </a:extLst>
          </p:cNvPr>
          <p:cNvSpPr txBox="1"/>
          <p:nvPr/>
        </p:nvSpPr>
        <p:spPr>
          <a:xfrm>
            <a:off x="9105900" y="3530600"/>
            <a:ext cx="5791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Ambiente para validar formularios, roles y flujos.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Permite crear datos de prueba.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Sirve para revisar capturas, manuales y capacitaciones.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No debe mezclarse con información oficial.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793284-E478-3131-AD67-0225D7CC4D00}"/>
              </a:ext>
            </a:extLst>
          </p:cNvPr>
          <p:cNvSpPr txBox="1"/>
          <p:nvPr/>
        </p:nvSpPr>
        <p:spPr>
          <a:xfrm>
            <a:off x="3175000" y="7239000"/>
            <a:ext cx="990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2600" b="1">
                <a:solidFill>
                  <a:srgbClr val="005AA9"/>
                </a:solidFill>
                <a:latin typeface="Aptos" panose="020B0004020202020204" pitchFamily="34" charset="0"/>
              </a:rPr>
              <a:t>Idea clave: pruebas protege producción.</a:t>
            </a:r>
            <a:endParaRPr lang="es-GT" sz="2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84FC10-C3C5-752C-35C1-1C4225F56FFB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C7005E-93DB-0AEA-49B8-A90A5DF7FD1E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197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858231B-5D0E-BC84-B4DF-2202F2164212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15E7D4A-DEFB-B27F-0F50-4E22CD3BEB4C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092076-654C-F1BC-4D0A-B9885850D5BE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Alcance funcional: RAN y FINANCIERO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EEB4F4-72B4-FF86-CF1F-6E560B2F8F0F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La presentación se concentra en las unidades priorizadas.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628C13D-A07C-8F12-6A57-9041BF2B21C8}"/>
              </a:ext>
            </a:extLst>
          </p:cNvPr>
          <p:cNvSpPr/>
          <p:nvPr/>
        </p:nvSpPr>
        <p:spPr>
          <a:xfrm>
            <a:off x="889000" y="2794000"/>
            <a:ext cx="6604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A91765-674B-A1AC-8C42-13839140EE74}"/>
              </a:ext>
            </a:extLst>
          </p:cNvPr>
          <p:cNvSpPr txBox="1"/>
          <p:nvPr/>
        </p:nvSpPr>
        <p:spPr>
          <a:xfrm>
            <a:off x="1168400" y="3022600"/>
            <a:ext cx="604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059B47-28CF-3A42-0B59-BA814FCB842F}"/>
              </a:ext>
            </a:extLst>
          </p:cNvPr>
          <p:cNvSpPr txBox="1"/>
          <p:nvPr/>
        </p:nvSpPr>
        <p:spPr>
          <a:xfrm>
            <a:off x="1168400" y="3530600"/>
            <a:ext cx="6045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Recepción de trámites aeronáuticos.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Revisión documental y datos del solicitante.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Asignación a analista/aprobador.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Devolución al usuario cuando falta información.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Aprobación, entrega o archivo.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96474E4-4AAE-2759-C6E9-0614C29C3AA1}"/>
              </a:ext>
            </a:extLst>
          </p:cNvPr>
          <p:cNvSpPr/>
          <p:nvPr/>
        </p:nvSpPr>
        <p:spPr>
          <a:xfrm>
            <a:off x="8763000" y="2794000"/>
            <a:ext cx="6604000" cy="419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1EF1CF-9E6A-8801-3DA0-118CC2958EEB}"/>
              </a:ext>
            </a:extLst>
          </p:cNvPr>
          <p:cNvSpPr txBox="1"/>
          <p:nvPr/>
        </p:nvSpPr>
        <p:spPr>
          <a:xfrm>
            <a:off x="9042400" y="3022600"/>
            <a:ext cx="604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126C1F-F332-AC36-3996-DC4802610D90}"/>
              </a:ext>
            </a:extLst>
          </p:cNvPr>
          <p:cNvSpPr txBox="1"/>
          <p:nvPr/>
        </p:nvSpPr>
        <p:spPr>
          <a:xfrm>
            <a:off x="9042400" y="3530600"/>
            <a:ext cx="6045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Recepción y revisión de solicitudes financieras.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Verificación de documentos adjuntos.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Emisión/revisión según rol.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Aprobación o devolución al responsable previo.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Seguimiento y cierre del proceso.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9884BB-B1BD-E306-7981-EB2EF5C050AD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C9F6DB-3A1F-9AF3-E298-AE0297D6952B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41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B96D830-BB51-7CC2-A3E0-E5E1F9495FF3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38767C-7A97-2F60-AA97-28D01A2957C6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28653F-4FCF-1CF7-691C-0A218B47A2AB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Entrada del trámite: vista del usuario externo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C2CE81-4DF9-F76C-577D-AB300A1347D4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El usuario inicia la solicitud desde el portal y adjunta la documentación requerida.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9FCAB1-A4B7-2023-623A-5AC4726444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857500"/>
            <a:ext cx="6794500" cy="419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DEA649-FBFE-DAB7-A9A5-9B79F19615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0" y="2857500"/>
            <a:ext cx="6794500" cy="419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BDFD29B-DEF4-7B42-98B8-B6BCD9B92932}"/>
              </a:ext>
            </a:extLst>
          </p:cNvPr>
          <p:cNvSpPr txBox="1"/>
          <p:nvPr/>
        </p:nvSpPr>
        <p:spPr>
          <a:xfrm>
            <a:off x="889000" y="7175500"/>
            <a:ext cx="679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RAN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0E04B6-F5B3-8A7E-198D-01984DDE66AF}"/>
              </a:ext>
            </a:extLst>
          </p:cNvPr>
          <p:cNvSpPr txBox="1"/>
          <p:nvPr/>
        </p:nvSpPr>
        <p:spPr>
          <a:xfrm>
            <a:off x="8572500" y="7175500"/>
            <a:ext cx="6794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FINANCIERO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0241E8-6B8A-69FE-D43C-CBA5C43DBDA0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B8455F-D22B-121A-5468-04682279BDB4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9739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63DBB54-FF10-52C6-F5D9-B3AB18CD7D56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125F6A-8033-E016-1516-9397455AA942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535E77-53DD-D5A8-109D-8D75E327192B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Flujo interno RAN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261AC1-D077-4F5B-E8E5-EB59F6CD5B9C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Recepción, análisis, devolución cuando aplica y traslado al siguiente responsable.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BC6647-DB3D-A626-865C-6EC6FC4732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2730500"/>
            <a:ext cx="7112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3DE9C83-F2D9-3816-3B1C-5D7A878E7E10}"/>
              </a:ext>
            </a:extLst>
          </p:cNvPr>
          <p:cNvSpPr/>
          <p:nvPr/>
        </p:nvSpPr>
        <p:spPr>
          <a:xfrm>
            <a:off x="8890000" y="2921000"/>
            <a:ext cx="5842000" cy="393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7B19B4-C25C-0B86-28BC-B2A4410042DB}"/>
              </a:ext>
            </a:extLst>
          </p:cNvPr>
          <p:cNvSpPr txBox="1"/>
          <p:nvPr/>
        </p:nvSpPr>
        <p:spPr>
          <a:xfrm>
            <a:off x="9169400" y="3149600"/>
            <a:ext cx="528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Pasos principales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B048D4-C01D-B8BE-7394-D375A8052DDF}"/>
              </a:ext>
            </a:extLst>
          </p:cNvPr>
          <p:cNvSpPr txBox="1"/>
          <p:nvPr/>
        </p:nvSpPr>
        <p:spPr>
          <a:xfrm>
            <a:off x="9169400" y="3657600"/>
            <a:ext cx="5283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1. Recepción identifica el trámite.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2. Se abre el registro desde la bandeja.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3. Analista revisa datos y documentos.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4. Si falta información, se devuelve al usuario con comentario.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5. Si procede, se envía a aprobación/cierre.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76BFE3-3B52-4C6F-2C2E-F415F71F3469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6EF51B-AEAB-1113-33FA-1C97A0C09B85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098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9735810-88B8-3A04-DC2A-E68A0552CD82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1BD5BA-05D3-260C-5FA7-C5725FD3C463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1DC4A9-615A-7300-0A2E-4663E4AA7613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RAN: revisión de detalle y devolución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5C5833-141D-5B5C-FFFA-34B114EC7EE0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El sistema registra el motivo de devolución y conserva trazabilidad en bitácora.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7C824B-C80C-7037-A88F-7648373728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730500"/>
            <a:ext cx="9525000" cy="5207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4E1C7F2-01B8-C7D4-BE1B-A5AB78241C3A}"/>
              </a:ext>
            </a:extLst>
          </p:cNvPr>
          <p:cNvSpPr/>
          <p:nvPr/>
        </p:nvSpPr>
        <p:spPr>
          <a:xfrm>
            <a:off x="11049000" y="3302000"/>
            <a:ext cx="4064000" cy="215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80B2DD-BDF0-EA0D-F8A2-6F8AEA7236FF}"/>
              </a:ext>
            </a:extLst>
          </p:cNvPr>
          <p:cNvSpPr txBox="1"/>
          <p:nvPr/>
        </p:nvSpPr>
        <p:spPr>
          <a:xfrm>
            <a:off x="11328400" y="3530600"/>
            <a:ext cx="350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Punto de control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4B784E-D78D-50E0-EC79-442CEC8C7CF6}"/>
              </a:ext>
            </a:extLst>
          </p:cNvPr>
          <p:cNvSpPr txBox="1"/>
          <p:nvPr/>
        </p:nvSpPr>
        <p:spPr>
          <a:xfrm>
            <a:off x="11328400" y="4038600"/>
            <a:ext cx="3505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El comentario de devolución debe ser claro y específico para que el usuario pueda corregir el formulario o documentación.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4742164-547C-12A3-2958-564C11730222}"/>
              </a:ext>
            </a:extLst>
          </p:cNvPr>
          <p:cNvSpPr/>
          <p:nvPr/>
        </p:nvSpPr>
        <p:spPr>
          <a:xfrm>
            <a:off x="11049000" y="5842000"/>
            <a:ext cx="4064000" cy="139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E46A87-94F6-5E81-3B9B-4D49D87DA41F}"/>
              </a:ext>
            </a:extLst>
          </p:cNvPr>
          <p:cNvSpPr txBox="1"/>
          <p:nvPr/>
        </p:nvSpPr>
        <p:spPr>
          <a:xfrm>
            <a:off x="11328400" y="6070600"/>
            <a:ext cx="3505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Roles involucrados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057D0D-B110-A640-EEA3-94FC1B0DA281}"/>
              </a:ext>
            </a:extLst>
          </p:cNvPr>
          <p:cNvSpPr txBox="1"/>
          <p:nvPr/>
        </p:nvSpPr>
        <p:spPr>
          <a:xfrm>
            <a:off x="11328400" y="6578600"/>
            <a:ext cx="3505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Recepción RAN · Analista RAN · Aprobador RAN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D477D4-8392-7800-292A-5E9A798A63D2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4969BA-01E1-8F53-E21E-E6A7322343D5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019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592E03-2C99-04E3-EF7B-0B0C7E29B821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4214441-DEF0-4D37-BBE3-45AB69E0D331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143287-9DBE-FB74-3585-88AAC84ADF1E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Flujo interno FINANCIERO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1AB206-E818-9DAE-BD6D-1911974AFB8D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Revisión documental, emisión/aprobación y cierre conforme al rol asignado.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FF63AE-2D45-0632-FC85-06B97753FB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730500"/>
            <a:ext cx="7112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0105674-62DB-0650-6D5A-EB1C725CD4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2730500"/>
            <a:ext cx="6731000" cy="4953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59FE1DD-283D-4D17-4F85-B71C511831D9}"/>
              </a:ext>
            </a:extLst>
          </p:cNvPr>
          <p:cNvSpPr txBox="1"/>
          <p:nvPr/>
        </p:nvSpPr>
        <p:spPr>
          <a:xfrm>
            <a:off x="889000" y="7810500"/>
            <a:ext cx="711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500">
                <a:solidFill>
                  <a:srgbClr val="506073"/>
                </a:solidFill>
                <a:latin typeface="Aptos" panose="020B0004020202020204" pitchFamily="34" charset="0"/>
              </a:rPr>
              <a:t>Apertura desde bandeja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BBDF78-BF2D-C392-F72E-A4A337B8649A}"/>
              </a:ext>
            </a:extLst>
          </p:cNvPr>
          <p:cNvSpPr txBox="1"/>
          <p:nvPr/>
        </p:nvSpPr>
        <p:spPr>
          <a:xfrm>
            <a:off x="8699500" y="7810500"/>
            <a:ext cx="673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500">
                <a:solidFill>
                  <a:srgbClr val="506073"/>
                </a:solidFill>
                <a:latin typeface="Aptos" panose="020B0004020202020204" pitchFamily="34" charset="0"/>
              </a:rPr>
              <a:t>Validación antes de aprobar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B31BB07-7662-76F6-AAE8-0A7F44639846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C50FA1-4013-80FB-0C04-56D64859DCF0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6813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042922D-B84B-A499-2C57-3B28CE0DDCD8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1A18BB-A973-4F7C-B9DF-79CB9443C073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DE6AAA-5BEC-4A7C-B3D3-C29BA5F292C8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FINANCIERO: acciones del proceso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8A4451-BCC1-9A47-075A-026B0D12EB54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Las acciones disponibles cambian según rol y estado del trámite.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17DEC8-41F9-87AD-E128-62B526C9B3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667000"/>
            <a:ext cx="9271000" cy="5461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A9F7BCF-A02D-3BAC-39A5-0A32E3C382EF}"/>
              </a:ext>
            </a:extLst>
          </p:cNvPr>
          <p:cNvSpPr/>
          <p:nvPr/>
        </p:nvSpPr>
        <p:spPr>
          <a:xfrm>
            <a:off x="10795000" y="2984500"/>
            <a:ext cx="43815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286980-4CFA-92ED-82F0-009AE33FAC1E}"/>
              </a:ext>
            </a:extLst>
          </p:cNvPr>
          <p:cNvSpPr txBox="1"/>
          <p:nvPr/>
        </p:nvSpPr>
        <p:spPr>
          <a:xfrm>
            <a:off x="11074400" y="3213100"/>
            <a:ext cx="38227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Controles esperados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5881D2-DA9E-5DAF-9CDC-ACCE4A47A50F}"/>
              </a:ext>
            </a:extLst>
          </p:cNvPr>
          <p:cNvSpPr txBox="1"/>
          <p:nvPr/>
        </p:nvSpPr>
        <p:spPr>
          <a:xfrm>
            <a:off x="11074400" y="3721100"/>
            <a:ext cx="3822700" cy="13849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Revisar documentos adjuntos.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Validar estado actual.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Trasladar al siguiente responsable.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Devolver al analista si requiere corrección.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Marcar finalizado/aprobado cuando corresponda.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695780-BD05-6687-0CCE-6C66D60F27F0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42E8C7-D53E-875E-8506-0A26054390AF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073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6AB8579-0F23-368A-CE3C-C8E62495634D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30B0AD-341E-0C7A-B4B2-EAF7D32BA7F5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C7BD4C-86F6-8A2E-DDC7-1CF9FB5CA137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Seguimiento: búsqueda, archivo y aprobados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F21C8A-078E-F44A-4636-1FA19FDEB57C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Herramientas para consultar procesos sin alterar la gestión.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4C21B1-4703-9DF8-627E-0D71871ED4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865BE5-5DE1-6939-D18E-4755A24073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3C24E55-317D-CF2E-CEF9-8D250C3D1D3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2603500"/>
            <a:ext cx="4699000" cy="3175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6962E6A-F612-46F7-9AD8-5E048D47DF92}"/>
              </a:ext>
            </a:extLst>
          </p:cNvPr>
          <p:cNvSpPr/>
          <p:nvPr/>
        </p:nvSpPr>
        <p:spPr>
          <a:xfrm>
            <a:off x="1143000" y="6413500"/>
            <a:ext cx="6350000" cy="1206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5B3E1A-6882-8B02-C5D9-D6F9B9BD8430}"/>
              </a:ext>
            </a:extLst>
          </p:cNvPr>
          <p:cNvSpPr txBox="1"/>
          <p:nvPr/>
        </p:nvSpPr>
        <p:spPr>
          <a:xfrm>
            <a:off x="1422400" y="66421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Uso en producción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30AF4B-98D9-ECD9-F9CC-3CF4EAC22EDF}"/>
              </a:ext>
            </a:extLst>
          </p:cNvPr>
          <p:cNvSpPr txBox="1"/>
          <p:nvPr/>
        </p:nvSpPr>
        <p:spPr>
          <a:xfrm>
            <a:off x="1422400" y="7150100"/>
            <a:ext cx="5791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>
                <a:solidFill>
                  <a:srgbClr val="002D5A"/>
                </a:solidFill>
                <a:latin typeface="Aptos" panose="020B0004020202020204" pitchFamily="34" charset="0"/>
              </a:rPr>
              <a:t>Consulta de procesos reales, soporte operativo y seguimiento institucional.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FA850A7-25E3-6A8C-9699-68FAA0804F02}"/>
              </a:ext>
            </a:extLst>
          </p:cNvPr>
          <p:cNvSpPr/>
          <p:nvPr/>
        </p:nvSpPr>
        <p:spPr>
          <a:xfrm>
            <a:off x="8763000" y="6413500"/>
            <a:ext cx="6350000" cy="1206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8DE1D8-8202-1EC3-9E73-E57172B8CD72}"/>
              </a:ext>
            </a:extLst>
          </p:cNvPr>
          <p:cNvSpPr txBox="1"/>
          <p:nvPr/>
        </p:nvSpPr>
        <p:spPr>
          <a:xfrm>
            <a:off x="9042400" y="6642100"/>
            <a:ext cx="5791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Uso en pruebas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D31491-43A9-EE03-99C1-7D872A39E24D}"/>
              </a:ext>
            </a:extLst>
          </p:cNvPr>
          <p:cNvSpPr txBox="1"/>
          <p:nvPr/>
        </p:nvSpPr>
        <p:spPr>
          <a:xfrm>
            <a:off x="9042400" y="7150100"/>
            <a:ext cx="5791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>
                <a:solidFill>
                  <a:srgbClr val="002D5A"/>
                </a:solidFill>
                <a:latin typeface="Aptos" panose="020B0004020202020204" pitchFamily="34" charset="0"/>
              </a:rPr>
              <a:t>Validar filtros, estados, correlativos, permisos y comportamiento antes de publicar.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943F3AA-9392-A973-7591-6DDE1B9DDDB1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5D1FA43-BC18-7EFF-2142-B1B399AC9766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0646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259A12F-3C02-12EA-94E9-A349394740CE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EED553-A229-D14B-D4E3-FA52DA3E776B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67B4DA-23B8-DC1D-8EA0-CBF0E2A3E5F6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400" b="1">
                <a:solidFill>
                  <a:srgbClr val="002D5A"/>
                </a:solidFill>
                <a:latin typeface="Aptos" panose="020B0004020202020204" pitchFamily="34" charset="0"/>
              </a:rPr>
              <a:t>Supervisión y administración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19CAB0-58B1-AB93-6F6E-42425D6649AA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Dashboard para seguimiento y Admin para controlar usuarios, roles y unidades.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1B17FA-BF5F-6531-BF79-B8AB3744AB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2730500"/>
            <a:ext cx="7112000" cy="4572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F3E72F-88C1-C57B-6D2E-8FB940FF68D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0" y="2730500"/>
            <a:ext cx="6731000" cy="4572000"/>
          </a:xfrm>
          <a:prstGeom prst="rect">
            <a:avLst/>
          </a:prstGeom>
          <a:ln w="12700">
            <a:solidFill>
              <a:srgbClr val="BFD8F2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F718F32-2794-F41F-8DC4-44FB994B173E}"/>
              </a:ext>
            </a:extLst>
          </p:cNvPr>
          <p:cNvSpPr txBox="1"/>
          <p:nvPr/>
        </p:nvSpPr>
        <p:spPr>
          <a:xfrm>
            <a:off x="825500" y="7493000"/>
            <a:ext cx="711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005AA9"/>
                </a:solidFill>
                <a:latin typeface="Aptos" panose="020B0004020202020204" pitchFamily="34" charset="0"/>
              </a:rPr>
              <a:t>Dashboard: métricas y carga operativa</a:t>
            </a:r>
            <a:endParaRPr lang="es-GT" sz="1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92BF77-9021-283E-E8F1-84A18EC23691}"/>
              </a:ext>
            </a:extLst>
          </p:cNvPr>
          <p:cNvSpPr txBox="1"/>
          <p:nvPr/>
        </p:nvSpPr>
        <p:spPr>
          <a:xfrm>
            <a:off x="8699500" y="7493000"/>
            <a:ext cx="673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005AA9"/>
                </a:solidFill>
                <a:latin typeface="Aptos" panose="020B0004020202020204" pitchFamily="34" charset="0"/>
              </a:rPr>
              <a:t>Admin: creación de usuarios y permisos</a:t>
            </a:r>
            <a:endParaRPr lang="es-GT" sz="16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C8DB47-5EA0-E121-FE14-1E7F716BAE72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54A124-8CE8-9C4A-7B96-034E7B4F1DD2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7089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EEFCFE-6B0C-9E6A-EE53-F3CAF83A8147}"/>
              </a:ext>
            </a:extLst>
          </p:cNvPr>
          <p:cNvSpPr/>
          <p:nvPr/>
        </p:nvSpPr>
        <p:spPr>
          <a:xfrm>
            <a:off x="0" y="0"/>
            <a:ext cx="16256000" cy="1041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C9C970-44B0-1FAB-3CFA-763B5754ECF7}"/>
              </a:ext>
            </a:extLst>
          </p:cNvPr>
          <p:cNvSpPr txBox="1"/>
          <p:nvPr/>
        </p:nvSpPr>
        <p:spPr>
          <a:xfrm>
            <a:off x="812800" y="304800"/>
            <a:ext cx="2159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3000" b="1">
                <a:solidFill>
                  <a:srgbClr val="005AA9"/>
                </a:solidFill>
                <a:latin typeface="Aptos" panose="020B0004020202020204" pitchFamily="34" charset="0"/>
              </a:rPr>
              <a:t>DGAC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B483B1-BC8E-BA1A-F1BF-5BD4FE483F82}"/>
              </a:ext>
            </a:extLst>
          </p:cNvPr>
          <p:cNvSpPr txBox="1"/>
          <p:nvPr/>
        </p:nvSpPr>
        <p:spPr>
          <a:xfrm>
            <a:off x="812800" y="1473200"/>
            <a:ext cx="1181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400" b="1">
                <a:solidFill>
                  <a:srgbClr val="002D5A"/>
                </a:solidFill>
                <a:latin typeface="Aptos" panose="020B0004020202020204" pitchFamily="34" charset="0"/>
              </a:rPr>
              <a:t>Criterios para pasar cambios de pruebas a producción</a:t>
            </a:r>
            <a:endParaRPr lang="es-GT" sz="3400" b="1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504515-992B-3B47-C4B3-0EB73FA912FD}"/>
              </a:ext>
            </a:extLst>
          </p:cNvPr>
          <p:cNvSpPr txBox="1"/>
          <p:nvPr/>
        </p:nvSpPr>
        <p:spPr>
          <a:xfrm>
            <a:off x="838200" y="2057400"/>
            <a:ext cx="1320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600">
                <a:solidFill>
                  <a:srgbClr val="506073"/>
                </a:solidFill>
                <a:latin typeface="Aptos" panose="020B0004020202020204" pitchFamily="34" charset="0"/>
              </a:rPr>
              <a:t>Checklist mínimo para proteger la operación institucional.</a:t>
            </a:r>
            <a:endParaRPr lang="es-GT" sz="16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21E96AC-359E-81FE-A042-F0309F75A163}"/>
              </a:ext>
            </a:extLst>
          </p:cNvPr>
          <p:cNvSpPr/>
          <p:nvPr/>
        </p:nvSpPr>
        <p:spPr>
          <a:xfrm>
            <a:off x="8890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AEF1AF-7C3B-9F14-EB84-DAF4D1960430}"/>
              </a:ext>
            </a:extLst>
          </p:cNvPr>
          <p:cNvSpPr txBox="1"/>
          <p:nvPr/>
        </p:nvSpPr>
        <p:spPr>
          <a:xfrm>
            <a:off x="11684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Validación funcional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D31E58-E383-7870-4EE0-7B67A9F0E60C}"/>
              </a:ext>
            </a:extLst>
          </p:cNvPr>
          <p:cNvSpPr txBox="1"/>
          <p:nvPr/>
        </p:nvSpPr>
        <p:spPr>
          <a:xfrm>
            <a:off x="1168400" y="3530600"/>
            <a:ext cx="3886200" cy="11541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Formularios RAN/FINANCIERO completos.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Roles y permisos correctos.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Flujos de devolución/aprobación probados.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Archivos adjuntos descargan y cargan correctamente.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3922316-C817-E1C2-AE94-2B5929E80AE9}"/>
              </a:ext>
            </a:extLst>
          </p:cNvPr>
          <p:cNvSpPr/>
          <p:nvPr/>
        </p:nvSpPr>
        <p:spPr>
          <a:xfrm>
            <a:off x="59055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7BB83A-B9B7-8577-FF9E-731A0BF367BC}"/>
              </a:ext>
            </a:extLst>
          </p:cNvPr>
          <p:cNvSpPr txBox="1"/>
          <p:nvPr/>
        </p:nvSpPr>
        <p:spPr>
          <a:xfrm>
            <a:off x="61849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Validación operativa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9FFAC0-1BC1-2E2B-1421-3E184EF5CE04}"/>
              </a:ext>
            </a:extLst>
          </p:cNvPr>
          <p:cNvSpPr txBox="1"/>
          <p:nvPr/>
        </p:nvSpPr>
        <p:spPr>
          <a:xfrm>
            <a:off x="6184900" y="3530600"/>
            <a:ext cx="3886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Datos de prueba limpiados.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Manuales/presentación actualizados.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Usuarios internos capacitados.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Correos y notificaciones confirmados.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5E044FE-8AC4-AA35-397F-584B95DBBD13}"/>
              </a:ext>
            </a:extLst>
          </p:cNvPr>
          <p:cNvSpPr/>
          <p:nvPr/>
        </p:nvSpPr>
        <p:spPr>
          <a:xfrm>
            <a:off x="10922000" y="2794000"/>
            <a:ext cx="44450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E0EE89-3AF5-15C0-D747-EC04E279A044}"/>
              </a:ext>
            </a:extLst>
          </p:cNvPr>
          <p:cNvSpPr txBox="1"/>
          <p:nvPr/>
        </p:nvSpPr>
        <p:spPr>
          <a:xfrm>
            <a:off x="11201400" y="3022600"/>
            <a:ext cx="3886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b="1">
                <a:solidFill>
                  <a:srgbClr val="005AA9"/>
                </a:solidFill>
                <a:latin typeface="Aptos" panose="020B0004020202020204" pitchFamily="34" charset="0"/>
              </a:rPr>
              <a:t>Publicación controlada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D7FC6C-4A0E-5656-3995-2B40EEA0948C}"/>
              </a:ext>
            </a:extLst>
          </p:cNvPr>
          <p:cNvSpPr txBox="1"/>
          <p:nvPr/>
        </p:nvSpPr>
        <p:spPr>
          <a:xfrm>
            <a:off x="11201400" y="3530600"/>
            <a:ext cx="38862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Respaldo previo.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Ventana de despliegue definida.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Prueba rápida posterior al despliegue.</a:t>
            </a:r>
          </a:p>
          <a:p>
            <a:r>
              <a:rPr lang="es-ES" sz="1500">
                <a:solidFill>
                  <a:srgbClr val="002D5A"/>
                </a:solidFill>
                <a:latin typeface="Aptos" panose="020B0004020202020204" pitchFamily="34" charset="0"/>
              </a:rPr>
              <a:t>• Registro de cambios y responsable.</a:t>
            </a:r>
            <a:endParaRPr lang="es-GT" sz="15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4DF39F-579B-CBF7-5C69-666C67358641}"/>
              </a:ext>
            </a:extLst>
          </p:cNvPr>
          <p:cNvSpPr txBox="1"/>
          <p:nvPr/>
        </p:nvSpPr>
        <p:spPr>
          <a:xfrm>
            <a:off x="1524000" y="7429500"/>
            <a:ext cx="1320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2400" b="1">
                <a:solidFill>
                  <a:srgbClr val="005AA9"/>
                </a:solidFill>
                <a:latin typeface="Aptos" panose="020B0004020202020204" pitchFamily="34" charset="0"/>
              </a:rPr>
              <a:t>Resultado esperado: continuidad operativa en producción y cambios validados desde pruebas.</a:t>
            </a:r>
            <a:endParaRPr lang="es-GT" sz="2400" b="1">
              <a:solidFill>
                <a:srgbClr val="005AA9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E5045E-B24D-8D15-B8CE-4DF2C636BA3F}"/>
              </a:ext>
            </a:extLst>
          </p:cNvPr>
          <p:cNvSpPr txBox="1"/>
          <p:nvPr/>
        </p:nvSpPr>
        <p:spPr>
          <a:xfrm>
            <a:off x="812800" y="86360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000">
                <a:solidFill>
                  <a:srgbClr val="506073"/>
                </a:solidFill>
                <a:latin typeface="Aptos" panose="020B0004020202020204" pitchFamily="34" charset="0"/>
              </a:rPr>
              <a:t>Portal Institucional de Trámites DGAC · RAN y FINANCIERO</a:t>
            </a:r>
            <a:endParaRPr lang="es-GT" sz="1000">
              <a:solidFill>
                <a:srgbClr val="506073"/>
              </a:solidFill>
              <a:latin typeface="Aptos" panose="020B00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903379-415F-E127-C4F7-8B11FB4BD85F}"/>
              </a:ext>
            </a:extLst>
          </p:cNvPr>
          <p:cNvSpPr txBox="1"/>
          <p:nvPr/>
        </p:nvSpPr>
        <p:spPr>
          <a:xfrm>
            <a:off x="14922500" y="8636000"/>
            <a:ext cx="50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GT" sz="1000">
                <a:solidFill>
                  <a:srgbClr val="506073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78990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Personalizado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Perez</dc:creator>
  <cp:lastModifiedBy>Fernando Perez</cp:lastModifiedBy>
  <cp:revision>1</cp:revision>
  <dcterms:created xsi:type="dcterms:W3CDTF">2026-07-15T18:02:52Z</dcterms:created>
  <dcterms:modified xsi:type="dcterms:W3CDTF">2026-07-15T18:02:52Z</dcterms:modified>
</cp:coreProperties>
</file>