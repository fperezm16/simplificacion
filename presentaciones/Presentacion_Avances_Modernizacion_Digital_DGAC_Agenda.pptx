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1" r:id="rId7"/>
    <p:sldId id="260" r:id="rId8"/>
    <p:sldId id="263" r:id="rId9"/>
    <p:sldId id="264" r:id="rId10"/>
    <p:sldId id="265" r:id="rId11"/>
  </p:sldIdLst>
  <p:sldSz cx="16256000" cy="9144000"/>
  <p:notesSz cx="6858000" cy="9144000"/>
  <p:defaultTextStyle>
    <a:defPPr>
      <a:defRPr lang="es-G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8" d="100"/>
          <a:sy n="78" d="100"/>
        </p:scale>
        <p:origin x="27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E4AE4E-7A8A-A247-CB88-DF755A64DF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0" y="1496484"/>
            <a:ext cx="12192000" cy="3183467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EEA2B5F-8635-1958-E035-102A034E50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2000" y="4802717"/>
            <a:ext cx="12192000" cy="220768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22D0319-041F-B15A-8CB2-0B8384F49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E15B9F-6AF2-4D7A-8C18-B4909A4375D8}" type="datetimeFigureOut">
              <a:rPr lang="es-GT" smtClean="0"/>
              <a:t>18/08/2026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DA57456-F1A7-B1E2-6289-A6A2E3AEB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238FF77-6891-2B36-CA7F-F3DB9C823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25E748-3E16-479A-B4DB-45F2164BF8D1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820159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90F698-9D44-45C0-A150-92F37E766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3D05842-D9D1-8AA1-BD58-1B4C61345D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4630C57-D59C-A31D-A3D5-8BA085F1B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E15B9F-6AF2-4D7A-8C18-B4909A4375D8}" type="datetimeFigureOut">
              <a:rPr lang="es-GT" smtClean="0"/>
              <a:t>18/08/2026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134E82E-49F8-404A-1CA1-3A07B092CC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8BEF7A1-AA98-BEFC-1549-5BD7C4F73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25E748-3E16-479A-B4DB-45F2164BF8D1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273760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851E1E-5586-6E8E-F592-BA44BB665C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9133" y="2279653"/>
            <a:ext cx="14020800" cy="3803649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9FF1500-2D08-EEED-AA5B-8E689265DC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9133" y="6119286"/>
            <a:ext cx="14020800" cy="2000249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3C9B3A3-75B4-60B7-B352-6EA32DA6C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E15B9F-6AF2-4D7A-8C18-B4909A4375D8}" type="datetimeFigureOut">
              <a:rPr lang="es-GT" smtClean="0"/>
              <a:t>18/08/2026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7381561-10A5-AEFB-0121-6B7AF7F26F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E9A0CE3-92E2-BD46-6145-5C36306F4E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25E748-3E16-479A-B4DB-45F2164BF8D1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719438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C9D43-016E-6E19-F4E3-40971724A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987757D-43A1-FB27-7DE8-13AB60AEA9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7600" y="2434167"/>
            <a:ext cx="6908800" cy="580178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B583A15-942E-DA6C-09C4-04FCCCF697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229600" y="2434167"/>
            <a:ext cx="6908800" cy="580178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062C4C1-35F5-129F-DE0F-5100EBC2D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E15B9F-6AF2-4D7A-8C18-B4909A4375D8}" type="datetimeFigureOut">
              <a:rPr lang="es-GT" smtClean="0"/>
              <a:t>18/08/2026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B499855-8DC2-D690-33AD-D060C795B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8150092-B10D-DA7E-0F7C-DF0193AE0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25E748-3E16-479A-B4DB-45F2164BF8D1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985242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770F78-D3C3-E2B6-B95E-4205E9817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9717" y="486836"/>
            <a:ext cx="14020800" cy="176741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629EA5F-FF71-EC7C-02BC-3D31332883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9719" y="2241551"/>
            <a:ext cx="6877049" cy="109854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032AE97-1649-07B4-432C-6982F9675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9719" y="3340100"/>
            <a:ext cx="6877049" cy="491278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827CC98-9F7B-E2D8-48C1-80ACD99EF99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29601" y="2241551"/>
            <a:ext cx="6910917" cy="109854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2DADC94-19A1-4A59-9348-16C7AD76D5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29601" y="3340100"/>
            <a:ext cx="6910917" cy="491278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A693FB5-B967-A39B-C545-1CB66BA9D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E15B9F-6AF2-4D7A-8C18-B4909A4375D8}" type="datetimeFigureOut">
              <a:rPr lang="es-GT" smtClean="0"/>
              <a:t>18/08/2026</a:t>
            </a:fld>
            <a:endParaRPr lang="es-GT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252CEB7-BA11-E8AC-941E-85E5439A1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FB25B9F2-0F30-F147-7405-098441D47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25E748-3E16-479A-B4DB-45F2164BF8D1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479912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C26EB2-EE44-C398-5113-459F4654F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A89F555-7E6A-CE89-9382-CD6EC5634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E15B9F-6AF2-4D7A-8C18-B4909A4375D8}" type="datetimeFigureOut">
              <a:rPr lang="es-GT" smtClean="0"/>
              <a:t>18/08/2026</a:t>
            </a:fld>
            <a:endParaRPr lang="es-GT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692FC91-0172-1EBE-77C7-CEAED3F2A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A334C42-3353-DC2F-7C91-1A7BE619A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25E748-3E16-479A-B4DB-45F2164BF8D1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0412541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91BFB63-5962-FFEE-DD13-611269382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E15B9F-6AF2-4D7A-8C18-B4909A4375D8}" type="datetimeFigureOut">
              <a:rPr lang="es-GT" smtClean="0"/>
              <a:t>18/08/2026</a:t>
            </a:fld>
            <a:endParaRPr lang="es-GT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1416C21-A0B8-CE17-BE5D-6F2A615ED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0DBC6AD-53C8-104E-CA60-54F01A6303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25E748-3E16-479A-B4DB-45F2164BF8D1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0665029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7CC2F5-A310-74BE-2633-44A50DA5D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9719" y="609600"/>
            <a:ext cx="5242983" cy="21336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828AE82-01A4-02FE-BE9D-882B964072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10917" y="1316569"/>
            <a:ext cx="8229600" cy="649816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558C75B-F013-416B-0C7D-5F3AE24023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9719" y="2743200"/>
            <a:ext cx="5242983" cy="508211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A965C53-74FE-0228-FE44-9076D3390F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E15B9F-6AF2-4D7A-8C18-B4909A4375D8}" type="datetimeFigureOut">
              <a:rPr lang="es-GT" smtClean="0"/>
              <a:t>18/08/2026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595D6A6-5600-A77F-2C2E-2B7893FF5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F1DDD1C-076A-019F-634D-5F64B071E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25E748-3E16-479A-B4DB-45F2164BF8D1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8490938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4D810B-6359-9434-A4FC-54727FDA3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9719" y="609600"/>
            <a:ext cx="5242983" cy="21336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DF022443-C536-FAEB-3A2C-F7A1AD1E13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910917" y="1316569"/>
            <a:ext cx="8229600" cy="649816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FCBD0BC-C89D-18AB-0A93-5E8B9D0C8C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9719" y="2743200"/>
            <a:ext cx="5242983" cy="508211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667A7E7-8553-59E6-430A-BA181EE6F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E15B9F-6AF2-4D7A-8C18-B4909A4375D8}" type="datetimeFigureOut">
              <a:rPr lang="es-GT" smtClean="0"/>
              <a:t>18/08/2026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B7614EB-9E88-E055-4637-70ED79781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996DED2-3F67-F74E-0CB9-51C3818C4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25E748-3E16-479A-B4DB-45F2164BF8D1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5483051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9D72A9-D251-2908-BDB8-C0770ECA5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7D83F03-7669-583F-308A-C1DCB7D2CE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319DB23-1A03-2547-51FD-D403392E2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E15B9F-6AF2-4D7A-8C18-B4909A4375D8}" type="datetimeFigureOut">
              <a:rPr lang="es-GT" smtClean="0"/>
              <a:t>18/08/2026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6236C1C-5643-0DEE-9C4A-44F9B251D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9F6553D-7AD0-1A99-82F3-28AF6F4DF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25E748-3E16-479A-B4DB-45F2164BF8D1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2640150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44140F8-A1F2-81BC-826E-E22387AF18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1633200" y="486834"/>
            <a:ext cx="3505200" cy="774911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F18B53F-8584-102E-4B82-87EBA518DE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117600" y="486834"/>
            <a:ext cx="10312400" cy="7749117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CCCD190-B9E7-4AEE-41F4-933421FB4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E15B9F-6AF2-4D7A-8C18-B4909A4375D8}" type="datetimeFigureOut">
              <a:rPr lang="es-GT" smtClean="0"/>
              <a:t>18/08/2026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FD59DE7-C0D6-7C23-D3E6-C8282A7AA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0FF7EEA-8DB8-4A36-06B1-084A0EFEB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25E748-3E16-479A-B4DB-45F2164BF8D1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3467532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BE30A818-AD28-256D-5120-3886108BE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0" y="486836"/>
            <a:ext cx="1402080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B59BC24-3B0D-905B-FC14-D5CC430240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7600" y="2434167"/>
            <a:ext cx="1402080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9B7DF2B-6247-2BF6-AABD-FD405B1146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17600" y="8475136"/>
            <a:ext cx="36576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E15B9F-6AF2-4D7A-8C18-B4909A4375D8}" type="datetimeFigureOut">
              <a:rPr lang="es-GT" smtClean="0"/>
              <a:t>18/08/2026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6557EE2-B513-0216-E1C7-D09F378451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384800" y="8475136"/>
            <a:ext cx="54864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131CA74-6F9D-AFD9-7F97-85AB7C6C55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0800" y="8475136"/>
            <a:ext cx="36576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25E748-3E16-479A-B4DB-45F2164BF8D1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5667895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G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40C74529-BA9F-1DAD-6AF9-C11F5BFC1B6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5B7FB687-A6A2-080C-85D3-6B5F49634219}"/>
              </a:ext>
            </a:extLst>
          </p:cNvPr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001F44">
              <a:alpha val="82000"/>
            </a:srgb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0B7BE45E-2684-1397-5764-C8F79AB26052}"/>
              </a:ext>
            </a:extLst>
          </p:cNvPr>
          <p:cNvSpPr/>
          <p:nvPr/>
        </p:nvSpPr>
        <p:spPr>
          <a:xfrm>
            <a:off x="0" y="0"/>
            <a:ext cx="6604000" cy="9144000"/>
          </a:xfrm>
          <a:prstGeom prst="rect">
            <a:avLst/>
          </a:prstGeom>
          <a:solidFill>
            <a:srgbClr val="001F4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673E5D2-DEAE-B608-DE2A-3CC67D012B31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571500"/>
            <a:ext cx="2794000" cy="685800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D296ABE5-294A-D4A2-7A02-2EA7F68A7C64}"/>
              </a:ext>
            </a:extLst>
          </p:cNvPr>
          <p:cNvSpPr txBox="1"/>
          <p:nvPr/>
        </p:nvSpPr>
        <p:spPr>
          <a:xfrm>
            <a:off x="736600" y="2159000"/>
            <a:ext cx="6604000" cy="95410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ES" sz="3100" b="1">
                <a:solidFill>
                  <a:srgbClr val="FFFFFF"/>
                </a:solidFill>
                <a:latin typeface="Aptos" panose="020B0004020202020204" pitchFamily="34" charset="0"/>
              </a:rPr>
              <a:t>AVANCES DEL PROYECTO</a:t>
            </a:r>
          </a:p>
          <a:p>
            <a:r>
              <a:rPr lang="es-ES" sz="3100" b="1">
                <a:solidFill>
                  <a:srgbClr val="FFFFFF"/>
                </a:solidFill>
                <a:latin typeface="Aptos" panose="020B0004020202020204" pitchFamily="34" charset="0"/>
              </a:rPr>
              <a:t>DE MODERNIZACIÓN DIGITAL</a:t>
            </a:r>
            <a:endParaRPr lang="es-GT" sz="31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101ECF2E-FFF6-CFC5-44A1-7761040105C2}"/>
              </a:ext>
            </a:extLst>
          </p:cNvPr>
          <p:cNvSpPr txBox="1"/>
          <p:nvPr/>
        </p:nvSpPr>
        <p:spPr>
          <a:xfrm>
            <a:off x="762000" y="4000500"/>
            <a:ext cx="5715000" cy="2769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>
                <a:solidFill>
                  <a:srgbClr val="00AEEF"/>
                </a:solidFill>
                <a:latin typeface="Aptos" panose="020B0004020202020204" pitchFamily="34" charset="0"/>
              </a:rPr>
              <a:t>Página web institucional y plataforma digital de trámites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011C469-29A3-C10F-C7EE-3FE913A83364}"/>
              </a:ext>
            </a:extLst>
          </p:cNvPr>
          <p:cNvSpPr txBox="1"/>
          <p:nvPr/>
        </p:nvSpPr>
        <p:spPr>
          <a:xfrm>
            <a:off x="762000" y="6604000"/>
            <a:ext cx="3429000" cy="2308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 sz="1500" b="1">
                <a:solidFill>
                  <a:srgbClr val="FFFFFF"/>
                </a:solidFill>
                <a:latin typeface="Aptos" panose="020B0004020202020204" pitchFamily="34" charset="0"/>
              </a:rPr>
              <a:t>15 DE JULIO DE 2026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D4B7DFA-E360-EB95-E0D3-014F9B0E9AED}"/>
              </a:ext>
            </a:extLst>
          </p:cNvPr>
          <p:cNvSpPr txBox="1"/>
          <p:nvPr/>
        </p:nvSpPr>
        <p:spPr>
          <a:xfrm>
            <a:off x="762000" y="7048500"/>
            <a:ext cx="4191000" cy="2308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 sz="1500" b="1">
                <a:solidFill>
                  <a:srgbClr val="FFFFFF"/>
                </a:solidFill>
                <a:latin typeface="Aptos" panose="020B0004020202020204" pitchFamily="34" charset="0"/>
              </a:rPr>
              <a:t>GUATEMALA, GUATEMALA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2B90448F-E288-B322-E761-C7148C356985}"/>
              </a:ext>
            </a:extLst>
          </p:cNvPr>
          <p:cNvSpPr/>
          <p:nvPr/>
        </p:nvSpPr>
        <p:spPr>
          <a:xfrm>
            <a:off x="15011400" y="0"/>
            <a:ext cx="635000" cy="584200"/>
          </a:xfrm>
          <a:prstGeom prst="rect">
            <a:avLst/>
          </a:prstGeom>
          <a:solidFill>
            <a:srgbClr val="005AA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78B7D94C-BEEB-3F79-EDDE-D7391485B1BC}"/>
              </a:ext>
            </a:extLst>
          </p:cNvPr>
          <p:cNvSpPr txBox="1"/>
          <p:nvPr/>
        </p:nvSpPr>
        <p:spPr>
          <a:xfrm>
            <a:off x="15227300" y="127000"/>
            <a:ext cx="3048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6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272427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74D4ED79-B817-B2BD-EB6D-B7AEAC4B8436}"/>
              </a:ext>
            </a:extLst>
          </p:cNvPr>
          <p:cNvSpPr/>
          <p:nvPr/>
        </p:nvSpPr>
        <p:spPr>
          <a:xfrm>
            <a:off x="0" y="0"/>
            <a:ext cx="16256000" cy="9144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4B85461-18B0-A411-2F92-A10C7B2B3E0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215900"/>
            <a:ext cx="1968500" cy="482600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3629381E-FC70-4531-9BD1-5F9E083AFCF9}"/>
              </a:ext>
            </a:extLst>
          </p:cNvPr>
          <p:cNvSpPr txBox="1"/>
          <p:nvPr/>
        </p:nvSpPr>
        <p:spPr>
          <a:xfrm>
            <a:off x="812800" y="1219200"/>
            <a:ext cx="12954000" cy="44627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 sz="2900" b="1">
                <a:solidFill>
                  <a:srgbClr val="001F44"/>
                </a:solidFill>
                <a:latin typeface="Aptos" panose="020B0004020202020204" pitchFamily="34" charset="0"/>
              </a:rPr>
              <a:t>OBJETIVO DE LA REUNIÓN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CE70F8C-1147-BA8E-8530-4CC8BA117812}"/>
              </a:ext>
            </a:extLst>
          </p:cNvPr>
          <p:cNvSpPr/>
          <p:nvPr/>
        </p:nvSpPr>
        <p:spPr>
          <a:xfrm>
            <a:off x="812800" y="1854200"/>
            <a:ext cx="889000" cy="63500"/>
          </a:xfrm>
          <a:prstGeom prst="rect">
            <a:avLst/>
          </a:prstGeom>
          <a:solidFill>
            <a:srgbClr val="005AA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2CCE317-9AF8-1029-52C8-C79E57A09547}"/>
              </a:ext>
            </a:extLst>
          </p:cNvPr>
          <p:cNvSpPr/>
          <p:nvPr/>
        </p:nvSpPr>
        <p:spPr>
          <a:xfrm>
            <a:off x="15011400" y="0"/>
            <a:ext cx="635000" cy="584200"/>
          </a:xfrm>
          <a:prstGeom prst="rect">
            <a:avLst/>
          </a:prstGeom>
          <a:solidFill>
            <a:srgbClr val="005AA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BE61D08-1607-0764-09B7-6188AB94C2AB}"/>
              </a:ext>
            </a:extLst>
          </p:cNvPr>
          <p:cNvSpPr txBox="1"/>
          <p:nvPr/>
        </p:nvSpPr>
        <p:spPr>
          <a:xfrm>
            <a:off x="15227300" y="127000"/>
            <a:ext cx="3048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6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BC47B701-EAC6-B291-CBCA-21969FCD510C}"/>
              </a:ext>
            </a:extLst>
          </p:cNvPr>
          <p:cNvSpPr/>
          <p:nvPr/>
        </p:nvSpPr>
        <p:spPr>
          <a:xfrm>
            <a:off x="1397000" y="2984500"/>
            <a:ext cx="2159000" cy="2159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D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362CCC6F-860B-7A97-8A0D-7157F4F17980}"/>
              </a:ext>
            </a:extLst>
          </p:cNvPr>
          <p:cNvSpPr/>
          <p:nvPr/>
        </p:nvSpPr>
        <p:spPr>
          <a:xfrm>
            <a:off x="1676400" y="3263900"/>
            <a:ext cx="1600200" cy="1600200"/>
          </a:xfrm>
          <a:prstGeom prst="ellipse">
            <a:avLst/>
          </a:prstGeom>
          <a:solidFill>
            <a:srgbClr val="005AA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A1BCB2C2-64EF-77E0-82C6-A2545CCDED67}"/>
              </a:ext>
            </a:extLst>
          </p:cNvPr>
          <p:cNvSpPr/>
          <p:nvPr/>
        </p:nvSpPr>
        <p:spPr>
          <a:xfrm>
            <a:off x="1955800" y="3543300"/>
            <a:ext cx="1041400" cy="1041400"/>
          </a:xfrm>
          <a:prstGeom prst="ellipse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3542CFD6-2131-1F1E-37F8-6A81CE7B0365}"/>
              </a:ext>
            </a:extLst>
          </p:cNvPr>
          <p:cNvSpPr txBox="1"/>
          <p:nvPr/>
        </p:nvSpPr>
        <p:spPr>
          <a:xfrm>
            <a:off x="1778000" y="3644900"/>
            <a:ext cx="1397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3000" b="1">
                <a:solidFill>
                  <a:srgbClr val="001F44"/>
                </a:solidFill>
                <a:latin typeface="Aptos" panose="020B0004020202020204" pitchFamily="34" charset="0"/>
              </a:rPr>
              <a:t>✓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489ADA0C-D000-5DE5-193D-5AE1F5FD80D4}"/>
              </a:ext>
            </a:extLst>
          </p:cNvPr>
          <p:cNvSpPr txBox="1"/>
          <p:nvPr/>
        </p:nvSpPr>
        <p:spPr>
          <a:xfrm>
            <a:off x="1714500" y="4254500"/>
            <a:ext cx="15240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200" b="1">
                <a:solidFill>
                  <a:srgbClr val="001F44"/>
                </a:solidFill>
                <a:latin typeface="Aptos" panose="020B0004020202020204" pitchFamily="34" charset="0"/>
              </a:rPr>
              <a:t>Objetivo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9138BD64-7DDD-53C5-E7D1-3CAF545B027F}"/>
              </a:ext>
            </a:extLst>
          </p:cNvPr>
          <p:cNvSpPr/>
          <p:nvPr/>
        </p:nvSpPr>
        <p:spPr>
          <a:xfrm>
            <a:off x="5334000" y="2349500"/>
            <a:ext cx="8636000" cy="1168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D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042950C1-40A1-8934-2391-1E4CE3950AA0}"/>
              </a:ext>
            </a:extLst>
          </p:cNvPr>
          <p:cNvSpPr/>
          <p:nvPr/>
        </p:nvSpPr>
        <p:spPr>
          <a:xfrm>
            <a:off x="5334000" y="2349500"/>
            <a:ext cx="88900" cy="1168400"/>
          </a:xfrm>
          <a:prstGeom prst="rect">
            <a:avLst/>
          </a:prstGeom>
          <a:solidFill>
            <a:srgbClr val="005AA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1C8D6F25-C1DD-F439-C64C-E355F0FC4367}"/>
              </a:ext>
            </a:extLst>
          </p:cNvPr>
          <p:cNvSpPr txBox="1"/>
          <p:nvPr/>
        </p:nvSpPr>
        <p:spPr>
          <a:xfrm>
            <a:off x="5613400" y="2578100"/>
            <a:ext cx="81280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 sz="1700" b="1">
                <a:solidFill>
                  <a:srgbClr val="001F44"/>
                </a:solidFill>
                <a:latin typeface="Aptos" panose="020B0004020202020204" pitchFamily="34" charset="0"/>
              </a:rPr>
              <a:t>Presentar avances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46C50D64-528E-B433-744D-07D44485F63D}"/>
              </a:ext>
            </a:extLst>
          </p:cNvPr>
          <p:cNvSpPr txBox="1"/>
          <p:nvPr/>
        </p:nvSpPr>
        <p:spPr>
          <a:xfrm>
            <a:off x="5613400" y="3048000"/>
            <a:ext cx="81026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 sz="1400">
                <a:solidFill>
                  <a:srgbClr val="002D5A"/>
                </a:solidFill>
                <a:latin typeface="Aptos" panose="020B0004020202020204" pitchFamily="34" charset="0"/>
              </a:rPr>
              <a:t>Estado actual de la página web institucional y plataforma digital de trámites.</a:t>
            </a:r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BD807109-8692-33E8-6070-33934C32BBB2}"/>
              </a:ext>
            </a:extLst>
          </p:cNvPr>
          <p:cNvSpPr/>
          <p:nvPr/>
        </p:nvSpPr>
        <p:spPr>
          <a:xfrm>
            <a:off x="5334000" y="3810000"/>
            <a:ext cx="8636000" cy="1168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D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18B6B9D3-BCC0-2A8A-1522-815B33C1E3B5}"/>
              </a:ext>
            </a:extLst>
          </p:cNvPr>
          <p:cNvSpPr/>
          <p:nvPr/>
        </p:nvSpPr>
        <p:spPr>
          <a:xfrm>
            <a:off x="5334000" y="3810000"/>
            <a:ext cx="88900" cy="1168400"/>
          </a:xfrm>
          <a:prstGeom prst="rect">
            <a:avLst/>
          </a:prstGeom>
          <a:solidFill>
            <a:srgbClr val="34A85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8A321C3B-E099-296A-17BF-3D69F2BCA2FD}"/>
              </a:ext>
            </a:extLst>
          </p:cNvPr>
          <p:cNvSpPr txBox="1"/>
          <p:nvPr/>
        </p:nvSpPr>
        <p:spPr>
          <a:xfrm>
            <a:off x="5613400" y="4038600"/>
            <a:ext cx="81280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 sz="1700" b="1">
                <a:solidFill>
                  <a:srgbClr val="001F44"/>
                </a:solidFill>
                <a:latin typeface="Aptos" panose="020B0004020202020204" pitchFamily="34" charset="0"/>
              </a:rPr>
              <a:t>Revisar prioridades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5CCC0D35-8175-EDF9-5FB7-12AAE0B95AF0}"/>
              </a:ext>
            </a:extLst>
          </p:cNvPr>
          <p:cNvSpPr txBox="1"/>
          <p:nvPr/>
        </p:nvSpPr>
        <p:spPr>
          <a:xfrm>
            <a:off x="5613400" y="4508500"/>
            <a:ext cx="81026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 sz="1400">
                <a:solidFill>
                  <a:srgbClr val="002D5A"/>
                </a:solidFill>
                <a:latin typeface="Aptos" panose="020B0004020202020204" pitchFamily="34" charset="0"/>
              </a:rPr>
              <a:t>Avances acumulados de los 17 trámites administrativos priorizados por la DGAC.</a:t>
            </a:r>
          </a:p>
        </p:txBody>
      </p:sp>
      <p:sp>
        <p:nvSpPr>
          <p:cNvPr id="22" name="Rectángulo: esquinas redondeadas 21">
            <a:extLst>
              <a:ext uri="{FF2B5EF4-FFF2-40B4-BE49-F238E27FC236}">
                <a16:creationId xmlns:a16="http://schemas.microsoft.com/office/drawing/2014/main" id="{D14C6431-102C-4332-CB8A-7F8036FC0640}"/>
              </a:ext>
            </a:extLst>
          </p:cNvPr>
          <p:cNvSpPr/>
          <p:nvPr/>
        </p:nvSpPr>
        <p:spPr>
          <a:xfrm>
            <a:off x="5334000" y="5270500"/>
            <a:ext cx="8636000" cy="1397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D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18339975-2DFF-5C4F-496A-450F0DECCFFA}"/>
              </a:ext>
            </a:extLst>
          </p:cNvPr>
          <p:cNvSpPr/>
          <p:nvPr/>
        </p:nvSpPr>
        <p:spPr>
          <a:xfrm>
            <a:off x="5334000" y="5270500"/>
            <a:ext cx="88900" cy="1397000"/>
          </a:xfrm>
          <a:prstGeom prst="rect">
            <a:avLst/>
          </a:prstGeom>
          <a:solidFill>
            <a:srgbClr val="EB7D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6F55037A-60F7-FFE5-64D7-A18A72F50B65}"/>
              </a:ext>
            </a:extLst>
          </p:cNvPr>
          <p:cNvSpPr txBox="1"/>
          <p:nvPr/>
        </p:nvSpPr>
        <p:spPr>
          <a:xfrm>
            <a:off x="5613400" y="5499100"/>
            <a:ext cx="81280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 sz="1700" b="1">
                <a:solidFill>
                  <a:srgbClr val="001F44"/>
                </a:solidFill>
                <a:latin typeface="Aptos" panose="020B0004020202020204" pitchFamily="34" charset="0"/>
              </a:rPr>
              <a:t>Definir próximos pasos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36A52FA7-86EB-5480-38F4-C3C7CE066059}"/>
              </a:ext>
            </a:extLst>
          </p:cNvPr>
          <p:cNvSpPr txBox="1"/>
          <p:nvPr/>
        </p:nvSpPr>
        <p:spPr>
          <a:xfrm>
            <a:off x="5613400" y="5969000"/>
            <a:ext cx="81026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ES" sz="1400">
                <a:solidFill>
                  <a:srgbClr val="002D5A"/>
                </a:solidFill>
                <a:latin typeface="Aptos" panose="020B0004020202020204" pitchFamily="34" charset="0"/>
              </a:rPr>
              <a:t>Pendientes de validación, capacitación, lanzamiento, Neonet y firma electrónica avanzada.</a:t>
            </a:r>
            <a:endParaRPr lang="es-GT" sz="1400">
              <a:solidFill>
                <a:srgbClr val="002D5A"/>
              </a:solidFill>
              <a:latin typeface="Aptos" panose="020B0004020202020204" pitchFamily="34" charset="0"/>
            </a:endParaRP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63A9E308-BA08-74C9-AFED-7BE8E59983EA}"/>
              </a:ext>
            </a:extLst>
          </p:cNvPr>
          <p:cNvSpPr/>
          <p:nvPr/>
        </p:nvSpPr>
        <p:spPr>
          <a:xfrm>
            <a:off x="0" y="8636000"/>
            <a:ext cx="16256000" cy="508000"/>
          </a:xfrm>
          <a:prstGeom prst="rect">
            <a:avLst/>
          </a:prstGeom>
          <a:solidFill>
            <a:srgbClr val="001F4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CB5ADD01-8AAA-350E-4600-2BFD3D1F21FD}"/>
              </a:ext>
            </a:extLst>
          </p:cNvPr>
          <p:cNvSpPr txBox="1"/>
          <p:nvPr/>
        </p:nvSpPr>
        <p:spPr>
          <a:xfrm>
            <a:off x="889000" y="8801100"/>
            <a:ext cx="9652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ES" sz="1100">
                <a:solidFill>
                  <a:srgbClr val="FFFFFF"/>
                </a:solidFill>
                <a:latin typeface="Aptos" panose="020B0004020202020204" pitchFamily="34" charset="0"/>
              </a:rPr>
              <a:t>DGAC · Avances del proyecto de modernización digital · 15 de julio de 2026</a:t>
            </a:r>
            <a:endParaRPr lang="es-GT" sz="11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FD854574-2F35-C1C8-B35C-6BA998660043}"/>
              </a:ext>
            </a:extLst>
          </p:cNvPr>
          <p:cNvSpPr txBox="1"/>
          <p:nvPr/>
        </p:nvSpPr>
        <p:spPr>
          <a:xfrm>
            <a:off x="9969500" y="8801100"/>
            <a:ext cx="5334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s-ES" sz="1100">
                <a:solidFill>
                  <a:srgbClr val="FFFFFF"/>
                </a:solidFill>
                <a:latin typeface="Aptos" panose="020B0004020202020204" pitchFamily="34" charset="0"/>
              </a:rPr>
              <a:t>Servicios más ágiles, eficientes y transparentes</a:t>
            </a:r>
            <a:endParaRPr lang="es-GT" sz="11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88548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156F8112-C63F-1C76-7511-7E2AE5F8B190}"/>
              </a:ext>
            </a:extLst>
          </p:cNvPr>
          <p:cNvSpPr/>
          <p:nvPr/>
        </p:nvSpPr>
        <p:spPr>
          <a:xfrm>
            <a:off x="0" y="0"/>
            <a:ext cx="16256000" cy="9144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393F907-F8BF-F807-8CBE-6B37926AEC9C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215900"/>
            <a:ext cx="1968500" cy="482600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55424862-A974-A817-7038-2BB07C3300A8}"/>
              </a:ext>
            </a:extLst>
          </p:cNvPr>
          <p:cNvSpPr txBox="1"/>
          <p:nvPr/>
        </p:nvSpPr>
        <p:spPr>
          <a:xfrm>
            <a:off x="812800" y="1219200"/>
            <a:ext cx="12954000" cy="44627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 sz="2900" b="1">
                <a:solidFill>
                  <a:srgbClr val="001F44"/>
                </a:solidFill>
                <a:latin typeface="Aptos" panose="020B0004020202020204" pitchFamily="34" charset="0"/>
              </a:rPr>
              <a:t>ESTADO ACTUAL DE LA PÁGINA WEB INSTITUCIONAL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D0AECC4-DA63-83E4-BB79-16AE6504E89C}"/>
              </a:ext>
            </a:extLst>
          </p:cNvPr>
          <p:cNvSpPr/>
          <p:nvPr/>
        </p:nvSpPr>
        <p:spPr>
          <a:xfrm>
            <a:off x="812800" y="1854200"/>
            <a:ext cx="889000" cy="63500"/>
          </a:xfrm>
          <a:prstGeom prst="rect">
            <a:avLst/>
          </a:prstGeom>
          <a:solidFill>
            <a:srgbClr val="005AA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E6B52D64-6967-C320-3875-E0DAC72BC6EE}"/>
              </a:ext>
            </a:extLst>
          </p:cNvPr>
          <p:cNvSpPr/>
          <p:nvPr/>
        </p:nvSpPr>
        <p:spPr>
          <a:xfrm>
            <a:off x="15011400" y="0"/>
            <a:ext cx="635000" cy="584200"/>
          </a:xfrm>
          <a:prstGeom prst="rect">
            <a:avLst/>
          </a:prstGeom>
          <a:solidFill>
            <a:srgbClr val="005AA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A4EF28F-6CDF-3224-24F1-79A7F7A76C17}"/>
              </a:ext>
            </a:extLst>
          </p:cNvPr>
          <p:cNvSpPr txBox="1"/>
          <p:nvPr/>
        </p:nvSpPr>
        <p:spPr>
          <a:xfrm>
            <a:off x="15227300" y="127000"/>
            <a:ext cx="3048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600" b="1" dirty="0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776E588C-BD78-C029-C1D5-2A2089AFDA3A}"/>
              </a:ext>
            </a:extLst>
          </p:cNvPr>
          <p:cNvSpPr/>
          <p:nvPr/>
        </p:nvSpPr>
        <p:spPr>
          <a:xfrm>
            <a:off x="8236344" y="3071312"/>
            <a:ext cx="4889500" cy="152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D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7AED1DB-744E-AD46-74C8-2314917B3466}"/>
              </a:ext>
            </a:extLst>
          </p:cNvPr>
          <p:cNvSpPr/>
          <p:nvPr/>
        </p:nvSpPr>
        <p:spPr>
          <a:xfrm>
            <a:off x="8370705" y="3071312"/>
            <a:ext cx="88900" cy="1524000"/>
          </a:xfrm>
          <a:prstGeom prst="rect">
            <a:avLst/>
          </a:prstGeom>
          <a:solidFill>
            <a:srgbClr val="34A85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A9E962F7-906F-DFFC-88EB-CBE2E2EDEA5B}"/>
              </a:ext>
            </a:extLst>
          </p:cNvPr>
          <p:cNvSpPr txBox="1"/>
          <p:nvPr/>
        </p:nvSpPr>
        <p:spPr>
          <a:xfrm>
            <a:off x="8629650" y="3358347"/>
            <a:ext cx="43815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 sz="1700" b="1" dirty="0">
                <a:solidFill>
                  <a:srgbClr val="001F44"/>
                </a:solidFill>
                <a:latin typeface="Aptos" panose="020B0004020202020204" pitchFamily="34" charset="0"/>
              </a:rPr>
              <a:t>Concluido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01EECE2A-D72F-31A4-4016-167D6179A0E9}"/>
              </a:ext>
            </a:extLst>
          </p:cNvPr>
          <p:cNvSpPr txBox="1"/>
          <p:nvPr/>
        </p:nvSpPr>
        <p:spPr>
          <a:xfrm>
            <a:off x="8648700" y="3833312"/>
            <a:ext cx="4356100" cy="64633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ES" sz="1400" dirty="0">
                <a:solidFill>
                  <a:srgbClr val="002D5A"/>
                </a:solidFill>
                <a:latin typeface="Aptos" panose="020B0004020202020204" pitchFamily="34" charset="0"/>
              </a:rPr>
              <a:t>Migración de información a la nueva página web institucional, en cumplimiento de requerimientos de Gobierno Abierto y Electrónico -GAE-.</a:t>
            </a:r>
            <a:endParaRPr lang="es-GT" sz="1400" dirty="0">
              <a:solidFill>
                <a:srgbClr val="002D5A"/>
              </a:solidFill>
              <a:latin typeface="Aptos" panose="020B0004020202020204" pitchFamily="34" charset="0"/>
            </a:endParaRPr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0422D2CC-53B5-4721-2A90-B98C1E06F06F}"/>
              </a:ext>
            </a:extLst>
          </p:cNvPr>
          <p:cNvSpPr/>
          <p:nvPr/>
        </p:nvSpPr>
        <p:spPr>
          <a:xfrm>
            <a:off x="13462000" y="2730500"/>
            <a:ext cx="2159000" cy="2159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D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B3485F4C-90E0-2DA2-EB88-AF7075089740}"/>
              </a:ext>
            </a:extLst>
          </p:cNvPr>
          <p:cNvSpPr/>
          <p:nvPr/>
        </p:nvSpPr>
        <p:spPr>
          <a:xfrm>
            <a:off x="13741400" y="3009900"/>
            <a:ext cx="1600200" cy="1600200"/>
          </a:xfrm>
          <a:prstGeom prst="ellipse">
            <a:avLst/>
          </a:prstGeom>
          <a:solidFill>
            <a:srgbClr val="34A85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059A4ED5-C656-95A2-2A71-052AA720955B}"/>
              </a:ext>
            </a:extLst>
          </p:cNvPr>
          <p:cNvSpPr/>
          <p:nvPr/>
        </p:nvSpPr>
        <p:spPr>
          <a:xfrm>
            <a:off x="14020800" y="3289300"/>
            <a:ext cx="1041400" cy="1041400"/>
          </a:xfrm>
          <a:prstGeom prst="ellipse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55BDCA85-129A-AAD7-6BA4-FDF2DF2B29DA}"/>
              </a:ext>
            </a:extLst>
          </p:cNvPr>
          <p:cNvSpPr txBox="1"/>
          <p:nvPr/>
        </p:nvSpPr>
        <p:spPr>
          <a:xfrm>
            <a:off x="13843000" y="3390900"/>
            <a:ext cx="1397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3000" b="1">
                <a:solidFill>
                  <a:srgbClr val="001F44"/>
                </a:solidFill>
                <a:latin typeface="Aptos" panose="020B0004020202020204" pitchFamily="34" charset="0"/>
              </a:rPr>
              <a:t>✓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529783CD-0CBB-C35C-B441-CB2F08D90C1E}"/>
              </a:ext>
            </a:extLst>
          </p:cNvPr>
          <p:cNvSpPr txBox="1"/>
          <p:nvPr/>
        </p:nvSpPr>
        <p:spPr>
          <a:xfrm>
            <a:off x="13779500" y="4000500"/>
            <a:ext cx="15240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200" b="1">
                <a:solidFill>
                  <a:srgbClr val="001F44"/>
                </a:solidFill>
                <a:latin typeface="Aptos" panose="020B0004020202020204" pitchFamily="34" charset="0"/>
              </a:rPr>
              <a:t>Migración concluida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DCC7F4EE-F3E0-E7B6-6562-470BB1EC1C12}"/>
              </a:ext>
            </a:extLst>
          </p:cNvPr>
          <p:cNvSpPr/>
          <p:nvPr/>
        </p:nvSpPr>
        <p:spPr>
          <a:xfrm>
            <a:off x="0" y="8636000"/>
            <a:ext cx="16256000" cy="508000"/>
          </a:xfrm>
          <a:prstGeom prst="rect">
            <a:avLst/>
          </a:prstGeom>
          <a:solidFill>
            <a:srgbClr val="001F4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559FF386-5153-76A3-6019-4B8E90FAAE1D}"/>
              </a:ext>
            </a:extLst>
          </p:cNvPr>
          <p:cNvSpPr txBox="1"/>
          <p:nvPr/>
        </p:nvSpPr>
        <p:spPr>
          <a:xfrm>
            <a:off x="889000" y="8801100"/>
            <a:ext cx="9652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ES" sz="1100">
                <a:solidFill>
                  <a:srgbClr val="FFFFFF"/>
                </a:solidFill>
                <a:latin typeface="Aptos" panose="020B0004020202020204" pitchFamily="34" charset="0"/>
              </a:rPr>
              <a:t>DGAC · Avances del proyecto de modernización digital · 15 de julio de 2026</a:t>
            </a:r>
            <a:endParaRPr lang="es-GT" sz="11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D094307D-8118-05B4-DC85-41FB4661DE0A}"/>
              </a:ext>
            </a:extLst>
          </p:cNvPr>
          <p:cNvSpPr txBox="1"/>
          <p:nvPr/>
        </p:nvSpPr>
        <p:spPr>
          <a:xfrm>
            <a:off x="9969500" y="8801100"/>
            <a:ext cx="5334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s-ES" sz="1100">
                <a:solidFill>
                  <a:srgbClr val="FFFFFF"/>
                </a:solidFill>
                <a:latin typeface="Aptos" panose="020B0004020202020204" pitchFamily="34" charset="0"/>
              </a:rPr>
              <a:t>Servicios más ágiles, eficientes y transparentes</a:t>
            </a:r>
            <a:endParaRPr lang="es-GT" sz="11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87A7DFDC-A94A-B3FA-A4AD-031A0B23E9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643" y="2106424"/>
            <a:ext cx="7885007" cy="4175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164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6BBF0B81-BD69-E0CE-BE3B-01273421E093}"/>
              </a:ext>
            </a:extLst>
          </p:cNvPr>
          <p:cNvSpPr/>
          <p:nvPr/>
        </p:nvSpPr>
        <p:spPr>
          <a:xfrm>
            <a:off x="0" y="0"/>
            <a:ext cx="16256000" cy="9144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198F28F-B56B-2088-8218-4F840D3AEEA9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215900"/>
            <a:ext cx="1968500" cy="482600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39CB8BCA-E3B8-C4B8-D28A-0AA594EF6A5D}"/>
              </a:ext>
            </a:extLst>
          </p:cNvPr>
          <p:cNvSpPr txBox="1"/>
          <p:nvPr/>
        </p:nvSpPr>
        <p:spPr>
          <a:xfrm>
            <a:off x="812800" y="1219200"/>
            <a:ext cx="12954000" cy="44627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ES" sz="2900" b="1">
                <a:solidFill>
                  <a:srgbClr val="001F44"/>
                </a:solidFill>
                <a:latin typeface="Aptos" panose="020B0004020202020204" pitchFamily="34" charset="0"/>
              </a:rPr>
              <a:t>AVANCE GENERAL DE LA PLATAFORMA DIGITAL DE TRÁMITES</a:t>
            </a:r>
            <a:endParaRPr lang="es-GT" sz="2900" b="1">
              <a:solidFill>
                <a:srgbClr val="001F44"/>
              </a:solidFill>
              <a:latin typeface="Aptos" panose="020B0004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CBE68D47-2E9D-1802-0C08-BDA1375BAFE3}"/>
              </a:ext>
            </a:extLst>
          </p:cNvPr>
          <p:cNvSpPr/>
          <p:nvPr/>
        </p:nvSpPr>
        <p:spPr>
          <a:xfrm>
            <a:off x="812800" y="1854200"/>
            <a:ext cx="889000" cy="63500"/>
          </a:xfrm>
          <a:prstGeom prst="rect">
            <a:avLst/>
          </a:prstGeom>
          <a:solidFill>
            <a:srgbClr val="005AA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98CEF365-23BC-2BB4-46CB-56C21BF6D290}"/>
              </a:ext>
            </a:extLst>
          </p:cNvPr>
          <p:cNvSpPr/>
          <p:nvPr/>
        </p:nvSpPr>
        <p:spPr>
          <a:xfrm>
            <a:off x="15011400" y="0"/>
            <a:ext cx="635000" cy="584200"/>
          </a:xfrm>
          <a:prstGeom prst="rect">
            <a:avLst/>
          </a:prstGeom>
          <a:solidFill>
            <a:srgbClr val="005AA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564A6A9-361C-32C4-91B8-FA1554D8B70C}"/>
              </a:ext>
            </a:extLst>
          </p:cNvPr>
          <p:cNvSpPr txBox="1"/>
          <p:nvPr/>
        </p:nvSpPr>
        <p:spPr>
          <a:xfrm>
            <a:off x="15227300" y="127000"/>
            <a:ext cx="3048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60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8E97F033-A7F1-A205-99B0-DEE2CC7B1421}"/>
              </a:ext>
            </a:extLst>
          </p:cNvPr>
          <p:cNvSpPr/>
          <p:nvPr/>
        </p:nvSpPr>
        <p:spPr>
          <a:xfrm>
            <a:off x="1143000" y="2730500"/>
            <a:ext cx="2159000" cy="2159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D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8738349A-9697-F948-DE27-FC2E2B4E1ECE}"/>
              </a:ext>
            </a:extLst>
          </p:cNvPr>
          <p:cNvSpPr/>
          <p:nvPr/>
        </p:nvSpPr>
        <p:spPr>
          <a:xfrm>
            <a:off x="1422400" y="3009900"/>
            <a:ext cx="1600200" cy="1600200"/>
          </a:xfrm>
          <a:prstGeom prst="ellipse">
            <a:avLst/>
          </a:prstGeom>
          <a:solidFill>
            <a:srgbClr val="005AA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CC6F71A6-5E77-604B-F623-65B4217F7D0F}"/>
              </a:ext>
            </a:extLst>
          </p:cNvPr>
          <p:cNvSpPr/>
          <p:nvPr/>
        </p:nvSpPr>
        <p:spPr>
          <a:xfrm>
            <a:off x="1701800" y="3289300"/>
            <a:ext cx="1041400" cy="1041400"/>
          </a:xfrm>
          <a:prstGeom prst="ellipse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C2AE15EE-8874-23FE-0C4C-5188B627069E}"/>
              </a:ext>
            </a:extLst>
          </p:cNvPr>
          <p:cNvSpPr txBox="1"/>
          <p:nvPr/>
        </p:nvSpPr>
        <p:spPr>
          <a:xfrm>
            <a:off x="1524000" y="3390900"/>
            <a:ext cx="1397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3000" b="1">
                <a:solidFill>
                  <a:srgbClr val="001F44"/>
                </a:solidFill>
                <a:latin typeface="Aptos" panose="020B0004020202020204" pitchFamily="34" charset="0"/>
              </a:rPr>
              <a:t>17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AE2ED7CF-BCB7-3F4F-5EF5-C855312157A8}"/>
              </a:ext>
            </a:extLst>
          </p:cNvPr>
          <p:cNvSpPr txBox="1"/>
          <p:nvPr/>
        </p:nvSpPr>
        <p:spPr>
          <a:xfrm>
            <a:off x="1460500" y="4000500"/>
            <a:ext cx="15240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200" b="1">
                <a:solidFill>
                  <a:srgbClr val="001F44"/>
                </a:solidFill>
                <a:latin typeface="Aptos" panose="020B0004020202020204" pitchFamily="34" charset="0"/>
              </a:rPr>
              <a:t>Trámites priorizados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3F1BBA93-7C61-1142-E841-2144409883CC}"/>
              </a:ext>
            </a:extLst>
          </p:cNvPr>
          <p:cNvSpPr/>
          <p:nvPr/>
        </p:nvSpPr>
        <p:spPr>
          <a:xfrm>
            <a:off x="3810000" y="2730500"/>
            <a:ext cx="2159000" cy="2159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D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831E16DC-EE7F-F60F-6C5D-A2BDCAC149BE}"/>
              </a:ext>
            </a:extLst>
          </p:cNvPr>
          <p:cNvSpPr/>
          <p:nvPr/>
        </p:nvSpPr>
        <p:spPr>
          <a:xfrm>
            <a:off x="4089400" y="3009900"/>
            <a:ext cx="1600200" cy="1600200"/>
          </a:xfrm>
          <a:prstGeom prst="ellipse">
            <a:avLst/>
          </a:prstGeom>
          <a:solidFill>
            <a:srgbClr val="34A85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C0EC8568-4EC4-5F6B-B1A4-59CB49475392}"/>
              </a:ext>
            </a:extLst>
          </p:cNvPr>
          <p:cNvSpPr/>
          <p:nvPr/>
        </p:nvSpPr>
        <p:spPr>
          <a:xfrm>
            <a:off x="4368800" y="3289300"/>
            <a:ext cx="1041400" cy="1041400"/>
          </a:xfrm>
          <a:prstGeom prst="ellipse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220878B9-4F3F-3E25-BBAF-624CEC21791F}"/>
              </a:ext>
            </a:extLst>
          </p:cNvPr>
          <p:cNvSpPr txBox="1"/>
          <p:nvPr/>
        </p:nvSpPr>
        <p:spPr>
          <a:xfrm>
            <a:off x="4191000" y="3390900"/>
            <a:ext cx="1397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3000" b="1" dirty="0">
                <a:solidFill>
                  <a:srgbClr val="001F44"/>
                </a:solidFill>
                <a:latin typeface="Aptos" panose="020B0004020202020204" pitchFamily="34" charset="0"/>
              </a:rPr>
              <a:t>54%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14942960-1813-DEFE-392C-709DC1F91CCC}"/>
              </a:ext>
            </a:extLst>
          </p:cNvPr>
          <p:cNvSpPr txBox="1"/>
          <p:nvPr/>
        </p:nvSpPr>
        <p:spPr>
          <a:xfrm>
            <a:off x="4127500" y="4000500"/>
            <a:ext cx="15240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200" b="1">
                <a:solidFill>
                  <a:srgbClr val="001F44"/>
                </a:solidFill>
                <a:latin typeface="Aptos" panose="020B0004020202020204" pitchFamily="34" charset="0"/>
              </a:rPr>
              <a:t>Promedio acumulado</a:t>
            </a:r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48B475BA-8424-90E6-3EA9-1C1440EE82D6}"/>
              </a:ext>
            </a:extLst>
          </p:cNvPr>
          <p:cNvSpPr/>
          <p:nvPr/>
        </p:nvSpPr>
        <p:spPr>
          <a:xfrm>
            <a:off x="7112000" y="2222500"/>
            <a:ext cx="3810000" cy="2413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D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622CE890-CD2E-9E8B-E1BA-C2EC2CA27E2A}"/>
              </a:ext>
            </a:extLst>
          </p:cNvPr>
          <p:cNvSpPr/>
          <p:nvPr/>
        </p:nvSpPr>
        <p:spPr>
          <a:xfrm>
            <a:off x="7112000" y="2222500"/>
            <a:ext cx="88900" cy="2413000"/>
          </a:xfrm>
          <a:prstGeom prst="rect">
            <a:avLst/>
          </a:prstGeom>
          <a:solidFill>
            <a:srgbClr val="005AA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2339BE55-0AA4-91F3-9838-0ACA7ED1F9CA}"/>
              </a:ext>
            </a:extLst>
          </p:cNvPr>
          <p:cNvSpPr txBox="1"/>
          <p:nvPr/>
        </p:nvSpPr>
        <p:spPr>
          <a:xfrm>
            <a:off x="7391400" y="2451100"/>
            <a:ext cx="33020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 sz="1700" b="1">
                <a:solidFill>
                  <a:srgbClr val="001F44"/>
                </a:solidFill>
                <a:latin typeface="Aptos" panose="020B0004020202020204" pitchFamily="34" charset="0"/>
              </a:rPr>
              <a:t>Distribución por avance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15B54BEF-E37E-FF07-BE26-07E81FA803DD}"/>
              </a:ext>
            </a:extLst>
          </p:cNvPr>
          <p:cNvSpPr txBox="1"/>
          <p:nvPr/>
        </p:nvSpPr>
        <p:spPr>
          <a:xfrm>
            <a:off x="7391400" y="2921000"/>
            <a:ext cx="3276600" cy="64633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ES" sz="1400" dirty="0">
                <a:solidFill>
                  <a:srgbClr val="002D5A"/>
                </a:solidFill>
                <a:latin typeface="Aptos" panose="020B0004020202020204" pitchFamily="34" charset="0"/>
              </a:rPr>
              <a:t>5 trámites al 100%  </a:t>
            </a:r>
          </a:p>
          <a:p>
            <a:r>
              <a:rPr lang="es-ES" sz="1400" dirty="0">
                <a:solidFill>
                  <a:srgbClr val="002D5A"/>
                </a:solidFill>
                <a:latin typeface="Aptos" panose="020B0004020202020204" pitchFamily="34" charset="0"/>
              </a:rPr>
              <a:t>8 trámites al 50% </a:t>
            </a:r>
          </a:p>
          <a:p>
            <a:r>
              <a:rPr lang="es-ES" sz="1400" dirty="0">
                <a:solidFill>
                  <a:srgbClr val="002D5A"/>
                </a:solidFill>
                <a:latin typeface="Aptos" panose="020B0004020202020204" pitchFamily="34" charset="0"/>
              </a:rPr>
              <a:t>4 trámite al 14%</a:t>
            </a:r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A714C546-D3E7-34BA-ED00-AF0C833F9F14}"/>
              </a:ext>
            </a:extLst>
          </p:cNvPr>
          <p:cNvSpPr/>
          <p:nvPr/>
        </p:nvSpPr>
        <p:spPr>
          <a:xfrm>
            <a:off x="11430000" y="2222500"/>
            <a:ext cx="3810000" cy="2413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D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3D5B4351-4178-FF52-586E-343E845849D5}"/>
              </a:ext>
            </a:extLst>
          </p:cNvPr>
          <p:cNvSpPr/>
          <p:nvPr/>
        </p:nvSpPr>
        <p:spPr>
          <a:xfrm>
            <a:off x="11430000" y="2222500"/>
            <a:ext cx="88900" cy="2413000"/>
          </a:xfrm>
          <a:prstGeom prst="rect">
            <a:avLst/>
          </a:prstGeom>
          <a:solidFill>
            <a:srgbClr val="34A85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0C0E613B-4098-BA77-E5F6-92F5E9F7EA90}"/>
              </a:ext>
            </a:extLst>
          </p:cNvPr>
          <p:cNvSpPr txBox="1"/>
          <p:nvPr/>
        </p:nvSpPr>
        <p:spPr>
          <a:xfrm>
            <a:off x="11709400" y="2451100"/>
            <a:ext cx="33020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 sz="1700" b="1">
                <a:solidFill>
                  <a:srgbClr val="001F44"/>
                </a:solidFill>
                <a:latin typeface="Aptos" panose="020B0004020202020204" pitchFamily="34" charset="0"/>
              </a:rPr>
              <a:t>Lectura del avance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BB27E6A5-116B-6620-03B7-7C12D45F7E8B}"/>
              </a:ext>
            </a:extLst>
          </p:cNvPr>
          <p:cNvSpPr txBox="1"/>
          <p:nvPr/>
        </p:nvSpPr>
        <p:spPr>
          <a:xfrm>
            <a:off x="11709400" y="2921000"/>
            <a:ext cx="3276600" cy="86177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ES" sz="1400" dirty="0">
                <a:solidFill>
                  <a:srgbClr val="002D5A"/>
                </a:solidFill>
                <a:latin typeface="Aptos" panose="020B0004020202020204" pitchFamily="34" charset="0"/>
              </a:rPr>
              <a:t>El primer grupo ya completó análisis, desarrollo, pruebas, implementación capacitación; preparados para el lanzamiento.</a:t>
            </a:r>
            <a:endParaRPr lang="es-GT" sz="1400" dirty="0">
              <a:solidFill>
                <a:srgbClr val="002D5A"/>
              </a:solidFill>
              <a:latin typeface="Aptos" panose="020B0004020202020204" pitchFamily="34" charset="0"/>
            </a:endParaRP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BF99E99-5A3D-1E1B-90E8-46EB35126D18}"/>
              </a:ext>
            </a:extLst>
          </p:cNvPr>
          <p:cNvSpPr txBox="1"/>
          <p:nvPr/>
        </p:nvSpPr>
        <p:spPr>
          <a:xfrm>
            <a:off x="7112000" y="5435600"/>
            <a:ext cx="635000" cy="2308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 sz="1500" b="1" dirty="0">
                <a:solidFill>
                  <a:srgbClr val="001F44"/>
                </a:solidFill>
                <a:latin typeface="Aptos" panose="020B0004020202020204" pitchFamily="34" charset="0"/>
              </a:rPr>
              <a:t>100%</a:t>
            </a:r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C9ABDE7A-E91C-D264-A8A1-BADE3389067A}"/>
              </a:ext>
            </a:extLst>
          </p:cNvPr>
          <p:cNvSpPr/>
          <p:nvPr/>
        </p:nvSpPr>
        <p:spPr>
          <a:xfrm>
            <a:off x="7874000" y="5461000"/>
            <a:ext cx="5461000" cy="254000"/>
          </a:xfrm>
          <a:prstGeom prst="roundRect">
            <a:avLst/>
          </a:prstGeom>
          <a:solidFill>
            <a:srgbClr val="E4ED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29" name="Rectángulo: esquinas redondeadas 28">
            <a:extLst>
              <a:ext uri="{FF2B5EF4-FFF2-40B4-BE49-F238E27FC236}">
                <a16:creationId xmlns:a16="http://schemas.microsoft.com/office/drawing/2014/main" id="{2D9090EC-AE43-8E38-8721-C4CDB1CB4E21}"/>
              </a:ext>
            </a:extLst>
          </p:cNvPr>
          <p:cNvSpPr/>
          <p:nvPr/>
        </p:nvSpPr>
        <p:spPr>
          <a:xfrm>
            <a:off x="7874000" y="5461000"/>
            <a:ext cx="5461000" cy="230832"/>
          </a:xfrm>
          <a:prstGeom prst="roundRect">
            <a:avLst/>
          </a:prstGeom>
          <a:solidFill>
            <a:srgbClr val="34A85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E4B8CBCC-8825-9D66-0F8D-6F30D96A5A6B}"/>
              </a:ext>
            </a:extLst>
          </p:cNvPr>
          <p:cNvSpPr txBox="1"/>
          <p:nvPr/>
        </p:nvSpPr>
        <p:spPr>
          <a:xfrm>
            <a:off x="13589000" y="5435600"/>
            <a:ext cx="1270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 sz="1400">
                <a:solidFill>
                  <a:srgbClr val="002D5A"/>
                </a:solidFill>
                <a:latin typeface="Aptos" panose="020B0004020202020204" pitchFamily="34" charset="0"/>
              </a:rPr>
              <a:t>5 trámites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97DC2E30-6189-D17E-8E03-4F84C897AB7A}"/>
              </a:ext>
            </a:extLst>
          </p:cNvPr>
          <p:cNvSpPr txBox="1"/>
          <p:nvPr/>
        </p:nvSpPr>
        <p:spPr>
          <a:xfrm>
            <a:off x="7112000" y="6324600"/>
            <a:ext cx="635000" cy="2308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 sz="1500" b="1" dirty="0">
                <a:solidFill>
                  <a:srgbClr val="001F44"/>
                </a:solidFill>
                <a:latin typeface="Aptos" panose="020B0004020202020204" pitchFamily="34" charset="0"/>
              </a:rPr>
              <a:t>50%</a:t>
            </a:r>
          </a:p>
        </p:txBody>
      </p:sp>
      <p:sp>
        <p:nvSpPr>
          <p:cNvPr id="32" name="Rectángulo: esquinas redondeadas 31">
            <a:extLst>
              <a:ext uri="{FF2B5EF4-FFF2-40B4-BE49-F238E27FC236}">
                <a16:creationId xmlns:a16="http://schemas.microsoft.com/office/drawing/2014/main" id="{8CEA62B4-1E2C-B559-B341-401DDBC67AE1}"/>
              </a:ext>
            </a:extLst>
          </p:cNvPr>
          <p:cNvSpPr/>
          <p:nvPr/>
        </p:nvSpPr>
        <p:spPr>
          <a:xfrm>
            <a:off x="7874000" y="6350000"/>
            <a:ext cx="5461000" cy="254000"/>
          </a:xfrm>
          <a:prstGeom prst="roundRect">
            <a:avLst/>
          </a:prstGeom>
          <a:solidFill>
            <a:srgbClr val="E4ED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33" name="Rectángulo: esquinas redondeadas 32">
            <a:extLst>
              <a:ext uri="{FF2B5EF4-FFF2-40B4-BE49-F238E27FC236}">
                <a16:creationId xmlns:a16="http://schemas.microsoft.com/office/drawing/2014/main" id="{4BDB8BE5-1C6C-95B9-94F6-9E528B7410EE}"/>
              </a:ext>
            </a:extLst>
          </p:cNvPr>
          <p:cNvSpPr/>
          <p:nvPr/>
        </p:nvSpPr>
        <p:spPr>
          <a:xfrm>
            <a:off x="7874000" y="6350000"/>
            <a:ext cx="3048000" cy="254000"/>
          </a:xfrm>
          <a:prstGeom prst="roundRect">
            <a:avLst/>
          </a:prstGeom>
          <a:solidFill>
            <a:srgbClr val="F5B4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4883B243-05B3-0413-E415-4338789CEB44}"/>
              </a:ext>
            </a:extLst>
          </p:cNvPr>
          <p:cNvSpPr txBox="1"/>
          <p:nvPr/>
        </p:nvSpPr>
        <p:spPr>
          <a:xfrm>
            <a:off x="13589000" y="6324600"/>
            <a:ext cx="1270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 sz="1400" dirty="0">
                <a:solidFill>
                  <a:srgbClr val="002D5A"/>
                </a:solidFill>
                <a:latin typeface="Aptos" panose="020B0004020202020204" pitchFamily="34" charset="0"/>
              </a:rPr>
              <a:t>8 trámites</a:t>
            </a: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57434AC5-5698-0E84-D5F5-B2428F31AC94}"/>
              </a:ext>
            </a:extLst>
          </p:cNvPr>
          <p:cNvSpPr txBox="1"/>
          <p:nvPr/>
        </p:nvSpPr>
        <p:spPr>
          <a:xfrm>
            <a:off x="7112000" y="7213600"/>
            <a:ext cx="635000" cy="2308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 sz="1500" b="1">
                <a:solidFill>
                  <a:srgbClr val="001F44"/>
                </a:solidFill>
                <a:latin typeface="Aptos" panose="020B0004020202020204" pitchFamily="34" charset="0"/>
              </a:rPr>
              <a:t>14%</a:t>
            </a:r>
          </a:p>
        </p:txBody>
      </p:sp>
      <p:sp>
        <p:nvSpPr>
          <p:cNvPr id="36" name="Rectángulo: esquinas redondeadas 35">
            <a:extLst>
              <a:ext uri="{FF2B5EF4-FFF2-40B4-BE49-F238E27FC236}">
                <a16:creationId xmlns:a16="http://schemas.microsoft.com/office/drawing/2014/main" id="{8AD45A07-C9A0-7448-5580-8A2F12DEF8D8}"/>
              </a:ext>
            </a:extLst>
          </p:cNvPr>
          <p:cNvSpPr/>
          <p:nvPr/>
        </p:nvSpPr>
        <p:spPr>
          <a:xfrm>
            <a:off x="7874000" y="7239000"/>
            <a:ext cx="5461000" cy="254000"/>
          </a:xfrm>
          <a:prstGeom prst="roundRect">
            <a:avLst/>
          </a:prstGeom>
          <a:solidFill>
            <a:srgbClr val="E4ED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37" name="Rectángulo: esquinas redondeadas 36">
            <a:extLst>
              <a:ext uri="{FF2B5EF4-FFF2-40B4-BE49-F238E27FC236}">
                <a16:creationId xmlns:a16="http://schemas.microsoft.com/office/drawing/2014/main" id="{9420A28D-AC1E-F21F-228E-653D49495C1F}"/>
              </a:ext>
            </a:extLst>
          </p:cNvPr>
          <p:cNvSpPr/>
          <p:nvPr/>
        </p:nvSpPr>
        <p:spPr>
          <a:xfrm>
            <a:off x="7874000" y="7239000"/>
            <a:ext cx="762000" cy="254000"/>
          </a:xfrm>
          <a:prstGeom prst="roundRect">
            <a:avLst/>
          </a:prstGeom>
          <a:solidFill>
            <a:srgbClr val="EB7D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DB9C0CB6-4313-369E-C428-761337EDACAD}"/>
              </a:ext>
            </a:extLst>
          </p:cNvPr>
          <p:cNvSpPr txBox="1"/>
          <p:nvPr/>
        </p:nvSpPr>
        <p:spPr>
          <a:xfrm>
            <a:off x="13589000" y="7213600"/>
            <a:ext cx="1270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 sz="1400" dirty="0">
                <a:solidFill>
                  <a:srgbClr val="002D5A"/>
                </a:solidFill>
                <a:latin typeface="Aptos" panose="020B0004020202020204" pitchFamily="34" charset="0"/>
              </a:rPr>
              <a:t>4 trámites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1B46696C-F2DC-99C6-EFC2-B66AF0341616}"/>
              </a:ext>
            </a:extLst>
          </p:cNvPr>
          <p:cNvSpPr txBox="1"/>
          <p:nvPr/>
        </p:nvSpPr>
        <p:spPr>
          <a:xfrm>
            <a:off x="7112000" y="8991600"/>
            <a:ext cx="635000" cy="2308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 sz="1500" b="1">
                <a:solidFill>
                  <a:srgbClr val="001F44"/>
                </a:solidFill>
                <a:latin typeface="Aptos" panose="020B0004020202020204" pitchFamily="34" charset="0"/>
              </a:rPr>
              <a:t>0%</a:t>
            </a:r>
          </a:p>
        </p:txBody>
      </p:sp>
      <p:sp>
        <p:nvSpPr>
          <p:cNvPr id="44" name="Rectángulo: esquinas redondeadas 43">
            <a:extLst>
              <a:ext uri="{FF2B5EF4-FFF2-40B4-BE49-F238E27FC236}">
                <a16:creationId xmlns:a16="http://schemas.microsoft.com/office/drawing/2014/main" id="{EB28F03A-F4CD-D1C6-3D4F-F6170172C9E3}"/>
              </a:ext>
            </a:extLst>
          </p:cNvPr>
          <p:cNvSpPr/>
          <p:nvPr/>
        </p:nvSpPr>
        <p:spPr>
          <a:xfrm>
            <a:off x="7874000" y="9017000"/>
            <a:ext cx="5461000" cy="254000"/>
          </a:xfrm>
          <a:prstGeom prst="roundRect">
            <a:avLst/>
          </a:prstGeom>
          <a:solidFill>
            <a:srgbClr val="E4ED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45" name="Rectángulo: esquinas redondeadas 44">
            <a:extLst>
              <a:ext uri="{FF2B5EF4-FFF2-40B4-BE49-F238E27FC236}">
                <a16:creationId xmlns:a16="http://schemas.microsoft.com/office/drawing/2014/main" id="{FAA9F8C0-D03A-7190-06C7-2E132A5B3037}"/>
              </a:ext>
            </a:extLst>
          </p:cNvPr>
          <p:cNvSpPr/>
          <p:nvPr/>
        </p:nvSpPr>
        <p:spPr>
          <a:xfrm>
            <a:off x="7874000" y="9017000"/>
            <a:ext cx="101600" cy="254000"/>
          </a:xfrm>
          <a:prstGeom prst="roundRect">
            <a:avLst/>
          </a:prstGeom>
          <a:solidFill>
            <a:srgbClr val="DF363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436F19A7-EFB1-762C-0B43-19A42E70EFBE}"/>
              </a:ext>
            </a:extLst>
          </p:cNvPr>
          <p:cNvSpPr txBox="1"/>
          <p:nvPr/>
        </p:nvSpPr>
        <p:spPr>
          <a:xfrm>
            <a:off x="13589000" y="8991600"/>
            <a:ext cx="1270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 sz="1400">
                <a:solidFill>
                  <a:srgbClr val="002D5A"/>
                </a:solidFill>
                <a:latin typeface="Aptos" panose="020B0004020202020204" pitchFamily="34" charset="0"/>
              </a:rPr>
              <a:t>4 trámites</a:t>
            </a:r>
          </a:p>
        </p:txBody>
      </p:sp>
      <p:sp>
        <p:nvSpPr>
          <p:cNvPr id="47" name="Rectángulo 46">
            <a:extLst>
              <a:ext uri="{FF2B5EF4-FFF2-40B4-BE49-F238E27FC236}">
                <a16:creationId xmlns:a16="http://schemas.microsoft.com/office/drawing/2014/main" id="{F5476E02-245F-7F8D-FEF3-97A23387FD08}"/>
              </a:ext>
            </a:extLst>
          </p:cNvPr>
          <p:cNvSpPr/>
          <p:nvPr/>
        </p:nvSpPr>
        <p:spPr>
          <a:xfrm>
            <a:off x="0" y="8636000"/>
            <a:ext cx="16256000" cy="508000"/>
          </a:xfrm>
          <a:prstGeom prst="rect">
            <a:avLst/>
          </a:prstGeom>
          <a:solidFill>
            <a:srgbClr val="001F4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78EAA421-981B-FEEE-A924-F1605A184B62}"/>
              </a:ext>
            </a:extLst>
          </p:cNvPr>
          <p:cNvSpPr txBox="1"/>
          <p:nvPr/>
        </p:nvSpPr>
        <p:spPr>
          <a:xfrm>
            <a:off x="889000" y="8801100"/>
            <a:ext cx="9652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ES" sz="1100">
                <a:solidFill>
                  <a:srgbClr val="FFFFFF"/>
                </a:solidFill>
                <a:latin typeface="Aptos" panose="020B0004020202020204" pitchFamily="34" charset="0"/>
              </a:rPr>
              <a:t>DGAC · Avances del proyecto de modernización digital · 15 de julio de 2026</a:t>
            </a:r>
            <a:endParaRPr lang="es-GT" sz="11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9" name="CuadroTexto 48">
            <a:extLst>
              <a:ext uri="{FF2B5EF4-FFF2-40B4-BE49-F238E27FC236}">
                <a16:creationId xmlns:a16="http://schemas.microsoft.com/office/drawing/2014/main" id="{701AB4C1-22E2-7525-CD9E-CF7683EF19EF}"/>
              </a:ext>
            </a:extLst>
          </p:cNvPr>
          <p:cNvSpPr txBox="1"/>
          <p:nvPr/>
        </p:nvSpPr>
        <p:spPr>
          <a:xfrm>
            <a:off x="9969500" y="8801100"/>
            <a:ext cx="5334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s-ES" sz="1100">
                <a:solidFill>
                  <a:srgbClr val="FFFFFF"/>
                </a:solidFill>
                <a:latin typeface="Aptos" panose="020B0004020202020204" pitchFamily="34" charset="0"/>
              </a:rPr>
              <a:t>Servicios más ágiles, eficientes y transparentes</a:t>
            </a:r>
            <a:endParaRPr lang="es-GT" sz="11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53303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6118D6DF-8B46-39A8-4EC4-C06CBCA1765F}"/>
              </a:ext>
            </a:extLst>
          </p:cNvPr>
          <p:cNvSpPr/>
          <p:nvPr/>
        </p:nvSpPr>
        <p:spPr>
          <a:xfrm>
            <a:off x="0" y="0"/>
            <a:ext cx="16256000" cy="9144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A5B7740-510F-F885-FBF9-1BDD0D8324DC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215900"/>
            <a:ext cx="1968500" cy="482600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7ED22369-F739-2280-5176-BC9E40ED0B3B}"/>
              </a:ext>
            </a:extLst>
          </p:cNvPr>
          <p:cNvSpPr txBox="1"/>
          <p:nvPr/>
        </p:nvSpPr>
        <p:spPr>
          <a:xfrm>
            <a:off x="812800" y="1219200"/>
            <a:ext cx="12954000" cy="44627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 sz="2900" b="1">
                <a:solidFill>
                  <a:srgbClr val="001F44"/>
                </a:solidFill>
                <a:latin typeface="Aptos" panose="020B0004020202020204" pitchFamily="34" charset="0"/>
              </a:rPr>
              <a:t>TRÁMITES EN ANÁLISIS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B197FD60-5E14-B5FE-B10A-74A21C14DEA5}"/>
              </a:ext>
            </a:extLst>
          </p:cNvPr>
          <p:cNvSpPr/>
          <p:nvPr/>
        </p:nvSpPr>
        <p:spPr>
          <a:xfrm>
            <a:off x="812800" y="1854200"/>
            <a:ext cx="889000" cy="63500"/>
          </a:xfrm>
          <a:prstGeom prst="rect">
            <a:avLst/>
          </a:prstGeom>
          <a:solidFill>
            <a:srgbClr val="005AA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8D422FD-7F8E-065C-635F-F70853EA540D}"/>
              </a:ext>
            </a:extLst>
          </p:cNvPr>
          <p:cNvSpPr/>
          <p:nvPr/>
        </p:nvSpPr>
        <p:spPr>
          <a:xfrm>
            <a:off x="15011400" y="0"/>
            <a:ext cx="635000" cy="584200"/>
          </a:xfrm>
          <a:prstGeom prst="rect">
            <a:avLst/>
          </a:prstGeom>
          <a:solidFill>
            <a:srgbClr val="005AA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05DBF217-6889-6C3A-EFAA-389EB082B844}"/>
              </a:ext>
            </a:extLst>
          </p:cNvPr>
          <p:cNvSpPr txBox="1"/>
          <p:nvPr/>
        </p:nvSpPr>
        <p:spPr>
          <a:xfrm>
            <a:off x="15227300" y="127000"/>
            <a:ext cx="3048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600" b="1" dirty="0">
                <a:solidFill>
                  <a:srgbClr val="FFFFFF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DA57646B-7544-AC58-7B7F-93C9C26CAA68}"/>
              </a:ext>
            </a:extLst>
          </p:cNvPr>
          <p:cNvSpPr/>
          <p:nvPr/>
        </p:nvSpPr>
        <p:spPr>
          <a:xfrm>
            <a:off x="1016000" y="2095500"/>
            <a:ext cx="2032000" cy="381000"/>
          </a:xfrm>
          <a:prstGeom prst="roundRect">
            <a:avLst/>
          </a:prstGeom>
          <a:solidFill>
            <a:srgbClr val="EB7D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47C5792-9AF1-E511-6C62-27B92B6B3B3B}"/>
              </a:ext>
            </a:extLst>
          </p:cNvPr>
          <p:cNvSpPr txBox="1"/>
          <p:nvPr/>
        </p:nvSpPr>
        <p:spPr>
          <a:xfrm>
            <a:off x="1117600" y="2184400"/>
            <a:ext cx="18288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100" b="1" dirty="0">
                <a:solidFill>
                  <a:srgbClr val="FFFFFF"/>
                </a:solidFill>
                <a:latin typeface="Aptos" panose="020B0004020202020204" pitchFamily="34" charset="0"/>
              </a:rPr>
              <a:t>14%  DE AVANCE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C50F484C-ED3D-72A1-3754-FF264C31A997}"/>
              </a:ext>
            </a:extLst>
          </p:cNvPr>
          <p:cNvSpPr/>
          <p:nvPr/>
        </p:nvSpPr>
        <p:spPr>
          <a:xfrm>
            <a:off x="1117600" y="3175000"/>
            <a:ext cx="2159000" cy="2159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D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D85299EE-4DB6-CA7C-37B9-9001D2D51D86}"/>
              </a:ext>
            </a:extLst>
          </p:cNvPr>
          <p:cNvSpPr/>
          <p:nvPr/>
        </p:nvSpPr>
        <p:spPr>
          <a:xfrm>
            <a:off x="1397000" y="3454400"/>
            <a:ext cx="1600200" cy="1600200"/>
          </a:xfrm>
          <a:prstGeom prst="ellipse">
            <a:avLst/>
          </a:prstGeom>
          <a:solidFill>
            <a:srgbClr val="EB7D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A548A331-62EE-F731-3CF0-4127C3DE79DF}"/>
              </a:ext>
            </a:extLst>
          </p:cNvPr>
          <p:cNvSpPr/>
          <p:nvPr/>
        </p:nvSpPr>
        <p:spPr>
          <a:xfrm>
            <a:off x="1676400" y="3733800"/>
            <a:ext cx="1041400" cy="1041400"/>
          </a:xfrm>
          <a:prstGeom prst="ellipse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4F1FD0DD-E87A-C00C-ACB1-E9288682A687}"/>
              </a:ext>
            </a:extLst>
          </p:cNvPr>
          <p:cNvSpPr txBox="1"/>
          <p:nvPr/>
        </p:nvSpPr>
        <p:spPr>
          <a:xfrm>
            <a:off x="1498600" y="3835400"/>
            <a:ext cx="1397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3000" b="1" dirty="0">
                <a:solidFill>
                  <a:srgbClr val="001F44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173170F5-A2C4-271B-9EC7-89DCF4FABF99}"/>
              </a:ext>
            </a:extLst>
          </p:cNvPr>
          <p:cNvSpPr txBox="1"/>
          <p:nvPr/>
        </p:nvSpPr>
        <p:spPr>
          <a:xfrm>
            <a:off x="1435100" y="4445000"/>
            <a:ext cx="15240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200" b="1">
                <a:solidFill>
                  <a:srgbClr val="001F44"/>
                </a:solidFill>
                <a:latin typeface="Aptos" panose="020B0004020202020204" pitchFamily="34" charset="0"/>
              </a:rPr>
              <a:t>Trámites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8987C367-66FC-B56C-2A54-60D4F10480AD}"/>
              </a:ext>
            </a:extLst>
          </p:cNvPr>
          <p:cNvSpPr/>
          <p:nvPr/>
        </p:nvSpPr>
        <p:spPr>
          <a:xfrm>
            <a:off x="4826000" y="2794000"/>
            <a:ext cx="9398000" cy="711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D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F76ABDD1-B931-BDB7-6041-6CE24D3565B3}"/>
              </a:ext>
            </a:extLst>
          </p:cNvPr>
          <p:cNvSpPr/>
          <p:nvPr/>
        </p:nvSpPr>
        <p:spPr>
          <a:xfrm>
            <a:off x="4953000" y="2882900"/>
            <a:ext cx="381000" cy="381000"/>
          </a:xfrm>
          <a:prstGeom prst="roundRect">
            <a:avLst/>
          </a:prstGeom>
          <a:solidFill>
            <a:srgbClr val="EB7D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887495D7-7D5F-3AD4-3704-B199D4E68C19}"/>
              </a:ext>
            </a:extLst>
          </p:cNvPr>
          <p:cNvSpPr txBox="1"/>
          <p:nvPr/>
        </p:nvSpPr>
        <p:spPr>
          <a:xfrm>
            <a:off x="5029200" y="2946400"/>
            <a:ext cx="2286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100" b="1">
                <a:solidFill>
                  <a:srgbClr val="FFFFFF"/>
                </a:solidFill>
                <a:latin typeface="Aptos" panose="020B0004020202020204" pitchFamily="34" charset="0"/>
              </a:rPr>
              <a:t>11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8897177-01BF-63E2-137C-9F0F69F5AE37}"/>
              </a:ext>
            </a:extLst>
          </p:cNvPr>
          <p:cNvSpPr txBox="1"/>
          <p:nvPr/>
        </p:nvSpPr>
        <p:spPr>
          <a:xfrm>
            <a:off x="5511800" y="2882900"/>
            <a:ext cx="85598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ES" sz="1200">
                <a:solidFill>
                  <a:srgbClr val="002D5A"/>
                </a:solidFill>
                <a:latin typeface="Aptos" panose="020B0004020202020204" pitchFamily="34" charset="0"/>
              </a:rPr>
              <a:t>Autorización de Altura Máxima Permisible</a:t>
            </a:r>
            <a:endParaRPr lang="es-GT" sz="1200">
              <a:solidFill>
                <a:srgbClr val="002D5A"/>
              </a:solidFill>
              <a:latin typeface="Aptos" panose="020B0004020202020204" pitchFamily="34" charset="0"/>
            </a:endParaRP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A33E449E-6F87-ED2D-AC7A-AD453AF62FE9}"/>
              </a:ext>
            </a:extLst>
          </p:cNvPr>
          <p:cNvSpPr/>
          <p:nvPr/>
        </p:nvSpPr>
        <p:spPr>
          <a:xfrm>
            <a:off x="4826000" y="3581400"/>
            <a:ext cx="9398000" cy="711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D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9B861EC1-281B-7FE6-349A-F68B8E8C6C09}"/>
              </a:ext>
            </a:extLst>
          </p:cNvPr>
          <p:cNvSpPr/>
          <p:nvPr/>
        </p:nvSpPr>
        <p:spPr>
          <a:xfrm>
            <a:off x="4953000" y="3670300"/>
            <a:ext cx="381000" cy="381000"/>
          </a:xfrm>
          <a:prstGeom prst="roundRect">
            <a:avLst/>
          </a:prstGeom>
          <a:solidFill>
            <a:srgbClr val="EB7D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1812A334-8E04-4550-6A64-B562699668CA}"/>
              </a:ext>
            </a:extLst>
          </p:cNvPr>
          <p:cNvSpPr txBox="1"/>
          <p:nvPr/>
        </p:nvSpPr>
        <p:spPr>
          <a:xfrm>
            <a:off x="5029200" y="3733800"/>
            <a:ext cx="2286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100" b="1">
                <a:solidFill>
                  <a:srgbClr val="FFFFFF"/>
                </a:solidFill>
                <a:latin typeface="Aptos" panose="020B0004020202020204" pitchFamily="34" charset="0"/>
              </a:rPr>
              <a:t>12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1726ACDB-A4C6-5609-1B98-FEB1D243EC00}"/>
              </a:ext>
            </a:extLst>
          </p:cNvPr>
          <p:cNvSpPr txBox="1"/>
          <p:nvPr/>
        </p:nvSpPr>
        <p:spPr>
          <a:xfrm>
            <a:off x="5511800" y="3670300"/>
            <a:ext cx="85598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ES" sz="1200">
                <a:solidFill>
                  <a:srgbClr val="002D5A"/>
                </a:solidFill>
                <a:latin typeface="Aptos" panose="020B0004020202020204" pitchFamily="34" charset="0"/>
              </a:rPr>
              <a:t>Construcción/Operación/Modificación de Pista</a:t>
            </a:r>
            <a:endParaRPr lang="es-GT" sz="1200">
              <a:solidFill>
                <a:srgbClr val="002D5A"/>
              </a:solidFill>
              <a:latin typeface="Aptos" panose="020B0004020202020204" pitchFamily="34" charset="0"/>
            </a:endParaRPr>
          </a:p>
        </p:txBody>
      </p:sp>
      <p:sp>
        <p:nvSpPr>
          <p:cNvPr id="24" name="Rectángulo: esquinas redondeadas 23">
            <a:extLst>
              <a:ext uri="{FF2B5EF4-FFF2-40B4-BE49-F238E27FC236}">
                <a16:creationId xmlns:a16="http://schemas.microsoft.com/office/drawing/2014/main" id="{2300EADB-D83D-1716-7159-5D7CB5B3B0E4}"/>
              </a:ext>
            </a:extLst>
          </p:cNvPr>
          <p:cNvSpPr/>
          <p:nvPr/>
        </p:nvSpPr>
        <p:spPr>
          <a:xfrm>
            <a:off x="4826000" y="4368800"/>
            <a:ext cx="9398000" cy="711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D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25" name="Rectángulo: esquinas redondeadas 24">
            <a:extLst>
              <a:ext uri="{FF2B5EF4-FFF2-40B4-BE49-F238E27FC236}">
                <a16:creationId xmlns:a16="http://schemas.microsoft.com/office/drawing/2014/main" id="{F9B3766C-2294-CE3E-CE92-3ED34ABF1255}"/>
              </a:ext>
            </a:extLst>
          </p:cNvPr>
          <p:cNvSpPr/>
          <p:nvPr/>
        </p:nvSpPr>
        <p:spPr>
          <a:xfrm>
            <a:off x="4953000" y="4457700"/>
            <a:ext cx="381000" cy="381000"/>
          </a:xfrm>
          <a:prstGeom prst="roundRect">
            <a:avLst/>
          </a:prstGeom>
          <a:solidFill>
            <a:srgbClr val="EB7D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EB99F3FD-10F3-7744-9623-F7CD53616B48}"/>
              </a:ext>
            </a:extLst>
          </p:cNvPr>
          <p:cNvSpPr txBox="1"/>
          <p:nvPr/>
        </p:nvSpPr>
        <p:spPr>
          <a:xfrm>
            <a:off x="5029200" y="4521200"/>
            <a:ext cx="2286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100" b="1">
                <a:solidFill>
                  <a:srgbClr val="FFFFFF"/>
                </a:solidFill>
                <a:latin typeface="Aptos" panose="020B0004020202020204" pitchFamily="34" charset="0"/>
              </a:rPr>
              <a:t>13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FC637689-891E-FD5F-64B1-182256951D85}"/>
              </a:ext>
            </a:extLst>
          </p:cNvPr>
          <p:cNvSpPr txBox="1"/>
          <p:nvPr/>
        </p:nvSpPr>
        <p:spPr>
          <a:xfrm>
            <a:off x="5511800" y="4457700"/>
            <a:ext cx="85598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ES" sz="1200">
                <a:solidFill>
                  <a:srgbClr val="002D5A"/>
                </a:solidFill>
                <a:latin typeface="Aptos" panose="020B0004020202020204" pitchFamily="34" charset="0"/>
              </a:rPr>
              <a:t>Construcción/Operación/Modificación de Helipuerto</a:t>
            </a:r>
            <a:endParaRPr lang="es-GT" sz="1200">
              <a:solidFill>
                <a:srgbClr val="002D5A"/>
              </a:solidFill>
              <a:latin typeface="Aptos" panose="020B0004020202020204" pitchFamily="34" charset="0"/>
            </a:endParaRPr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7086B247-FF29-CE34-6FA6-7EFDE76486B9}"/>
              </a:ext>
            </a:extLst>
          </p:cNvPr>
          <p:cNvSpPr/>
          <p:nvPr/>
        </p:nvSpPr>
        <p:spPr>
          <a:xfrm>
            <a:off x="1142999" y="6896100"/>
            <a:ext cx="13397593" cy="1096377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D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909F7ACB-F644-01F4-FC89-87240C0B5BB2}"/>
              </a:ext>
            </a:extLst>
          </p:cNvPr>
          <p:cNvSpPr/>
          <p:nvPr/>
        </p:nvSpPr>
        <p:spPr>
          <a:xfrm>
            <a:off x="1143000" y="6896100"/>
            <a:ext cx="65314" cy="1028700"/>
          </a:xfrm>
          <a:prstGeom prst="rect">
            <a:avLst/>
          </a:prstGeom>
          <a:solidFill>
            <a:srgbClr val="EB7D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96A05745-A4FA-1EDC-9A4A-ABF8D7127276}"/>
              </a:ext>
            </a:extLst>
          </p:cNvPr>
          <p:cNvSpPr txBox="1"/>
          <p:nvPr/>
        </p:nvSpPr>
        <p:spPr>
          <a:xfrm>
            <a:off x="1422400" y="7124700"/>
            <a:ext cx="88900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 sz="1700" b="1">
                <a:solidFill>
                  <a:srgbClr val="001F44"/>
                </a:solidFill>
                <a:latin typeface="Aptos" panose="020B0004020202020204" pitchFamily="34" charset="0"/>
              </a:rPr>
              <a:t>Estado actual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A866C896-1F26-3F90-336D-F64DE38740A3}"/>
              </a:ext>
            </a:extLst>
          </p:cNvPr>
          <p:cNvSpPr txBox="1"/>
          <p:nvPr/>
        </p:nvSpPr>
        <p:spPr>
          <a:xfrm>
            <a:off x="1422400" y="7594600"/>
            <a:ext cx="12742636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400" dirty="0">
                <a:solidFill>
                  <a:srgbClr val="002D5A"/>
                </a:solidFill>
                <a:latin typeface="Aptos" panose="020B0004020202020204" pitchFamily="34" charset="0"/>
              </a:rPr>
              <a:t>Los trámites de infraestructura se encuentran en análisis de requerimientos. Codificación, pruebas, implementación, capacitación y lanzamiento aún no han iniciado.</a:t>
            </a:r>
            <a:endParaRPr lang="es-GT" sz="1400" dirty="0">
              <a:solidFill>
                <a:srgbClr val="002D5A"/>
              </a:solidFill>
              <a:latin typeface="Aptos" panose="020B0004020202020204" pitchFamily="34" charset="0"/>
            </a:endParaRP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49A8465A-ED4A-6F5D-3F0F-338F3312180B}"/>
              </a:ext>
            </a:extLst>
          </p:cNvPr>
          <p:cNvSpPr/>
          <p:nvPr/>
        </p:nvSpPr>
        <p:spPr>
          <a:xfrm>
            <a:off x="0" y="8636000"/>
            <a:ext cx="16256000" cy="508000"/>
          </a:xfrm>
          <a:prstGeom prst="rect">
            <a:avLst/>
          </a:prstGeom>
          <a:solidFill>
            <a:srgbClr val="001F4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4EDCB799-EE0C-C7EB-677F-6297922249B8}"/>
              </a:ext>
            </a:extLst>
          </p:cNvPr>
          <p:cNvSpPr txBox="1"/>
          <p:nvPr/>
        </p:nvSpPr>
        <p:spPr>
          <a:xfrm>
            <a:off x="889000" y="8801100"/>
            <a:ext cx="9652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ES" sz="1100">
                <a:solidFill>
                  <a:srgbClr val="FFFFFF"/>
                </a:solidFill>
                <a:latin typeface="Aptos" panose="020B0004020202020204" pitchFamily="34" charset="0"/>
              </a:rPr>
              <a:t>DGAC · Avances del proyecto de modernización digital · 15 de julio de 2026</a:t>
            </a:r>
            <a:endParaRPr lang="es-GT" sz="11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268144FA-A18E-B54D-081E-3F01F2B2341F}"/>
              </a:ext>
            </a:extLst>
          </p:cNvPr>
          <p:cNvSpPr txBox="1"/>
          <p:nvPr/>
        </p:nvSpPr>
        <p:spPr>
          <a:xfrm>
            <a:off x="9969500" y="8801100"/>
            <a:ext cx="5334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s-ES" sz="1100">
                <a:solidFill>
                  <a:srgbClr val="FFFFFF"/>
                </a:solidFill>
                <a:latin typeface="Aptos" panose="020B0004020202020204" pitchFamily="34" charset="0"/>
              </a:rPr>
              <a:t>Servicios más ágiles, eficientes y transparentes</a:t>
            </a:r>
            <a:endParaRPr lang="es-GT" sz="11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5" name="Rectángulo: esquinas redondeadas 34">
            <a:extLst>
              <a:ext uri="{FF2B5EF4-FFF2-40B4-BE49-F238E27FC236}">
                <a16:creationId xmlns:a16="http://schemas.microsoft.com/office/drawing/2014/main" id="{37C664B2-CD6F-8095-727E-578BE93B4337}"/>
              </a:ext>
            </a:extLst>
          </p:cNvPr>
          <p:cNvSpPr/>
          <p:nvPr/>
        </p:nvSpPr>
        <p:spPr>
          <a:xfrm>
            <a:off x="4826000" y="5238750"/>
            <a:ext cx="9398000" cy="711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D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37" name="Rectángulo: esquinas redondeadas 36">
            <a:extLst>
              <a:ext uri="{FF2B5EF4-FFF2-40B4-BE49-F238E27FC236}">
                <a16:creationId xmlns:a16="http://schemas.microsoft.com/office/drawing/2014/main" id="{949B7B44-89D2-8471-A718-DB8D678D0888}"/>
              </a:ext>
            </a:extLst>
          </p:cNvPr>
          <p:cNvSpPr/>
          <p:nvPr/>
        </p:nvSpPr>
        <p:spPr>
          <a:xfrm>
            <a:off x="4953000" y="5327650"/>
            <a:ext cx="381000" cy="381000"/>
          </a:xfrm>
          <a:prstGeom prst="roundRect">
            <a:avLst/>
          </a:prstGeom>
          <a:solidFill>
            <a:srgbClr val="EB7D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1B5B7CBA-425F-6482-6871-B6D30CBBFCFE}"/>
              </a:ext>
            </a:extLst>
          </p:cNvPr>
          <p:cNvSpPr txBox="1"/>
          <p:nvPr/>
        </p:nvSpPr>
        <p:spPr>
          <a:xfrm>
            <a:off x="5029200" y="5391150"/>
            <a:ext cx="2286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100" b="1">
                <a:solidFill>
                  <a:srgbClr val="FFFFFF"/>
                </a:solidFill>
                <a:latin typeface="Aptos" panose="020B0004020202020204" pitchFamily="34" charset="0"/>
              </a:rPr>
              <a:t>13</a:t>
            </a: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E064D682-3426-8311-9784-BE3141C6F207}"/>
              </a:ext>
            </a:extLst>
          </p:cNvPr>
          <p:cNvSpPr txBox="1"/>
          <p:nvPr/>
        </p:nvSpPr>
        <p:spPr>
          <a:xfrm>
            <a:off x="5511800" y="5327650"/>
            <a:ext cx="85598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 sz="1200" dirty="0">
                <a:solidFill>
                  <a:srgbClr val="002D5A"/>
                </a:solidFill>
                <a:latin typeface="Aptos" panose="020B0004020202020204" pitchFamily="34" charset="0"/>
              </a:rPr>
              <a:t>Permiso de ingreso a instalaciones del Aeropuerto Internacional La Aurora</a:t>
            </a:r>
          </a:p>
        </p:txBody>
      </p:sp>
    </p:spTree>
    <p:extLst>
      <p:ext uri="{BB962C8B-B14F-4D97-AF65-F5344CB8AC3E}">
        <p14:creationId xmlns:p14="http://schemas.microsoft.com/office/powerpoint/2010/main" val="37743101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F8E3D2AE-CC1A-78C6-0061-C0DC25F4F001}"/>
              </a:ext>
            </a:extLst>
          </p:cNvPr>
          <p:cNvSpPr/>
          <p:nvPr/>
        </p:nvSpPr>
        <p:spPr>
          <a:xfrm>
            <a:off x="0" y="0"/>
            <a:ext cx="16256000" cy="9144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264FCA5-D2D7-2A3F-3243-25A2685E8C7A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215900"/>
            <a:ext cx="1968500" cy="482600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C1F3BB9F-439E-822D-20D0-16F32A570916}"/>
              </a:ext>
            </a:extLst>
          </p:cNvPr>
          <p:cNvSpPr txBox="1"/>
          <p:nvPr/>
        </p:nvSpPr>
        <p:spPr>
          <a:xfrm>
            <a:off x="812800" y="1219200"/>
            <a:ext cx="12954000" cy="44627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 sz="2900" b="1">
                <a:solidFill>
                  <a:srgbClr val="001F44"/>
                </a:solidFill>
                <a:latin typeface="Aptos" panose="020B0004020202020204" pitchFamily="34" charset="0"/>
              </a:rPr>
              <a:t>TRÁMITES EN DESARROLLO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83A8A40D-3535-5E58-05E1-8FBC9E509875}"/>
              </a:ext>
            </a:extLst>
          </p:cNvPr>
          <p:cNvSpPr/>
          <p:nvPr/>
        </p:nvSpPr>
        <p:spPr>
          <a:xfrm>
            <a:off x="812800" y="1854200"/>
            <a:ext cx="889000" cy="63500"/>
          </a:xfrm>
          <a:prstGeom prst="rect">
            <a:avLst/>
          </a:prstGeom>
          <a:solidFill>
            <a:srgbClr val="005AA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5B4875F-D4EE-DBD9-5223-26582056E5D4}"/>
              </a:ext>
            </a:extLst>
          </p:cNvPr>
          <p:cNvSpPr/>
          <p:nvPr/>
        </p:nvSpPr>
        <p:spPr>
          <a:xfrm>
            <a:off x="15011400" y="0"/>
            <a:ext cx="635000" cy="584200"/>
          </a:xfrm>
          <a:prstGeom prst="rect">
            <a:avLst/>
          </a:prstGeom>
          <a:solidFill>
            <a:srgbClr val="005AA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40E0620E-A206-CA0C-C800-20A54020F84D}"/>
              </a:ext>
            </a:extLst>
          </p:cNvPr>
          <p:cNvSpPr txBox="1"/>
          <p:nvPr/>
        </p:nvSpPr>
        <p:spPr>
          <a:xfrm>
            <a:off x="15227300" y="127000"/>
            <a:ext cx="3048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600" b="1">
                <a:solidFill>
                  <a:srgbClr val="FFFFFF"/>
                </a:solidFill>
                <a:latin typeface="Aptos" panose="020B0004020202020204" pitchFamily="34" charset="0"/>
              </a:rPr>
              <a:t>6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B8A7BB59-DA3E-8C26-BF77-0592915D8126}"/>
              </a:ext>
            </a:extLst>
          </p:cNvPr>
          <p:cNvSpPr/>
          <p:nvPr/>
        </p:nvSpPr>
        <p:spPr>
          <a:xfrm>
            <a:off x="1016000" y="2095500"/>
            <a:ext cx="2794000" cy="381000"/>
          </a:xfrm>
          <a:prstGeom prst="roundRect">
            <a:avLst/>
          </a:prstGeom>
          <a:solidFill>
            <a:srgbClr val="F5B4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E66B7596-5F75-BDC5-8683-FED8892D571B}"/>
              </a:ext>
            </a:extLst>
          </p:cNvPr>
          <p:cNvSpPr txBox="1"/>
          <p:nvPr/>
        </p:nvSpPr>
        <p:spPr>
          <a:xfrm>
            <a:off x="1117600" y="2184400"/>
            <a:ext cx="25908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100" b="1" dirty="0">
                <a:solidFill>
                  <a:srgbClr val="FFFFFF"/>
                </a:solidFill>
                <a:latin typeface="Aptos" panose="020B0004020202020204" pitchFamily="34" charset="0"/>
              </a:rPr>
              <a:t>50% DE AVANCE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3971D29D-73F5-1282-BC27-80853C79A01C}"/>
              </a:ext>
            </a:extLst>
          </p:cNvPr>
          <p:cNvSpPr/>
          <p:nvPr/>
        </p:nvSpPr>
        <p:spPr>
          <a:xfrm>
            <a:off x="1397000" y="2603500"/>
            <a:ext cx="2159000" cy="2159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D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9EFA7206-BAD6-0982-2D0D-7A21DC3BFE2F}"/>
              </a:ext>
            </a:extLst>
          </p:cNvPr>
          <p:cNvSpPr/>
          <p:nvPr/>
        </p:nvSpPr>
        <p:spPr>
          <a:xfrm>
            <a:off x="1676400" y="2882900"/>
            <a:ext cx="1600200" cy="1600200"/>
          </a:xfrm>
          <a:prstGeom prst="ellipse">
            <a:avLst/>
          </a:prstGeom>
          <a:solidFill>
            <a:srgbClr val="F5B4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40D77E36-937C-0C2D-DD57-D3C1E7594D43}"/>
              </a:ext>
            </a:extLst>
          </p:cNvPr>
          <p:cNvSpPr/>
          <p:nvPr/>
        </p:nvSpPr>
        <p:spPr>
          <a:xfrm>
            <a:off x="1955800" y="3162300"/>
            <a:ext cx="1041400" cy="1041400"/>
          </a:xfrm>
          <a:prstGeom prst="ellipse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1FA4F1D-0BAB-E5A1-1D10-9D849EA3A5F4}"/>
              </a:ext>
            </a:extLst>
          </p:cNvPr>
          <p:cNvSpPr txBox="1"/>
          <p:nvPr/>
        </p:nvSpPr>
        <p:spPr>
          <a:xfrm>
            <a:off x="1778000" y="3263900"/>
            <a:ext cx="1397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3000" b="1" dirty="0">
                <a:solidFill>
                  <a:srgbClr val="001F44"/>
                </a:solidFill>
                <a:latin typeface="Aptos" panose="020B0004020202020204" pitchFamily="34" charset="0"/>
              </a:rPr>
              <a:t>8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74843668-5EEB-ED70-9BBD-F16C07DCAD1F}"/>
              </a:ext>
            </a:extLst>
          </p:cNvPr>
          <p:cNvSpPr txBox="1"/>
          <p:nvPr/>
        </p:nvSpPr>
        <p:spPr>
          <a:xfrm>
            <a:off x="1714500" y="3873500"/>
            <a:ext cx="15240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200" b="1">
                <a:solidFill>
                  <a:srgbClr val="001F44"/>
                </a:solidFill>
                <a:latin typeface="Aptos" panose="020B0004020202020204" pitchFamily="34" charset="0"/>
              </a:rPr>
              <a:t>Trámites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38CD3A3A-1CF4-E7AA-8E4A-B03F0999F91D}"/>
              </a:ext>
            </a:extLst>
          </p:cNvPr>
          <p:cNvSpPr/>
          <p:nvPr/>
        </p:nvSpPr>
        <p:spPr>
          <a:xfrm>
            <a:off x="5791200" y="1143000"/>
            <a:ext cx="9652000" cy="609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D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2E97FD5B-8C3A-6DFA-5A59-DFEEC040CF8A}"/>
              </a:ext>
            </a:extLst>
          </p:cNvPr>
          <p:cNvSpPr/>
          <p:nvPr/>
        </p:nvSpPr>
        <p:spPr>
          <a:xfrm>
            <a:off x="5918200" y="1231900"/>
            <a:ext cx="381000" cy="381000"/>
          </a:xfrm>
          <a:prstGeom prst="roundRect">
            <a:avLst/>
          </a:prstGeom>
          <a:solidFill>
            <a:srgbClr val="F5B4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7897441E-6574-EE95-E483-004DD1FBAF36}"/>
              </a:ext>
            </a:extLst>
          </p:cNvPr>
          <p:cNvSpPr txBox="1"/>
          <p:nvPr/>
        </p:nvSpPr>
        <p:spPr>
          <a:xfrm>
            <a:off x="5994400" y="1295400"/>
            <a:ext cx="2286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100" b="1">
                <a:solidFill>
                  <a:srgbClr val="FFFFFF"/>
                </a:solidFill>
                <a:latin typeface="Aptos" panose="020B0004020202020204" pitchFamily="34" charset="0"/>
              </a:rPr>
              <a:t>6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AE293F67-8664-4C52-C425-BB0F75FFCDDA}"/>
              </a:ext>
            </a:extLst>
          </p:cNvPr>
          <p:cNvSpPr txBox="1"/>
          <p:nvPr/>
        </p:nvSpPr>
        <p:spPr>
          <a:xfrm>
            <a:off x="6477000" y="1231900"/>
            <a:ext cx="88138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 sz="1200">
                <a:solidFill>
                  <a:srgbClr val="002D5A"/>
                </a:solidFill>
                <a:latin typeface="Aptos" panose="020B0004020202020204" pitchFamily="34" charset="0"/>
              </a:rPr>
              <a:t>Permiso de Vuelo Especial</a:t>
            </a: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E73998D0-6DE6-D160-2718-DCDC47F3F3D5}"/>
              </a:ext>
            </a:extLst>
          </p:cNvPr>
          <p:cNvSpPr/>
          <p:nvPr/>
        </p:nvSpPr>
        <p:spPr>
          <a:xfrm>
            <a:off x="5791200" y="1828800"/>
            <a:ext cx="9652000" cy="609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D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F60BD0B2-E54E-03C4-0460-DCFC6CB1576D}"/>
              </a:ext>
            </a:extLst>
          </p:cNvPr>
          <p:cNvSpPr/>
          <p:nvPr/>
        </p:nvSpPr>
        <p:spPr>
          <a:xfrm>
            <a:off x="5918200" y="1917700"/>
            <a:ext cx="381000" cy="381000"/>
          </a:xfrm>
          <a:prstGeom prst="roundRect">
            <a:avLst/>
          </a:prstGeom>
          <a:solidFill>
            <a:srgbClr val="F5B4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26542337-A96D-9A19-F528-11EEAB2A6513}"/>
              </a:ext>
            </a:extLst>
          </p:cNvPr>
          <p:cNvSpPr txBox="1"/>
          <p:nvPr/>
        </p:nvSpPr>
        <p:spPr>
          <a:xfrm>
            <a:off x="5994400" y="1981200"/>
            <a:ext cx="2286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100" b="1">
                <a:solidFill>
                  <a:srgbClr val="FFFFFF"/>
                </a:solidFill>
                <a:latin typeface="Aptos" panose="020B0004020202020204" pitchFamily="34" charset="0"/>
              </a:rPr>
              <a:t>7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619D2F9-069C-0084-CABB-CA5918A062E6}"/>
              </a:ext>
            </a:extLst>
          </p:cNvPr>
          <p:cNvSpPr txBox="1"/>
          <p:nvPr/>
        </p:nvSpPr>
        <p:spPr>
          <a:xfrm>
            <a:off x="6477000" y="1917700"/>
            <a:ext cx="88138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 sz="1200">
                <a:solidFill>
                  <a:srgbClr val="002D5A"/>
                </a:solidFill>
                <a:latin typeface="Aptos" panose="020B0004020202020204" pitchFamily="34" charset="0"/>
              </a:rPr>
              <a:t>Dictamen Técnico Aeronave Pilotada a Distancia</a:t>
            </a:r>
          </a:p>
        </p:txBody>
      </p:sp>
      <p:sp>
        <p:nvSpPr>
          <p:cNvPr id="24" name="Rectángulo: esquinas redondeadas 23">
            <a:extLst>
              <a:ext uri="{FF2B5EF4-FFF2-40B4-BE49-F238E27FC236}">
                <a16:creationId xmlns:a16="http://schemas.microsoft.com/office/drawing/2014/main" id="{C8B646E1-E935-AC7C-B8D2-19100024C60F}"/>
              </a:ext>
            </a:extLst>
          </p:cNvPr>
          <p:cNvSpPr/>
          <p:nvPr/>
        </p:nvSpPr>
        <p:spPr>
          <a:xfrm>
            <a:off x="5791200" y="2514600"/>
            <a:ext cx="9652000" cy="609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D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25" name="Rectángulo: esquinas redondeadas 24">
            <a:extLst>
              <a:ext uri="{FF2B5EF4-FFF2-40B4-BE49-F238E27FC236}">
                <a16:creationId xmlns:a16="http://schemas.microsoft.com/office/drawing/2014/main" id="{991C256F-FBB8-531B-3FA3-55AED2E3A7FF}"/>
              </a:ext>
            </a:extLst>
          </p:cNvPr>
          <p:cNvSpPr/>
          <p:nvPr/>
        </p:nvSpPr>
        <p:spPr>
          <a:xfrm>
            <a:off x="5918200" y="2603500"/>
            <a:ext cx="381000" cy="381000"/>
          </a:xfrm>
          <a:prstGeom prst="roundRect">
            <a:avLst/>
          </a:prstGeom>
          <a:solidFill>
            <a:srgbClr val="F5B4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8798E51F-BE7A-8C0B-0785-E8F77236C86C}"/>
              </a:ext>
            </a:extLst>
          </p:cNvPr>
          <p:cNvSpPr txBox="1"/>
          <p:nvPr/>
        </p:nvSpPr>
        <p:spPr>
          <a:xfrm>
            <a:off x="5994400" y="2667000"/>
            <a:ext cx="2286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100" b="1">
                <a:solidFill>
                  <a:srgbClr val="FFFFFF"/>
                </a:solidFill>
                <a:latin typeface="Aptos" panose="020B0004020202020204" pitchFamily="34" charset="0"/>
              </a:rPr>
              <a:t>8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D2B3E9EB-238F-9830-4962-2717D560BD5B}"/>
              </a:ext>
            </a:extLst>
          </p:cNvPr>
          <p:cNvSpPr txBox="1"/>
          <p:nvPr/>
        </p:nvSpPr>
        <p:spPr>
          <a:xfrm>
            <a:off x="6477000" y="2603500"/>
            <a:ext cx="88138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ES" sz="1200">
                <a:solidFill>
                  <a:srgbClr val="002D5A"/>
                </a:solidFill>
                <a:latin typeface="Aptos" panose="020B0004020202020204" pitchFamily="34" charset="0"/>
              </a:rPr>
              <a:t>Autorización de vuelo con RPA/Drones para turistas</a:t>
            </a:r>
            <a:endParaRPr lang="es-GT" sz="1200">
              <a:solidFill>
                <a:srgbClr val="002D5A"/>
              </a:solidFill>
              <a:latin typeface="Aptos" panose="020B0004020202020204" pitchFamily="34" charset="0"/>
            </a:endParaRPr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CDE2FC31-4F19-90FE-958B-77AF25080CA6}"/>
              </a:ext>
            </a:extLst>
          </p:cNvPr>
          <p:cNvSpPr/>
          <p:nvPr/>
        </p:nvSpPr>
        <p:spPr>
          <a:xfrm>
            <a:off x="5791200" y="3200400"/>
            <a:ext cx="9652000" cy="609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D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29" name="Rectángulo: esquinas redondeadas 28">
            <a:extLst>
              <a:ext uri="{FF2B5EF4-FFF2-40B4-BE49-F238E27FC236}">
                <a16:creationId xmlns:a16="http://schemas.microsoft.com/office/drawing/2014/main" id="{C26230C1-D544-9606-5C42-F2ECC2B32CDF}"/>
              </a:ext>
            </a:extLst>
          </p:cNvPr>
          <p:cNvSpPr/>
          <p:nvPr/>
        </p:nvSpPr>
        <p:spPr>
          <a:xfrm>
            <a:off x="5918200" y="3289300"/>
            <a:ext cx="381000" cy="381000"/>
          </a:xfrm>
          <a:prstGeom prst="roundRect">
            <a:avLst/>
          </a:prstGeom>
          <a:solidFill>
            <a:srgbClr val="F5B4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C6BB3212-8F26-92EF-3111-69DE470A1EDF}"/>
              </a:ext>
            </a:extLst>
          </p:cNvPr>
          <p:cNvSpPr txBox="1"/>
          <p:nvPr/>
        </p:nvSpPr>
        <p:spPr>
          <a:xfrm>
            <a:off x="5994400" y="3352800"/>
            <a:ext cx="2286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100" b="1">
                <a:solidFill>
                  <a:srgbClr val="FFFFFF"/>
                </a:solidFill>
                <a:latin typeface="Aptos" panose="020B0004020202020204" pitchFamily="34" charset="0"/>
              </a:rPr>
              <a:t>9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78F8BF62-63A6-D405-3797-34EA7DCE4C63}"/>
              </a:ext>
            </a:extLst>
          </p:cNvPr>
          <p:cNvSpPr txBox="1"/>
          <p:nvPr/>
        </p:nvSpPr>
        <p:spPr>
          <a:xfrm>
            <a:off x="6477000" y="3289300"/>
            <a:ext cx="88138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ES" sz="1200">
                <a:solidFill>
                  <a:srgbClr val="002D5A"/>
                </a:solidFill>
                <a:latin typeface="Aptos" panose="020B0004020202020204" pitchFamily="34" charset="0"/>
              </a:rPr>
              <a:t>Certificado de aeronavegabilidad para exportación</a:t>
            </a:r>
            <a:endParaRPr lang="es-GT" sz="1200">
              <a:solidFill>
                <a:srgbClr val="002D5A"/>
              </a:solidFill>
              <a:latin typeface="Aptos" panose="020B0004020202020204" pitchFamily="34" charset="0"/>
            </a:endParaRPr>
          </a:p>
        </p:txBody>
      </p:sp>
      <p:sp>
        <p:nvSpPr>
          <p:cNvPr id="32" name="Rectángulo: esquinas redondeadas 31">
            <a:extLst>
              <a:ext uri="{FF2B5EF4-FFF2-40B4-BE49-F238E27FC236}">
                <a16:creationId xmlns:a16="http://schemas.microsoft.com/office/drawing/2014/main" id="{37C85715-43EA-FD6A-41FD-EFF0DD54912F}"/>
              </a:ext>
            </a:extLst>
          </p:cNvPr>
          <p:cNvSpPr/>
          <p:nvPr/>
        </p:nvSpPr>
        <p:spPr>
          <a:xfrm>
            <a:off x="5791200" y="3886200"/>
            <a:ext cx="9652000" cy="609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D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33" name="Rectángulo: esquinas redondeadas 32">
            <a:extLst>
              <a:ext uri="{FF2B5EF4-FFF2-40B4-BE49-F238E27FC236}">
                <a16:creationId xmlns:a16="http://schemas.microsoft.com/office/drawing/2014/main" id="{39C4DCCE-972B-452E-5B27-A6636B02B20F}"/>
              </a:ext>
            </a:extLst>
          </p:cNvPr>
          <p:cNvSpPr/>
          <p:nvPr/>
        </p:nvSpPr>
        <p:spPr>
          <a:xfrm>
            <a:off x="5918200" y="3975100"/>
            <a:ext cx="381000" cy="381000"/>
          </a:xfrm>
          <a:prstGeom prst="roundRect">
            <a:avLst/>
          </a:prstGeom>
          <a:solidFill>
            <a:srgbClr val="F5B4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E9993CEA-40E3-F0DF-A88A-1338F3C8988B}"/>
              </a:ext>
            </a:extLst>
          </p:cNvPr>
          <p:cNvSpPr txBox="1"/>
          <p:nvPr/>
        </p:nvSpPr>
        <p:spPr>
          <a:xfrm>
            <a:off x="5994400" y="4038600"/>
            <a:ext cx="2286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100" b="1">
                <a:solidFill>
                  <a:srgbClr val="FFFFFF"/>
                </a:solidFill>
                <a:latin typeface="Aptos" panose="020B0004020202020204" pitchFamily="34" charset="0"/>
              </a:rPr>
              <a:t>10</a:t>
            </a:r>
          </a:p>
        </p:txBody>
      </p:sp>
      <p:sp>
        <p:nvSpPr>
          <p:cNvPr id="36" name="Rectángulo: esquinas redondeadas 35">
            <a:extLst>
              <a:ext uri="{FF2B5EF4-FFF2-40B4-BE49-F238E27FC236}">
                <a16:creationId xmlns:a16="http://schemas.microsoft.com/office/drawing/2014/main" id="{01592385-F14E-09D5-7653-5607A3661D85}"/>
              </a:ext>
            </a:extLst>
          </p:cNvPr>
          <p:cNvSpPr/>
          <p:nvPr/>
        </p:nvSpPr>
        <p:spPr>
          <a:xfrm>
            <a:off x="698501" y="7207602"/>
            <a:ext cx="14757400" cy="1238805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D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4D4EE439-2FB9-E4B2-18BD-CDB66A7D55DC}"/>
              </a:ext>
            </a:extLst>
          </p:cNvPr>
          <p:cNvSpPr/>
          <p:nvPr/>
        </p:nvSpPr>
        <p:spPr>
          <a:xfrm>
            <a:off x="698500" y="7207602"/>
            <a:ext cx="152159" cy="1238805"/>
          </a:xfrm>
          <a:prstGeom prst="rect">
            <a:avLst/>
          </a:prstGeom>
          <a:solidFill>
            <a:srgbClr val="F5B4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9B092FDA-AFCC-08F0-092C-B907EFFE9F5D}"/>
              </a:ext>
            </a:extLst>
          </p:cNvPr>
          <p:cNvSpPr txBox="1"/>
          <p:nvPr/>
        </p:nvSpPr>
        <p:spPr>
          <a:xfrm>
            <a:off x="977901" y="7436202"/>
            <a:ext cx="14184294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GT" sz="1700" b="1">
                <a:solidFill>
                  <a:srgbClr val="001F44"/>
                </a:solidFill>
                <a:latin typeface="Aptos" panose="020B0004020202020204" pitchFamily="34" charset="0"/>
              </a:rPr>
              <a:t>Estado general</a:t>
            </a: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43C510E8-731D-15BA-196E-54FF5ABA45A4}"/>
              </a:ext>
            </a:extLst>
          </p:cNvPr>
          <p:cNvSpPr txBox="1"/>
          <p:nvPr/>
        </p:nvSpPr>
        <p:spPr>
          <a:xfrm>
            <a:off x="977901" y="7906104"/>
            <a:ext cx="1415564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400" dirty="0">
                <a:solidFill>
                  <a:srgbClr val="002D5A"/>
                </a:solidFill>
                <a:latin typeface="Aptos" panose="020B0004020202020204" pitchFamily="34" charset="0"/>
              </a:rPr>
              <a:t>Trámites 6 al 9: análisis finalizado y codificación en proceso. Trámite 10 al 13: análisis y codificación en proceso. Pruebas, implementación, capacitación y lanzamiento aún no iniciados.</a:t>
            </a:r>
            <a:endParaRPr lang="es-GT" sz="1400" dirty="0">
              <a:solidFill>
                <a:srgbClr val="002D5A"/>
              </a:solidFill>
              <a:latin typeface="Aptos" panose="020B0004020202020204" pitchFamily="34" charset="0"/>
            </a:endParaRPr>
          </a:p>
        </p:txBody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9FAEBE45-0410-7261-18CD-AEDF4A4802F8}"/>
              </a:ext>
            </a:extLst>
          </p:cNvPr>
          <p:cNvSpPr/>
          <p:nvPr/>
        </p:nvSpPr>
        <p:spPr>
          <a:xfrm>
            <a:off x="0" y="8636000"/>
            <a:ext cx="16256000" cy="508000"/>
          </a:xfrm>
          <a:prstGeom prst="rect">
            <a:avLst/>
          </a:prstGeom>
          <a:solidFill>
            <a:srgbClr val="001F4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8BBF9E91-042B-451E-95B9-B51D554FD02A}"/>
              </a:ext>
            </a:extLst>
          </p:cNvPr>
          <p:cNvSpPr txBox="1"/>
          <p:nvPr/>
        </p:nvSpPr>
        <p:spPr>
          <a:xfrm>
            <a:off x="889000" y="8801100"/>
            <a:ext cx="9652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ES" sz="1100">
                <a:solidFill>
                  <a:srgbClr val="FFFFFF"/>
                </a:solidFill>
                <a:latin typeface="Aptos" panose="020B0004020202020204" pitchFamily="34" charset="0"/>
              </a:rPr>
              <a:t>DGAC · Avances del proyecto de modernización digital · 15 de julio de 2026</a:t>
            </a:r>
            <a:endParaRPr lang="es-GT" sz="11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92ABEE29-3F76-781F-EC0F-E8546964B532}"/>
              </a:ext>
            </a:extLst>
          </p:cNvPr>
          <p:cNvSpPr txBox="1"/>
          <p:nvPr/>
        </p:nvSpPr>
        <p:spPr>
          <a:xfrm>
            <a:off x="9969500" y="8801100"/>
            <a:ext cx="5334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s-ES" sz="1100">
                <a:solidFill>
                  <a:srgbClr val="FFFFFF"/>
                </a:solidFill>
                <a:latin typeface="Aptos" panose="020B0004020202020204" pitchFamily="34" charset="0"/>
              </a:rPr>
              <a:t>Servicios más ágiles, eficientes y transparentes</a:t>
            </a:r>
            <a:endParaRPr lang="es-GT" sz="11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3" name="Rectángulo: esquinas redondeadas 42">
            <a:extLst>
              <a:ext uri="{FF2B5EF4-FFF2-40B4-BE49-F238E27FC236}">
                <a16:creationId xmlns:a16="http://schemas.microsoft.com/office/drawing/2014/main" id="{9C8C6D6F-6D0C-BAE7-D287-88569A1680E6}"/>
              </a:ext>
            </a:extLst>
          </p:cNvPr>
          <p:cNvSpPr/>
          <p:nvPr/>
        </p:nvSpPr>
        <p:spPr>
          <a:xfrm>
            <a:off x="5791200" y="4640036"/>
            <a:ext cx="9652000" cy="609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D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45" name="Rectángulo: esquinas redondeadas 44">
            <a:extLst>
              <a:ext uri="{FF2B5EF4-FFF2-40B4-BE49-F238E27FC236}">
                <a16:creationId xmlns:a16="http://schemas.microsoft.com/office/drawing/2014/main" id="{6E93482E-EB10-F4BD-62CB-857B443A6C18}"/>
              </a:ext>
            </a:extLst>
          </p:cNvPr>
          <p:cNvSpPr/>
          <p:nvPr/>
        </p:nvSpPr>
        <p:spPr>
          <a:xfrm>
            <a:off x="5918200" y="4728936"/>
            <a:ext cx="371231" cy="326571"/>
          </a:xfrm>
          <a:prstGeom prst="roundRect">
            <a:avLst/>
          </a:prstGeom>
          <a:solidFill>
            <a:srgbClr val="FFC000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>
              <a:solidFill>
                <a:srgbClr val="FFC000"/>
              </a:solidFill>
            </a:endParaRP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8BD23445-5F31-1085-3A9D-5E996AFAAEAA}"/>
              </a:ext>
            </a:extLst>
          </p:cNvPr>
          <p:cNvSpPr txBox="1"/>
          <p:nvPr/>
        </p:nvSpPr>
        <p:spPr>
          <a:xfrm>
            <a:off x="5994400" y="4792436"/>
            <a:ext cx="222738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s-GT" sz="1100" b="1" dirty="0">
                <a:solidFill>
                  <a:srgbClr val="FFFFFF"/>
                </a:solidFill>
                <a:latin typeface="Aptos" panose="020B0004020202020204" pitchFamily="34" charset="0"/>
              </a:rPr>
              <a:t>11</a:t>
            </a:r>
          </a:p>
        </p:txBody>
      </p:sp>
      <p:sp>
        <p:nvSpPr>
          <p:cNvPr id="49" name="CuadroTexto 48">
            <a:extLst>
              <a:ext uri="{FF2B5EF4-FFF2-40B4-BE49-F238E27FC236}">
                <a16:creationId xmlns:a16="http://schemas.microsoft.com/office/drawing/2014/main" id="{2DECB719-E5F7-EC5E-795A-42BC380A7444}"/>
              </a:ext>
            </a:extLst>
          </p:cNvPr>
          <p:cNvSpPr txBox="1"/>
          <p:nvPr/>
        </p:nvSpPr>
        <p:spPr>
          <a:xfrm>
            <a:off x="6477000" y="4728936"/>
            <a:ext cx="8835292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200">
                <a:solidFill>
                  <a:srgbClr val="002D5A"/>
                </a:solidFill>
                <a:latin typeface="Aptos" panose="020B0004020202020204" pitchFamily="34" charset="0"/>
              </a:rPr>
              <a:t>Certificado de Explotación de una Línea Aérea</a:t>
            </a:r>
            <a:endParaRPr lang="es-GT" sz="1200">
              <a:solidFill>
                <a:srgbClr val="002D5A"/>
              </a:solidFill>
              <a:latin typeface="Aptos" panose="020B0004020202020204" pitchFamily="34" charset="0"/>
            </a:endParaRPr>
          </a:p>
        </p:txBody>
      </p:sp>
      <p:sp>
        <p:nvSpPr>
          <p:cNvPr id="51" name="Rectángulo: esquinas redondeadas 50">
            <a:extLst>
              <a:ext uri="{FF2B5EF4-FFF2-40B4-BE49-F238E27FC236}">
                <a16:creationId xmlns:a16="http://schemas.microsoft.com/office/drawing/2014/main" id="{5C4437E7-E967-E2FC-8E70-607D2C3568B2}"/>
              </a:ext>
            </a:extLst>
          </p:cNvPr>
          <p:cNvSpPr/>
          <p:nvPr/>
        </p:nvSpPr>
        <p:spPr>
          <a:xfrm>
            <a:off x="5791200" y="5388553"/>
            <a:ext cx="9652000" cy="609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D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53" name="Rectángulo: esquinas redondeadas 52">
            <a:extLst>
              <a:ext uri="{FF2B5EF4-FFF2-40B4-BE49-F238E27FC236}">
                <a16:creationId xmlns:a16="http://schemas.microsoft.com/office/drawing/2014/main" id="{68AF3C5D-B2B2-A9AA-AD1F-24193A474DD1}"/>
              </a:ext>
            </a:extLst>
          </p:cNvPr>
          <p:cNvSpPr/>
          <p:nvPr/>
        </p:nvSpPr>
        <p:spPr>
          <a:xfrm>
            <a:off x="5918200" y="5477453"/>
            <a:ext cx="371231" cy="326571"/>
          </a:xfrm>
          <a:prstGeom prst="roundRect">
            <a:avLst/>
          </a:prstGeom>
          <a:solidFill>
            <a:srgbClr val="FFC000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55" name="CuadroTexto 54">
            <a:extLst>
              <a:ext uri="{FF2B5EF4-FFF2-40B4-BE49-F238E27FC236}">
                <a16:creationId xmlns:a16="http://schemas.microsoft.com/office/drawing/2014/main" id="{C4D5A4F4-6932-E132-0350-559A41D66694}"/>
              </a:ext>
            </a:extLst>
          </p:cNvPr>
          <p:cNvSpPr txBox="1"/>
          <p:nvPr/>
        </p:nvSpPr>
        <p:spPr>
          <a:xfrm>
            <a:off x="5994400" y="5540953"/>
            <a:ext cx="222738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s-GT" sz="1100" b="1" dirty="0">
                <a:solidFill>
                  <a:srgbClr val="FFFFFF"/>
                </a:solidFill>
                <a:latin typeface="Aptos" panose="020B0004020202020204" pitchFamily="34" charset="0"/>
              </a:rPr>
              <a:t>12</a:t>
            </a:r>
          </a:p>
        </p:txBody>
      </p:sp>
      <p:sp>
        <p:nvSpPr>
          <p:cNvPr id="57" name="CuadroTexto 56">
            <a:extLst>
              <a:ext uri="{FF2B5EF4-FFF2-40B4-BE49-F238E27FC236}">
                <a16:creationId xmlns:a16="http://schemas.microsoft.com/office/drawing/2014/main" id="{C6DF0FE2-6B98-4014-B275-66E5F288C085}"/>
              </a:ext>
            </a:extLst>
          </p:cNvPr>
          <p:cNvSpPr txBox="1"/>
          <p:nvPr/>
        </p:nvSpPr>
        <p:spPr>
          <a:xfrm>
            <a:off x="6477000" y="5477453"/>
            <a:ext cx="8835292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200">
                <a:solidFill>
                  <a:srgbClr val="002D5A"/>
                </a:solidFill>
                <a:latin typeface="Aptos" panose="020B0004020202020204" pitchFamily="34" charset="0"/>
              </a:rPr>
              <a:t>Certificado de Explotación a trabajos aéreos/Servicios Auxiliares</a:t>
            </a:r>
            <a:endParaRPr lang="es-GT" sz="1200">
              <a:solidFill>
                <a:srgbClr val="002D5A"/>
              </a:solidFill>
              <a:latin typeface="Aptos" panose="020B0004020202020204" pitchFamily="34" charset="0"/>
            </a:endParaRPr>
          </a:p>
        </p:txBody>
      </p:sp>
      <p:sp>
        <p:nvSpPr>
          <p:cNvPr id="59" name="Rectángulo: esquinas redondeadas 58">
            <a:extLst>
              <a:ext uri="{FF2B5EF4-FFF2-40B4-BE49-F238E27FC236}">
                <a16:creationId xmlns:a16="http://schemas.microsoft.com/office/drawing/2014/main" id="{3A558CA0-7CC7-CB1C-29D9-C98B6EBAE431}"/>
              </a:ext>
            </a:extLst>
          </p:cNvPr>
          <p:cNvSpPr/>
          <p:nvPr/>
        </p:nvSpPr>
        <p:spPr>
          <a:xfrm>
            <a:off x="5791200" y="6204466"/>
            <a:ext cx="9652000" cy="609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D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61" name="Rectángulo: esquinas redondeadas 60">
            <a:extLst>
              <a:ext uri="{FF2B5EF4-FFF2-40B4-BE49-F238E27FC236}">
                <a16:creationId xmlns:a16="http://schemas.microsoft.com/office/drawing/2014/main" id="{B8BC7A3B-0175-02FB-ABC7-F95E703AB450}"/>
              </a:ext>
            </a:extLst>
          </p:cNvPr>
          <p:cNvSpPr/>
          <p:nvPr/>
        </p:nvSpPr>
        <p:spPr>
          <a:xfrm>
            <a:off x="5918200" y="6293366"/>
            <a:ext cx="371231" cy="326571"/>
          </a:xfrm>
          <a:prstGeom prst="roundRect">
            <a:avLst/>
          </a:prstGeom>
          <a:solidFill>
            <a:srgbClr val="FFC000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63" name="CuadroTexto 62">
            <a:extLst>
              <a:ext uri="{FF2B5EF4-FFF2-40B4-BE49-F238E27FC236}">
                <a16:creationId xmlns:a16="http://schemas.microsoft.com/office/drawing/2014/main" id="{0F670AB9-A03E-1446-1AE3-3833F1056502}"/>
              </a:ext>
            </a:extLst>
          </p:cNvPr>
          <p:cNvSpPr txBox="1"/>
          <p:nvPr/>
        </p:nvSpPr>
        <p:spPr>
          <a:xfrm>
            <a:off x="5994400" y="6356866"/>
            <a:ext cx="222738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s-GT" sz="1100" b="1" dirty="0">
                <a:solidFill>
                  <a:srgbClr val="FFFFFF"/>
                </a:solidFill>
                <a:latin typeface="Aptos" panose="020B0004020202020204" pitchFamily="34" charset="0"/>
              </a:rPr>
              <a:t>13</a:t>
            </a:r>
          </a:p>
        </p:txBody>
      </p:sp>
      <p:sp>
        <p:nvSpPr>
          <p:cNvPr id="65" name="CuadroTexto 64">
            <a:extLst>
              <a:ext uri="{FF2B5EF4-FFF2-40B4-BE49-F238E27FC236}">
                <a16:creationId xmlns:a16="http://schemas.microsoft.com/office/drawing/2014/main" id="{BFF9FF29-F805-3971-4661-3DC34082174E}"/>
              </a:ext>
            </a:extLst>
          </p:cNvPr>
          <p:cNvSpPr txBox="1"/>
          <p:nvPr/>
        </p:nvSpPr>
        <p:spPr>
          <a:xfrm>
            <a:off x="6477000" y="6293366"/>
            <a:ext cx="8835292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GT" sz="1200">
                <a:solidFill>
                  <a:srgbClr val="002D5A"/>
                </a:solidFill>
                <a:latin typeface="Aptos" panose="020B0004020202020204" pitchFamily="34" charset="0"/>
              </a:rPr>
              <a:t>Modificación Horario, Ruta, Frecuencias</a:t>
            </a:r>
          </a:p>
        </p:txBody>
      </p:sp>
      <p:sp>
        <p:nvSpPr>
          <p:cNvPr id="69" name="CuadroTexto 68">
            <a:extLst>
              <a:ext uri="{FF2B5EF4-FFF2-40B4-BE49-F238E27FC236}">
                <a16:creationId xmlns:a16="http://schemas.microsoft.com/office/drawing/2014/main" id="{BCFD1093-A6D2-6FC0-6F6C-CD4F5D27A6EA}"/>
              </a:ext>
            </a:extLst>
          </p:cNvPr>
          <p:cNvSpPr txBox="1"/>
          <p:nvPr/>
        </p:nvSpPr>
        <p:spPr>
          <a:xfrm>
            <a:off x="6477000" y="3978905"/>
            <a:ext cx="90678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ES" sz="1200" dirty="0">
                <a:solidFill>
                  <a:srgbClr val="002D5A"/>
                </a:solidFill>
                <a:latin typeface="Aptos" panose="020B0004020202020204" pitchFamily="34" charset="0"/>
              </a:rPr>
              <a:t>Permiso Temporal de Explotación - Vuelo Comercial No Regular</a:t>
            </a:r>
            <a:endParaRPr lang="es-GT" sz="1200" dirty="0">
              <a:solidFill>
                <a:srgbClr val="002D5A"/>
              </a:solidFill>
              <a:latin typeface="Aptos" panose="020B0004020202020204" pitchFamily="34" charset="0"/>
            </a:endParaRPr>
          </a:p>
        </p:txBody>
      </p:sp>
      <p:sp>
        <p:nvSpPr>
          <p:cNvPr id="87" name="Rectángulo: esquinas redondeadas 86">
            <a:extLst>
              <a:ext uri="{FF2B5EF4-FFF2-40B4-BE49-F238E27FC236}">
                <a16:creationId xmlns:a16="http://schemas.microsoft.com/office/drawing/2014/main" id="{49874A27-CDF0-0EF0-B256-465ADB4BB3D3}"/>
              </a:ext>
            </a:extLst>
          </p:cNvPr>
          <p:cNvSpPr/>
          <p:nvPr/>
        </p:nvSpPr>
        <p:spPr>
          <a:xfrm>
            <a:off x="698500" y="5012982"/>
            <a:ext cx="4487374" cy="146504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D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89" name="Rectángulo 88">
            <a:extLst>
              <a:ext uri="{FF2B5EF4-FFF2-40B4-BE49-F238E27FC236}">
                <a16:creationId xmlns:a16="http://schemas.microsoft.com/office/drawing/2014/main" id="{790BF5C2-68D7-5D99-66AA-C985259A1504}"/>
              </a:ext>
            </a:extLst>
          </p:cNvPr>
          <p:cNvSpPr/>
          <p:nvPr/>
        </p:nvSpPr>
        <p:spPr>
          <a:xfrm>
            <a:off x="698500" y="5012982"/>
            <a:ext cx="45719" cy="1443543"/>
          </a:xfrm>
          <a:prstGeom prst="rect">
            <a:avLst/>
          </a:prstGeom>
          <a:solidFill>
            <a:srgbClr val="F5B4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91" name="CuadroTexto 90">
            <a:extLst>
              <a:ext uri="{FF2B5EF4-FFF2-40B4-BE49-F238E27FC236}">
                <a16:creationId xmlns:a16="http://schemas.microsoft.com/office/drawing/2014/main" id="{6C1B0D65-8DDE-3AAE-1E44-0542C0BDFF87}"/>
              </a:ext>
            </a:extLst>
          </p:cNvPr>
          <p:cNvSpPr txBox="1"/>
          <p:nvPr/>
        </p:nvSpPr>
        <p:spPr>
          <a:xfrm>
            <a:off x="977900" y="5241582"/>
            <a:ext cx="4313106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GT" sz="1700" b="1" dirty="0">
                <a:solidFill>
                  <a:srgbClr val="001F44"/>
                </a:solidFill>
                <a:latin typeface="Aptos" panose="020B0004020202020204" pitchFamily="34" charset="0"/>
              </a:rPr>
              <a:t>Fecha estimada de lanzamiento </a:t>
            </a:r>
          </a:p>
        </p:txBody>
      </p:sp>
      <p:sp>
        <p:nvSpPr>
          <p:cNvPr id="93" name="CuadroTexto 92">
            <a:extLst>
              <a:ext uri="{FF2B5EF4-FFF2-40B4-BE49-F238E27FC236}">
                <a16:creationId xmlns:a16="http://schemas.microsoft.com/office/drawing/2014/main" id="{893611D0-0BC7-5848-012E-CB32C7EAB9D7}"/>
              </a:ext>
            </a:extLst>
          </p:cNvPr>
          <p:cNvSpPr txBox="1"/>
          <p:nvPr/>
        </p:nvSpPr>
        <p:spPr>
          <a:xfrm>
            <a:off x="955065" y="5569786"/>
            <a:ext cx="40937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GT" sz="1400" dirty="0"/>
              <a:t>Tramites del 6 al 9: 4 de septiembre 2026</a:t>
            </a:r>
          </a:p>
        </p:txBody>
      </p:sp>
      <p:sp>
        <p:nvSpPr>
          <p:cNvPr id="95" name="CuadroTexto 94">
            <a:extLst>
              <a:ext uri="{FF2B5EF4-FFF2-40B4-BE49-F238E27FC236}">
                <a16:creationId xmlns:a16="http://schemas.microsoft.com/office/drawing/2014/main" id="{F3319960-229E-EEFF-083D-FAA37E59FF26}"/>
              </a:ext>
            </a:extLst>
          </p:cNvPr>
          <p:cNvSpPr txBox="1"/>
          <p:nvPr/>
        </p:nvSpPr>
        <p:spPr>
          <a:xfrm>
            <a:off x="955065" y="5957889"/>
            <a:ext cx="40937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GT" sz="1400" dirty="0"/>
              <a:t>Tramites del 10 al 13: 25 de septiembre 2026</a:t>
            </a:r>
          </a:p>
        </p:txBody>
      </p:sp>
    </p:spTree>
    <p:extLst>
      <p:ext uri="{BB962C8B-B14F-4D97-AF65-F5344CB8AC3E}">
        <p14:creationId xmlns:p14="http://schemas.microsoft.com/office/powerpoint/2010/main" val="1984891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1753EE6A-0C57-258A-B02F-BCD4D98B4320}"/>
              </a:ext>
            </a:extLst>
          </p:cNvPr>
          <p:cNvSpPr/>
          <p:nvPr/>
        </p:nvSpPr>
        <p:spPr>
          <a:xfrm>
            <a:off x="0" y="0"/>
            <a:ext cx="16256000" cy="9144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80E242A-2290-9CB8-C177-197717E3D30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215900"/>
            <a:ext cx="1968500" cy="482600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54659114-9E44-D376-560A-AFA921BC7998}"/>
              </a:ext>
            </a:extLst>
          </p:cNvPr>
          <p:cNvSpPr txBox="1"/>
          <p:nvPr/>
        </p:nvSpPr>
        <p:spPr>
          <a:xfrm>
            <a:off x="812800" y="1219200"/>
            <a:ext cx="12954000" cy="44627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 sz="2900" b="1">
                <a:solidFill>
                  <a:srgbClr val="001F44"/>
                </a:solidFill>
                <a:latin typeface="Aptos" panose="020B0004020202020204" pitchFamily="34" charset="0"/>
              </a:rPr>
              <a:t>TRÁMITES CON MAYOR AVANCE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D0FB0BE4-DEBE-FE99-86E4-342B4D03D3CF}"/>
              </a:ext>
            </a:extLst>
          </p:cNvPr>
          <p:cNvSpPr/>
          <p:nvPr/>
        </p:nvSpPr>
        <p:spPr>
          <a:xfrm>
            <a:off x="812800" y="1854200"/>
            <a:ext cx="889000" cy="63500"/>
          </a:xfrm>
          <a:prstGeom prst="rect">
            <a:avLst/>
          </a:prstGeom>
          <a:solidFill>
            <a:srgbClr val="005AA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C93DDED1-9CDF-5CF1-F427-41512A89B4B2}"/>
              </a:ext>
            </a:extLst>
          </p:cNvPr>
          <p:cNvSpPr/>
          <p:nvPr/>
        </p:nvSpPr>
        <p:spPr>
          <a:xfrm>
            <a:off x="15011400" y="0"/>
            <a:ext cx="635000" cy="584200"/>
          </a:xfrm>
          <a:prstGeom prst="rect">
            <a:avLst/>
          </a:prstGeom>
          <a:solidFill>
            <a:srgbClr val="005AA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71A2FD-0B14-18D4-8DBC-B84918AF5E14}"/>
              </a:ext>
            </a:extLst>
          </p:cNvPr>
          <p:cNvSpPr txBox="1"/>
          <p:nvPr/>
        </p:nvSpPr>
        <p:spPr>
          <a:xfrm>
            <a:off x="15227300" y="127000"/>
            <a:ext cx="3048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600" b="1">
                <a:solidFill>
                  <a:srgbClr val="FFFFFF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C78006CA-7403-8102-6E0F-355B4CD7A121}"/>
              </a:ext>
            </a:extLst>
          </p:cNvPr>
          <p:cNvSpPr/>
          <p:nvPr/>
        </p:nvSpPr>
        <p:spPr>
          <a:xfrm>
            <a:off x="1016000" y="2095500"/>
            <a:ext cx="2921000" cy="381000"/>
          </a:xfrm>
          <a:prstGeom prst="roundRect">
            <a:avLst/>
          </a:prstGeom>
          <a:solidFill>
            <a:srgbClr val="34A85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A928F894-BFAB-CC2D-0562-733723A2A775}"/>
              </a:ext>
            </a:extLst>
          </p:cNvPr>
          <p:cNvSpPr txBox="1"/>
          <p:nvPr/>
        </p:nvSpPr>
        <p:spPr>
          <a:xfrm>
            <a:off x="1117600" y="2184400"/>
            <a:ext cx="27178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100" b="1" dirty="0">
                <a:solidFill>
                  <a:srgbClr val="FFFFFF"/>
                </a:solidFill>
                <a:latin typeface="Aptos" panose="020B0004020202020204" pitchFamily="34" charset="0"/>
              </a:rPr>
              <a:t>100% DE AVANCE ACUMULADO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718850EE-C23D-89E4-0B8C-006E7BCD44F8}"/>
              </a:ext>
            </a:extLst>
          </p:cNvPr>
          <p:cNvSpPr/>
          <p:nvPr/>
        </p:nvSpPr>
        <p:spPr>
          <a:xfrm>
            <a:off x="1143000" y="3175000"/>
            <a:ext cx="2159000" cy="2159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D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88B72342-6BC7-0CDA-FB07-EA28C4BA4B4A}"/>
              </a:ext>
            </a:extLst>
          </p:cNvPr>
          <p:cNvSpPr/>
          <p:nvPr/>
        </p:nvSpPr>
        <p:spPr>
          <a:xfrm>
            <a:off x="1422400" y="3454400"/>
            <a:ext cx="1600200" cy="1600200"/>
          </a:xfrm>
          <a:prstGeom prst="ellipse">
            <a:avLst/>
          </a:prstGeom>
          <a:solidFill>
            <a:srgbClr val="34A85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1965DCF6-DB62-160F-74EB-8A557D58B27A}"/>
              </a:ext>
            </a:extLst>
          </p:cNvPr>
          <p:cNvSpPr/>
          <p:nvPr/>
        </p:nvSpPr>
        <p:spPr>
          <a:xfrm>
            <a:off x="1701800" y="3733800"/>
            <a:ext cx="1041400" cy="1041400"/>
          </a:xfrm>
          <a:prstGeom prst="ellipse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BACC2D2D-03E2-9454-429E-A01E350EA7FF}"/>
              </a:ext>
            </a:extLst>
          </p:cNvPr>
          <p:cNvSpPr txBox="1"/>
          <p:nvPr/>
        </p:nvSpPr>
        <p:spPr>
          <a:xfrm>
            <a:off x="1524000" y="3835400"/>
            <a:ext cx="1397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3000" b="1">
                <a:solidFill>
                  <a:srgbClr val="001F44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C12F0FA4-FE44-46C3-7BA4-A573CFA327C1}"/>
              </a:ext>
            </a:extLst>
          </p:cNvPr>
          <p:cNvSpPr txBox="1"/>
          <p:nvPr/>
        </p:nvSpPr>
        <p:spPr>
          <a:xfrm>
            <a:off x="1460500" y="4445000"/>
            <a:ext cx="15240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200" b="1">
                <a:solidFill>
                  <a:srgbClr val="001F44"/>
                </a:solidFill>
                <a:latin typeface="Aptos" panose="020B0004020202020204" pitchFamily="34" charset="0"/>
              </a:rPr>
              <a:t>Trámites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2C8D1785-6573-5916-1CD8-27390B5E147B}"/>
              </a:ext>
            </a:extLst>
          </p:cNvPr>
          <p:cNvSpPr/>
          <p:nvPr/>
        </p:nvSpPr>
        <p:spPr>
          <a:xfrm>
            <a:off x="4826000" y="2349500"/>
            <a:ext cx="88900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D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06742A57-2C92-B6EC-4C9B-A611FC0248BC}"/>
              </a:ext>
            </a:extLst>
          </p:cNvPr>
          <p:cNvSpPr/>
          <p:nvPr/>
        </p:nvSpPr>
        <p:spPr>
          <a:xfrm>
            <a:off x="4953000" y="2438400"/>
            <a:ext cx="381000" cy="381000"/>
          </a:xfrm>
          <a:prstGeom prst="roundRect">
            <a:avLst/>
          </a:prstGeom>
          <a:solidFill>
            <a:srgbClr val="34A85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ED22A1D9-147D-AF0D-9797-8127249FBDB2}"/>
              </a:ext>
            </a:extLst>
          </p:cNvPr>
          <p:cNvSpPr txBox="1"/>
          <p:nvPr/>
        </p:nvSpPr>
        <p:spPr>
          <a:xfrm>
            <a:off x="5029200" y="2501900"/>
            <a:ext cx="2286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1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13ADB364-BA2D-B94C-C73A-0CF240BC89E2}"/>
              </a:ext>
            </a:extLst>
          </p:cNvPr>
          <p:cNvSpPr txBox="1"/>
          <p:nvPr/>
        </p:nvSpPr>
        <p:spPr>
          <a:xfrm>
            <a:off x="5511800" y="2438400"/>
            <a:ext cx="80518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 sz="1200">
                <a:solidFill>
                  <a:srgbClr val="002D5A"/>
                </a:solidFill>
                <a:latin typeface="Aptos" panose="020B0004020202020204" pitchFamily="34" charset="0"/>
              </a:rPr>
              <a:t>Reserva, prórroga o cesión de matrícula</a:t>
            </a: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8F367CDE-88D8-17FD-6655-935B66164F44}"/>
              </a:ext>
            </a:extLst>
          </p:cNvPr>
          <p:cNvSpPr/>
          <p:nvPr/>
        </p:nvSpPr>
        <p:spPr>
          <a:xfrm>
            <a:off x="4826000" y="3060700"/>
            <a:ext cx="88900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D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945D6453-677D-1907-5C21-68AE10540B68}"/>
              </a:ext>
            </a:extLst>
          </p:cNvPr>
          <p:cNvSpPr/>
          <p:nvPr/>
        </p:nvSpPr>
        <p:spPr>
          <a:xfrm>
            <a:off x="4953000" y="3149600"/>
            <a:ext cx="381000" cy="381000"/>
          </a:xfrm>
          <a:prstGeom prst="roundRect">
            <a:avLst/>
          </a:prstGeom>
          <a:solidFill>
            <a:srgbClr val="34A85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E8CD330D-66BC-A091-7873-1F6DE67575EB}"/>
              </a:ext>
            </a:extLst>
          </p:cNvPr>
          <p:cNvSpPr txBox="1"/>
          <p:nvPr/>
        </p:nvSpPr>
        <p:spPr>
          <a:xfrm>
            <a:off x="5029200" y="3213100"/>
            <a:ext cx="2286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1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48029598-65A0-F0B4-5FB1-5628AFC02842}"/>
              </a:ext>
            </a:extLst>
          </p:cNvPr>
          <p:cNvSpPr txBox="1"/>
          <p:nvPr/>
        </p:nvSpPr>
        <p:spPr>
          <a:xfrm>
            <a:off x="5511800" y="3149600"/>
            <a:ext cx="80518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 sz="1200">
                <a:solidFill>
                  <a:srgbClr val="002D5A"/>
                </a:solidFill>
                <a:latin typeface="Aptos" panose="020B0004020202020204" pitchFamily="34" charset="0"/>
              </a:rPr>
              <a:t>Reserva de Distintivo</a:t>
            </a:r>
          </a:p>
        </p:txBody>
      </p:sp>
      <p:sp>
        <p:nvSpPr>
          <p:cNvPr id="24" name="Rectángulo: esquinas redondeadas 23">
            <a:extLst>
              <a:ext uri="{FF2B5EF4-FFF2-40B4-BE49-F238E27FC236}">
                <a16:creationId xmlns:a16="http://schemas.microsoft.com/office/drawing/2014/main" id="{A3AE2709-8531-A073-2A7B-76444D916C2E}"/>
              </a:ext>
            </a:extLst>
          </p:cNvPr>
          <p:cNvSpPr/>
          <p:nvPr/>
        </p:nvSpPr>
        <p:spPr>
          <a:xfrm>
            <a:off x="4826000" y="3771900"/>
            <a:ext cx="88900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D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25" name="Rectángulo: esquinas redondeadas 24">
            <a:extLst>
              <a:ext uri="{FF2B5EF4-FFF2-40B4-BE49-F238E27FC236}">
                <a16:creationId xmlns:a16="http://schemas.microsoft.com/office/drawing/2014/main" id="{8BB4AA5B-2166-E479-4BD9-ED282E01DF9E}"/>
              </a:ext>
            </a:extLst>
          </p:cNvPr>
          <p:cNvSpPr/>
          <p:nvPr/>
        </p:nvSpPr>
        <p:spPr>
          <a:xfrm>
            <a:off x="4953000" y="3860800"/>
            <a:ext cx="381000" cy="381000"/>
          </a:xfrm>
          <a:prstGeom prst="roundRect">
            <a:avLst/>
          </a:prstGeom>
          <a:solidFill>
            <a:srgbClr val="34A85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26B08019-0FB6-5C8E-5018-81534716DD4C}"/>
              </a:ext>
            </a:extLst>
          </p:cNvPr>
          <p:cNvSpPr txBox="1"/>
          <p:nvPr/>
        </p:nvSpPr>
        <p:spPr>
          <a:xfrm>
            <a:off x="5029200" y="3924300"/>
            <a:ext cx="2286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1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98862E4E-C3B0-E8CF-E13E-8325E8DA99FE}"/>
              </a:ext>
            </a:extLst>
          </p:cNvPr>
          <p:cNvSpPr txBox="1"/>
          <p:nvPr/>
        </p:nvSpPr>
        <p:spPr>
          <a:xfrm>
            <a:off x="5511800" y="3860800"/>
            <a:ext cx="80518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 sz="1200">
                <a:solidFill>
                  <a:srgbClr val="002D5A"/>
                </a:solidFill>
                <a:latin typeface="Aptos" panose="020B0004020202020204" pitchFamily="34" charset="0"/>
              </a:rPr>
              <a:t>Certificación</a:t>
            </a:r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1426CC89-F484-464B-C95A-442CD7A2196A}"/>
              </a:ext>
            </a:extLst>
          </p:cNvPr>
          <p:cNvSpPr/>
          <p:nvPr/>
        </p:nvSpPr>
        <p:spPr>
          <a:xfrm>
            <a:off x="4826000" y="4483100"/>
            <a:ext cx="88900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D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29" name="Rectángulo: esquinas redondeadas 28">
            <a:extLst>
              <a:ext uri="{FF2B5EF4-FFF2-40B4-BE49-F238E27FC236}">
                <a16:creationId xmlns:a16="http://schemas.microsoft.com/office/drawing/2014/main" id="{2A16F0ED-3E0D-8602-53AB-AB58CADCD1F4}"/>
              </a:ext>
            </a:extLst>
          </p:cNvPr>
          <p:cNvSpPr/>
          <p:nvPr/>
        </p:nvSpPr>
        <p:spPr>
          <a:xfrm>
            <a:off x="4953000" y="4572000"/>
            <a:ext cx="381000" cy="381000"/>
          </a:xfrm>
          <a:prstGeom prst="roundRect">
            <a:avLst/>
          </a:prstGeom>
          <a:solidFill>
            <a:srgbClr val="34A85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FCD9AA13-63DC-1FD9-6852-4679FCC5C068}"/>
              </a:ext>
            </a:extLst>
          </p:cNvPr>
          <p:cNvSpPr txBox="1"/>
          <p:nvPr/>
        </p:nvSpPr>
        <p:spPr>
          <a:xfrm>
            <a:off x="5029200" y="4635500"/>
            <a:ext cx="2286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10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F35F6F99-5F4F-8AEC-22BA-17819A1AA8EF}"/>
              </a:ext>
            </a:extLst>
          </p:cNvPr>
          <p:cNvSpPr txBox="1"/>
          <p:nvPr/>
        </p:nvSpPr>
        <p:spPr>
          <a:xfrm>
            <a:off x="5511800" y="4572000"/>
            <a:ext cx="80518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ES" sz="1200">
                <a:solidFill>
                  <a:srgbClr val="002D5A"/>
                </a:solidFill>
                <a:latin typeface="Aptos" panose="020B0004020202020204" pitchFamily="34" charset="0"/>
              </a:rPr>
              <a:t>Contraseña de pago de otros rubros</a:t>
            </a:r>
            <a:endParaRPr lang="es-GT" sz="1200">
              <a:solidFill>
                <a:srgbClr val="002D5A"/>
              </a:solidFill>
              <a:latin typeface="Aptos" panose="020B0004020202020204" pitchFamily="34" charset="0"/>
            </a:endParaRPr>
          </a:p>
        </p:txBody>
      </p:sp>
      <p:sp>
        <p:nvSpPr>
          <p:cNvPr id="32" name="Rectángulo: esquinas redondeadas 31">
            <a:extLst>
              <a:ext uri="{FF2B5EF4-FFF2-40B4-BE49-F238E27FC236}">
                <a16:creationId xmlns:a16="http://schemas.microsoft.com/office/drawing/2014/main" id="{3C43C90B-46F5-5B47-9306-3C3757ACFF8A}"/>
              </a:ext>
            </a:extLst>
          </p:cNvPr>
          <p:cNvSpPr/>
          <p:nvPr/>
        </p:nvSpPr>
        <p:spPr>
          <a:xfrm>
            <a:off x="4826000" y="5194300"/>
            <a:ext cx="88900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D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33" name="Rectángulo: esquinas redondeadas 32">
            <a:extLst>
              <a:ext uri="{FF2B5EF4-FFF2-40B4-BE49-F238E27FC236}">
                <a16:creationId xmlns:a16="http://schemas.microsoft.com/office/drawing/2014/main" id="{2CF4A84F-C113-241A-567E-0CE7264F2E97}"/>
              </a:ext>
            </a:extLst>
          </p:cNvPr>
          <p:cNvSpPr/>
          <p:nvPr/>
        </p:nvSpPr>
        <p:spPr>
          <a:xfrm>
            <a:off x="4953000" y="5283200"/>
            <a:ext cx="381000" cy="381000"/>
          </a:xfrm>
          <a:prstGeom prst="roundRect">
            <a:avLst/>
          </a:prstGeom>
          <a:solidFill>
            <a:srgbClr val="34A85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EC6A85F6-C3DB-EE7E-BB48-9AD1AF0AA84B}"/>
              </a:ext>
            </a:extLst>
          </p:cNvPr>
          <p:cNvSpPr txBox="1"/>
          <p:nvPr/>
        </p:nvSpPr>
        <p:spPr>
          <a:xfrm>
            <a:off x="5029200" y="5346700"/>
            <a:ext cx="2286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100" b="1">
                <a:solidFill>
                  <a:srgbClr val="FFFFFF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0F3C51B1-CD81-1E75-E9D0-A47CBD89FD96}"/>
              </a:ext>
            </a:extLst>
          </p:cNvPr>
          <p:cNvSpPr txBox="1"/>
          <p:nvPr/>
        </p:nvSpPr>
        <p:spPr>
          <a:xfrm>
            <a:off x="5511800" y="5283200"/>
            <a:ext cx="80518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 sz="1200">
                <a:solidFill>
                  <a:srgbClr val="002D5A"/>
                </a:solidFill>
                <a:latin typeface="Aptos" panose="020B0004020202020204" pitchFamily="34" charset="0"/>
              </a:rPr>
              <a:t>Solvencia financiera</a:t>
            </a:r>
          </a:p>
        </p:txBody>
      </p:sp>
      <p:sp>
        <p:nvSpPr>
          <p:cNvPr id="36" name="Elipse 35">
            <a:extLst>
              <a:ext uri="{FF2B5EF4-FFF2-40B4-BE49-F238E27FC236}">
                <a16:creationId xmlns:a16="http://schemas.microsoft.com/office/drawing/2014/main" id="{6C521214-1EBB-8C58-C8BB-FF722FB79C55}"/>
              </a:ext>
            </a:extLst>
          </p:cNvPr>
          <p:cNvSpPr/>
          <p:nvPr/>
        </p:nvSpPr>
        <p:spPr>
          <a:xfrm>
            <a:off x="1841500" y="6540500"/>
            <a:ext cx="660400" cy="660400"/>
          </a:xfrm>
          <a:prstGeom prst="ellipse">
            <a:avLst/>
          </a:prstGeom>
          <a:solidFill>
            <a:srgbClr val="34A85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0DCCAA3E-FC07-FE18-CE82-50BADADD2941}"/>
              </a:ext>
            </a:extLst>
          </p:cNvPr>
          <p:cNvSpPr txBox="1"/>
          <p:nvPr/>
        </p:nvSpPr>
        <p:spPr>
          <a:xfrm>
            <a:off x="2006600" y="6642100"/>
            <a:ext cx="3302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2400" b="1">
                <a:solidFill>
                  <a:srgbClr val="FFFFFF"/>
                </a:solidFill>
                <a:latin typeface="Aptos" panose="020B0004020202020204" pitchFamily="34" charset="0"/>
              </a:rPr>
              <a:t>✓</a:t>
            </a: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C0F8E4F0-48D7-9467-0FDD-E2FBE4AB59CB}"/>
              </a:ext>
            </a:extLst>
          </p:cNvPr>
          <p:cNvSpPr txBox="1"/>
          <p:nvPr/>
        </p:nvSpPr>
        <p:spPr>
          <a:xfrm>
            <a:off x="1587500" y="7302500"/>
            <a:ext cx="1168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000">
                <a:solidFill>
                  <a:srgbClr val="002D5A"/>
                </a:solidFill>
                <a:latin typeface="Aptos" panose="020B0004020202020204" pitchFamily="34" charset="0"/>
              </a:rPr>
              <a:t>Análisis finalizado</a:t>
            </a:r>
          </a:p>
        </p:txBody>
      </p:sp>
      <p:cxnSp>
        <p:nvCxnSpPr>
          <p:cNvPr id="39" name="Conector recto 38">
            <a:extLst>
              <a:ext uri="{FF2B5EF4-FFF2-40B4-BE49-F238E27FC236}">
                <a16:creationId xmlns:a16="http://schemas.microsoft.com/office/drawing/2014/main" id="{B9FDA448-C800-58E1-CE6F-F8E9B4F8DF6A}"/>
              </a:ext>
            </a:extLst>
          </p:cNvPr>
          <p:cNvCxnSpPr/>
          <p:nvPr/>
        </p:nvCxnSpPr>
        <p:spPr>
          <a:xfrm>
            <a:off x="2603500" y="6870700"/>
            <a:ext cx="1016000" cy="0"/>
          </a:xfrm>
          <a:prstGeom prst="line">
            <a:avLst/>
          </a:prstGeom>
          <a:ln w="25400">
            <a:solidFill>
              <a:srgbClr val="BFD8F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Elipse 39">
            <a:extLst>
              <a:ext uri="{FF2B5EF4-FFF2-40B4-BE49-F238E27FC236}">
                <a16:creationId xmlns:a16="http://schemas.microsoft.com/office/drawing/2014/main" id="{A2C64A50-2DAE-9E17-45BF-B6404FA72826}"/>
              </a:ext>
            </a:extLst>
          </p:cNvPr>
          <p:cNvSpPr/>
          <p:nvPr/>
        </p:nvSpPr>
        <p:spPr>
          <a:xfrm>
            <a:off x="3810000" y="6540500"/>
            <a:ext cx="660400" cy="660400"/>
          </a:xfrm>
          <a:prstGeom prst="ellipse">
            <a:avLst/>
          </a:prstGeom>
          <a:solidFill>
            <a:srgbClr val="34A85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0D887198-1FF2-059F-C793-3A8C92A2A346}"/>
              </a:ext>
            </a:extLst>
          </p:cNvPr>
          <p:cNvSpPr txBox="1"/>
          <p:nvPr/>
        </p:nvSpPr>
        <p:spPr>
          <a:xfrm>
            <a:off x="3975100" y="6642100"/>
            <a:ext cx="3302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2400" b="1">
                <a:solidFill>
                  <a:srgbClr val="FFFFFF"/>
                </a:solidFill>
                <a:latin typeface="Aptos" panose="020B0004020202020204" pitchFamily="34" charset="0"/>
              </a:rPr>
              <a:t>✓</a:t>
            </a: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B81C4E9E-D320-57DD-C09A-5D3F9C76D992}"/>
              </a:ext>
            </a:extLst>
          </p:cNvPr>
          <p:cNvSpPr txBox="1"/>
          <p:nvPr/>
        </p:nvSpPr>
        <p:spPr>
          <a:xfrm>
            <a:off x="3556000" y="7302500"/>
            <a:ext cx="1168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000">
                <a:solidFill>
                  <a:srgbClr val="002D5A"/>
                </a:solidFill>
                <a:latin typeface="Aptos" panose="020B0004020202020204" pitchFamily="34" charset="0"/>
              </a:rPr>
              <a:t>Desarrollo finalizado</a:t>
            </a:r>
          </a:p>
        </p:txBody>
      </p:sp>
      <p:cxnSp>
        <p:nvCxnSpPr>
          <p:cNvPr id="43" name="Conector recto 42">
            <a:extLst>
              <a:ext uri="{FF2B5EF4-FFF2-40B4-BE49-F238E27FC236}">
                <a16:creationId xmlns:a16="http://schemas.microsoft.com/office/drawing/2014/main" id="{95EC6155-42D8-7643-E340-C5FF075BA49E}"/>
              </a:ext>
            </a:extLst>
          </p:cNvPr>
          <p:cNvCxnSpPr/>
          <p:nvPr/>
        </p:nvCxnSpPr>
        <p:spPr>
          <a:xfrm>
            <a:off x="4572000" y="6870700"/>
            <a:ext cx="1016000" cy="0"/>
          </a:xfrm>
          <a:prstGeom prst="line">
            <a:avLst/>
          </a:prstGeom>
          <a:ln w="25400">
            <a:solidFill>
              <a:srgbClr val="BFD8F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Elipse 43">
            <a:extLst>
              <a:ext uri="{FF2B5EF4-FFF2-40B4-BE49-F238E27FC236}">
                <a16:creationId xmlns:a16="http://schemas.microsoft.com/office/drawing/2014/main" id="{74D8CF7F-944D-EB05-9ACB-4F99CDF07EB1}"/>
              </a:ext>
            </a:extLst>
          </p:cNvPr>
          <p:cNvSpPr/>
          <p:nvPr/>
        </p:nvSpPr>
        <p:spPr>
          <a:xfrm>
            <a:off x="5778500" y="6540500"/>
            <a:ext cx="660400" cy="660400"/>
          </a:xfrm>
          <a:prstGeom prst="ellipse">
            <a:avLst/>
          </a:prstGeom>
          <a:solidFill>
            <a:srgbClr val="34A85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6E85B5A3-EC3F-11B9-FB6C-5CAAF3580C0D}"/>
              </a:ext>
            </a:extLst>
          </p:cNvPr>
          <p:cNvSpPr txBox="1"/>
          <p:nvPr/>
        </p:nvSpPr>
        <p:spPr>
          <a:xfrm>
            <a:off x="5943600" y="6642100"/>
            <a:ext cx="3302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2400" b="1">
                <a:solidFill>
                  <a:srgbClr val="FFFFFF"/>
                </a:solidFill>
                <a:latin typeface="Aptos" panose="020B0004020202020204" pitchFamily="34" charset="0"/>
              </a:rPr>
              <a:t>✓</a:t>
            </a: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8FE83884-537A-CB7B-F7E9-1D065F231C0C}"/>
              </a:ext>
            </a:extLst>
          </p:cNvPr>
          <p:cNvSpPr txBox="1"/>
          <p:nvPr/>
        </p:nvSpPr>
        <p:spPr>
          <a:xfrm>
            <a:off x="5524500" y="7302500"/>
            <a:ext cx="1168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000">
                <a:solidFill>
                  <a:srgbClr val="002D5A"/>
                </a:solidFill>
                <a:latin typeface="Aptos" panose="020B0004020202020204" pitchFamily="34" charset="0"/>
              </a:rPr>
              <a:t>Pruebas finalizadas</a:t>
            </a:r>
          </a:p>
        </p:txBody>
      </p:sp>
      <p:cxnSp>
        <p:nvCxnSpPr>
          <p:cNvPr id="47" name="Conector recto 46">
            <a:extLst>
              <a:ext uri="{FF2B5EF4-FFF2-40B4-BE49-F238E27FC236}">
                <a16:creationId xmlns:a16="http://schemas.microsoft.com/office/drawing/2014/main" id="{7CC80C5B-CE30-F0CA-6609-9C09BD8F92C3}"/>
              </a:ext>
            </a:extLst>
          </p:cNvPr>
          <p:cNvCxnSpPr/>
          <p:nvPr/>
        </p:nvCxnSpPr>
        <p:spPr>
          <a:xfrm>
            <a:off x="6540500" y="6870700"/>
            <a:ext cx="1016000" cy="0"/>
          </a:xfrm>
          <a:prstGeom prst="line">
            <a:avLst/>
          </a:prstGeom>
          <a:ln w="25400">
            <a:solidFill>
              <a:srgbClr val="BFD8F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Elipse 47">
            <a:extLst>
              <a:ext uri="{FF2B5EF4-FFF2-40B4-BE49-F238E27FC236}">
                <a16:creationId xmlns:a16="http://schemas.microsoft.com/office/drawing/2014/main" id="{5E610E26-E265-79A7-FBCF-FC88DA7092F0}"/>
              </a:ext>
            </a:extLst>
          </p:cNvPr>
          <p:cNvSpPr/>
          <p:nvPr/>
        </p:nvSpPr>
        <p:spPr>
          <a:xfrm>
            <a:off x="7747000" y="6540500"/>
            <a:ext cx="660400" cy="660400"/>
          </a:xfrm>
          <a:prstGeom prst="ellipse">
            <a:avLst/>
          </a:prstGeom>
          <a:solidFill>
            <a:srgbClr val="34A85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49" name="CuadroTexto 48">
            <a:extLst>
              <a:ext uri="{FF2B5EF4-FFF2-40B4-BE49-F238E27FC236}">
                <a16:creationId xmlns:a16="http://schemas.microsoft.com/office/drawing/2014/main" id="{4ED4C1B1-E22D-63EF-685B-A16FCCE470F8}"/>
              </a:ext>
            </a:extLst>
          </p:cNvPr>
          <p:cNvSpPr txBox="1"/>
          <p:nvPr/>
        </p:nvSpPr>
        <p:spPr>
          <a:xfrm>
            <a:off x="7912100" y="6642100"/>
            <a:ext cx="3302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2400" b="1" dirty="0">
                <a:solidFill>
                  <a:srgbClr val="FFFFFF"/>
                </a:solidFill>
                <a:latin typeface="Aptos" panose="020B0004020202020204" pitchFamily="34" charset="0"/>
              </a:rPr>
              <a:t>✓</a:t>
            </a:r>
          </a:p>
        </p:txBody>
      </p:sp>
      <p:sp>
        <p:nvSpPr>
          <p:cNvPr id="50" name="CuadroTexto 49">
            <a:extLst>
              <a:ext uri="{FF2B5EF4-FFF2-40B4-BE49-F238E27FC236}">
                <a16:creationId xmlns:a16="http://schemas.microsoft.com/office/drawing/2014/main" id="{BB1419AB-80E1-4375-470B-B8E0C5CE3CFA}"/>
              </a:ext>
            </a:extLst>
          </p:cNvPr>
          <p:cNvSpPr txBox="1"/>
          <p:nvPr/>
        </p:nvSpPr>
        <p:spPr>
          <a:xfrm>
            <a:off x="7493000" y="7302500"/>
            <a:ext cx="1168400" cy="3077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000">
                <a:solidFill>
                  <a:srgbClr val="002D5A"/>
                </a:solidFill>
                <a:latin typeface="Aptos" panose="020B0004020202020204" pitchFamily="34" charset="0"/>
              </a:rPr>
              <a:t>Implementación finalizada</a:t>
            </a:r>
          </a:p>
        </p:txBody>
      </p: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DE5F7272-E849-4E77-2366-BFD1B52500EA}"/>
              </a:ext>
            </a:extLst>
          </p:cNvPr>
          <p:cNvCxnSpPr/>
          <p:nvPr/>
        </p:nvCxnSpPr>
        <p:spPr>
          <a:xfrm>
            <a:off x="8509000" y="6870700"/>
            <a:ext cx="1016000" cy="0"/>
          </a:xfrm>
          <a:prstGeom prst="line">
            <a:avLst/>
          </a:prstGeom>
          <a:ln w="25400">
            <a:solidFill>
              <a:srgbClr val="BFD8F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CuadroTexto 52">
            <a:extLst>
              <a:ext uri="{FF2B5EF4-FFF2-40B4-BE49-F238E27FC236}">
                <a16:creationId xmlns:a16="http://schemas.microsoft.com/office/drawing/2014/main" id="{4623490A-4DDD-459F-9B2C-83F8EDC415DA}"/>
              </a:ext>
            </a:extLst>
          </p:cNvPr>
          <p:cNvSpPr txBox="1"/>
          <p:nvPr/>
        </p:nvSpPr>
        <p:spPr>
          <a:xfrm>
            <a:off x="9931400" y="6604000"/>
            <a:ext cx="228600" cy="43088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2800" b="1">
                <a:solidFill>
                  <a:srgbClr val="FFFFFF"/>
                </a:solidFill>
                <a:latin typeface="Aptos" panose="020B0004020202020204" pitchFamily="34" charset="0"/>
              </a:rPr>
              <a:t>•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5E0A6326-3EFC-5CE4-9482-67787B6F5374}"/>
              </a:ext>
            </a:extLst>
          </p:cNvPr>
          <p:cNvSpPr txBox="1"/>
          <p:nvPr/>
        </p:nvSpPr>
        <p:spPr>
          <a:xfrm>
            <a:off x="9461500" y="7302500"/>
            <a:ext cx="1168400" cy="3077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000">
                <a:solidFill>
                  <a:srgbClr val="002D5A"/>
                </a:solidFill>
                <a:latin typeface="Aptos" panose="020B0004020202020204" pitchFamily="34" charset="0"/>
              </a:rPr>
              <a:t>Capacitación en proceso</a:t>
            </a:r>
          </a:p>
        </p:txBody>
      </p:sp>
      <p:cxnSp>
        <p:nvCxnSpPr>
          <p:cNvPr id="55" name="Conector recto 54">
            <a:extLst>
              <a:ext uri="{FF2B5EF4-FFF2-40B4-BE49-F238E27FC236}">
                <a16:creationId xmlns:a16="http://schemas.microsoft.com/office/drawing/2014/main" id="{52DBA3B4-84C9-17A0-8673-F3D7BC4CE180}"/>
              </a:ext>
            </a:extLst>
          </p:cNvPr>
          <p:cNvCxnSpPr/>
          <p:nvPr/>
        </p:nvCxnSpPr>
        <p:spPr>
          <a:xfrm>
            <a:off x="10477500" y="6870700"/>
            <a:ext cx="1016000" cy="0"/>
          </a:xfrm>
          <a:prstGeom prst="line">
            <a:avLst/>
          </a:prstGeom>
          <a:ln w="25400">
            <a:solidFill>
              <a:srgbClr val="BFD8F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Elipse 55">
            <a:extLst>
              <a:ext uri="{FF2B5EF4-FFF2-40B4-BE49-F238E27FC236}">
                <a16:creationId xmlns:a16="http://schemas.microsoft.com/office/drawing/2014/main" id="{04BA0994-D398-BE9A-6A7D-2FF03B966A61}"/>
              </a:ext>
            </a:extLst>
          </p:cNvPr>
          <p:cNvSpPr/>
          <p:nvPr/>
        </p:nvSpPr>
        <p:spPr>
          <a:xfrm>
            <a:off x="11684000" y="6540500"/>
            <a:ext cx="660400" cy="660400"/>
          </a:xfrm>
          <a:prstGeom prst="ellipse">
            <a:avLst/>
          </a:prstGeom>
          <a:solidFill>
            <a:srgbClr val="F5B4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57" name="CuadroTexto 56">
            <a:extLst>
              <a:ext uri="{FF2B5EF4-FFF2-40B4-BE49-F238E27FC236}">
                <a16:creationId xmlns:a16="http://schemas.microsoft.com/office/drawing/2014/main" id="{69F8D466-712F-7F0A-BB4C-5522D885E6A3}"/>
              </a:ext>
            </a:extLst>
          </p:cNvPr>
          <p:cNvSpPr txBox="1"/>
          <p:nvPr/>
        </p:nvSpPr>
        <p:spPr>
          <a:xfrm>
            <a:off x="11899900" y="6604000"/>
            <a:ext cx="228600" cy="43088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2800" b="1">
                <a:solidFill>
                  <a:srgbClr val="FFFFFF"/>
                </a:solidFill>
                <a:latin typeface="Aptos" panose="020B0004020202020204" pitchFamily="34" charset="0"/>
              </a:rPr>
              <a:t>•</a:t>
            </a:r>
          </a:p>
        </p:txBody>
      </p:sp>
      <p:sp>
        <p:nvSpPr>
          <p:cNvPr id="58" name="CuadroTexto 57">
            <a:extLst>
              <a:ext uri="{FF2B5EF4-FFF2-40B4-BE49-F238E27FC236}">
                <a16:creationId xmlns:a16="http://schemas.microsoft.com/office/drawing/2014/main" id="{74EFD71E-1546-BE11-C0DB-2E259F7411D7}"/>
              </a:ext>
            </a:extLst>
          </p:cNvPr>
          <p:cNvSpPr txBox="1"/>
          <p:nvPr/>
        </p:nvSpPr>
        <p:spPr>
          <a:xfrm>
            <a:off x="11430000" y="7302500"/>
            <a:ext cx="1168400" cy="3077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000">
                <a:solidFill>
                  <a:srgbClr val="002D5A"/>
                </a:solidFill>
                <a:latin typeface="Aptos" panose="020B0004020202020204" pitchFamily="34" charset="0"/>
              </a:rPr>
              <a:t>Lanzamiento en proceso</a:t>
            </a:r>
          </a:p>
        </p:txBody>
      </p:sp>
      <p:sp>
        <p:nvSpPr>
          <p:cNvPr id="59" name="Rectángulo 58">
            <a:extLst>
              <a:ext uri="{FF2B5EF4-FFF2-40B4-BE49-F238E27FC236}">
                <a16:creationId xmlns:a16="http://schemas.microsoft.com/office/drawing/2014/main" id="{FADD20BB-03EE-3931-DAE0-2A26DA7150A2}"/>
              </a:ext>
            </a:extLst>
          </p:cNvPr>
          <p:cNvSpPr/>
          <p:nvPr/>
        </p:nvSpPr>
        <p:spPr>
          <a:xfrm>
            <a:off x="0" y="8636000"/>
            <a:ext cx="16256000" cy="508000"/>
          </a:xfrm>
          <a:prstGeom prst="rect">
            <a:avLst/>
          </a:prstGeom>
          <a:solidFill>
            <a:srgbClr val="001F4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60" name="CuadroTexto 59">
            <a:extLst>
              <a:ext uri="{FF2B5EF4-FFF2-40B4-BE49-F238E27FC236}">
                <a16:creationId xmlns:a16="http://schemas.microsoft.com/office/drawing/2014/main" id="{397CC213-D255-F48F-E354-BE5D9FC7928C}"/>
              </a:ext>
            </a:extLst>
          </p:cNvPr>
          <p:cNvSpPr txBox="1"/>
          <p:nvPr/>
        </p:nvSpPr>
        <p:spPr>
          <a:xfrm>
            <a:off x="889000" y="8801100"/>
            <a:ext cx="9652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ES" sz="1100">
                <a:solidFill>
                  <a:srgbClr val="FFFFFF"/>
                </a:solidFill>
                <a:latin typeface="Aptos" panose="020B0004020202020204" pitchFamily="34" charset="0"/>
              </a:rPr>
              <a:t>DGAC · Avances del proyecto de modernización digital · 15 de julio de 2026</a:t>
            </a:r>
            <a:endParaRPr lang="es-GT" sz="11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61" name="CuadroTexto 60">
            <a:extLst>
              <a:ext uri="{FF2B5EF4-FFF2-40B4-BE49-F238E27FC236}">
                <a16:creationId xmlns:a16="http://schemas.microsoft.com/office/drawing/2014/main" id="{D29A8479-0294-31CA-3CBB-978AA0751043}"/>
              </a:ext>
            </a:extLst>
          </p:cNvPr>
          <p:cNvSpPr txBox="1"/>
          <p:nvPr/>
        </p:nvSpPr>
        <p:spPr>
          <a:xfrm>
            <a:off x="9969500" y="8801100"/>
            <a:ext cx="5334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s-ES" sz="1100">
                <a:solidFill>
                  <a:srgbClr val="FFFFFF"/>
                </a:solidFill>
                <a:latin typeface="Aptos" panose="020B0004020202020204" pitchFamily="34" charset="0"/>
              </a:rPr>
              <a:t>Servicios más ágiles, eficientes y transparentes</a:t>
            </a:r>
            <a:endParaRPr lang="es-GT" sz="11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62" name="Elipse 61">
            <a:extLst>
              <a:ext uri="{FF2B5EF4-FFF2-40B4-BE49-F238E27FC236}">
                <a16:creationId xmlns:a16="http://schemas.microsoft.com/office/drawing/2014/main" id="{258659ED-1EFF-CD59-BA18-0DB0B8A3F5AB}"/>
              </a:ext>
            </a:extLst>
          </p:cNvPr>
          <p:cNvSpPr/>
          <p:nvPr/>
        </p:nvSpPr>
        <p:spPr>
          <a:xfrm>
            <a:off x="9658350" y="6577818"/>
            <a:ext cx="660400" cy="660400"/>
          </a:xfrm>
          <a:prstGeom prst="ellipse">
            <a:avLst/>
          </a:prstGeom>
          <a:solidFill>
            <a:srgbClr val="34A85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66" name="CuadroTexto 65">
            <a:extLst>
              <a:ext uri="{FF2B5EF4-FFF2-40B4-BE49-F238E27FC236}">
                <a16:creationId xmlns:a16="http://schemas.microsoft.com/office/drawing/2014/main" id="{5366077A-9982-06BF-0D16-FFD2770BD7FC}"/>
              </a:ext>
            </a:extLst>
          </p:cNvPr>
          <p:cNvSpPr txBox="1"/>
          <p:nvPr/>
        </p:nvSpPr>
        <p:spPr>
          <a:xfrm>
            <a:off x="9829800" y="6717269"/>
            <a:ext cx="3302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2400" b="1" dirty="0">
                <a:solidFill>
                  <a:srgbClr val="FFFFFF"/>
                </a:solidFill>
                <a:latin typeface="Aptos" panose="020B0004020202020204" pitchFamily="34" charset="0"/>
              </a:rPr>
              <a:t>✓</a:t>
            </a:r>
          </a:p>
        </p:txBody>
      </p:sp>
    </p:spTree>
    <p:extLst>
      <p:ext uri="{BB962C8B-B14F-4D97-AF65-F5344CB8AC3E}">
        <p14:creationId xmlns:p14="http://schemas.microsoft.com/office/powerpoint/2010/main" val="22344353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5545F0CD-3E37-FBD3-B419-9056072FDE18}"/>
              </a:ext>
            </a:extLst>
          </p:cNvPr>
          <p:cNvSpPr/>
          <p:nvPr/>
        </p:nvSpPr>
        <p:spPr>
          <a:xfrm>
            <a:off x="0" y="0"/>
            <a:ext cx="16256000" cy="9144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3647916-3368-B4B5-DCA3-ADAE6C4C135A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215900"/>
            <a:ext cx="1968500" cy="482600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50C99782-2F5A-F5E0-7D63-7E027A362F09}"/>
              </a:ext>
            </a:extLst>
          </p:cNvPr>
          <p:cNvSpPr txBox="1"/>
          <p:nvPr/>
        </p:nvSpPr>
        <p:spPr>
          <a:xfrm>
            <a:off x="812800" y="1219200"/>
            <a:ext cx="12954000" cy="44627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 sz="2900" b="1" dirty="0">
                <a:solidFill>
                  <a:srgbClr val="001F44"/>
                </a:solidFill>
                <a:latin typeface="Aptos" panose="020B0004020202020204" pitchFamily="34" charset="0"/>
              </a:rPr>
              <a:t>Propuesta de lanzamiento 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B8BA8456-C18F-20E8-6881-27C9341588BF}"/>
              </a:ext>
            </a:extLst>
          </p:cNvPr>
          <p:cNvSpPr/>
          <p:nvPr/>
        </p:nvSpPr>
        <p:spPr>
          <a:xfrm>
            <a:off x="812800" y="1854200"/>
            <a:ext cx="889000" cy="63500"/>
          </a:xfrm>
          <a:prstGeom prst="rect">
            <a:avLst/>
          </a:prstGeom>
          <a:solidFill>
            <a:srgbClr val="005AA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CA6D5EA-9CDA-E417-5E68-BEBB78D48CD8}"/>
              </a:ext>
            </a:extLst>
          </p:cNvPr>
          <p:cNvSpPr/>
          <p:nvPr/>
        </p:nvSpPr>
        <p:spPr>
          <a:xfrm>
            <a:off x="15011400" y="0"/>
            <a:ext cx="635000" cy="584200"/>
          </a:xfrm>
          <a:prstGeom prst="rect">
            <a:avLst/>
          </a:prstGeom>
          <a:solidFill>
            <a:srgbClr val="005AA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F3819228-E9E4-CE15-0DB1-257E88301EE5}"/>
              </a:ext>
            </a:extLst>
          </p:cNvPr>
          <p:cNvSpPr txBox="1"/>
          <p:nvPr/>
        </p:nvSpPr>
        <p:spPr>
          <a:xfrm>
            <a:off x="15227300" y="127000"/>
            <a:ext cx="3048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600" b="1">
                <a:solidFill>
                  <a:srgbClr val="FFFFFF"/>
                </a:solidFill>
                <a:latin typeface="Aptos" panose="020B0004020202020204" pitchFamily="34" charset="0"/>
              </a:rPr>
              <a:t>8</a:t>
            </a:r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1A43963D-06FE-4051-AA77-90AEB9081266}"/>
              </a:ext>
            </a:extLst>
          </p:cNvPr>
          <p:cNvSpPr/>
          <p:nvPr/>
        </p:nvSpPr>
        <p:spPr>
          <a:xfrm>
            <a:off x="0" y="8636000"/>
            <a:ext cx="16256000" cy="508000"/>
          </a:xfrm>
          <a:prstGeom prst="rect">
            <a:avLst/>
          </a:prstGeom>
          <a:solidFill>
            <a:srgbClr val="001F4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5427B539-AB4A-0912-6E4A-ACF58ED0D6BB}"/>
              </a:ext>
            </a:extLst>
          </p:cNvPr>
          <p:cNvSpPr txBox="1"/>
          <p:nvPr/>
        </p:nvSpPr>
        <p:spPr>
          <a:xfrm>
            <a:off x="889000" y="8801100"/>
            <a:ext cx="9652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ES" sz="1100">
                <a:solidFill>
                  <a:srgbClr val="FFFFFF"/>
                </a:solidFill>
                <a:latin typeface="Aptos" panose="020B0004020202020204" pitchFamily="34" charset="0"/>
              </a:rPr>
              <a:t>DGAC · Avances del proyecto de modernización digital · 15 de julio de 2026</a:t>
            </a:r>
            <a:endParaRPr lang="es-GT" sz="11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916ED409-D7F7-68FD-1638-9FED07BE31A0}"/>
              </a:ext>
            </a:extLst>
          </p:cNvPr>
          <p:cNvSpPr txBox="1"/>
          <p:nvPr/>
        </p:nvSpPr>
        <p:spPr>
          <a:xfrm>
            <a:off x="9969500" y="8801100"/>
            <a:ext cx="5334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s-ES" sz="1100">
                <a:solidFill>
                  <a:srgbClr val="FFFFFF"/>
                </a:solidFill>
                <a:latin typeface="Aptos" panose="020B0004020202020204" pitchFamily="34" charset="0"/>
              </a:rPr>
              <a:t>Servicios más ágiles, eficientes y transparentes</a:t>
            </a:r>
            <a:endParaRPr lang="es-GT" sz="11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36947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8A465269-2530-47BE-A384-F7A90FD0CC8F}"/>
              </a:ext>
            </a:extLst>
          </p:cNvPr>
          <p:cNvSpPr/>
          <p:nvPr/>
        </p:nvSpPr>
        <p:spPr>
          <a:xfrm>
            <a:off x="0" y="0"/>
            <a:ext cx="16256000" cy="9144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713695A-2E89-F71D-B7AA-C46A9867AEE9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215900"/>
            <a:ext cx="1968500" cy="482600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413B6666-29AF-1BA9-8080-508F91259001}"/>
              </a:ext>
            </a:extLst>
          </p:cNvPr>
          <p:cNvSpPr txBox="1"/>
          <p:nvPr/>
        </p:nvSpPr>
        <p:spPr>
          <a:xfrm>
            <a:off x="812800" y="1219200"/>
            <a:ext cx="12954000" cy="44627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ES" sz="2900" b="1">
                <a:solidFill>
                  <a:srgbClr val="001F44"/>
                </a:solidFill>
                <a:latin typeface="Aptos" panose="020B0004020202020204" pitchFamily="34" charset="0"/>
              </a:rPr>
              <a:t>PAGO ELECTRÓNICO NEONET Y FIRMA ELECTRÓNICA AVANZADA</a:t>
            </a:r>
            <a:endParaRPr lang="es-GT" sz="2900" b="1">
              <a:solidFill>
                <a:srgbClr val="001F44"/>
              </a:solidFill>
              <a:latin typeface="Aptos" panose="020B0004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CE119FE-288D-D0FF-97E4-93B0C407E218}"/>
              </a:ext>
            </a:extLst>
          </p:cNvPr>
          <p:cNvSpPr/>
          <p:nvPr/>
        </p:nvSpPr>
        <p:spPr>
          <a:xfrm>
            <a:off x="812800" y="1854200"/>
            <a:ext cx="889000" cy="63500"/>
          </a:xfrm>
          <a:prstGeom prst="rect">
            <a:avLst/>
          </a:prstGeom>
          <a:solidFill>
            <a:srgbClr val="005AA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8DC8369E-F4E3-20F2-2C89-A8B2A03C5CDA}"/>
              </a:ext>
            </a:extLst>
          </p:cNvPr>
          <p:cNvSpPr/>
          <p:nvPr/>
        </p:nvSpPr>
        <p:spPr>
          <a:xfrm>
            <a:off x="15011400" y="0"/>
            <a:ext cx="635000" cy="584200"/>
          </a:xfrm>
          <a:prstGeom prst="rect">
            <a:avLst/>
          </a:prstGeom>
          <a:solidFill>
            <a:srgbClr val="005AA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0A70E12F-11CA-1FA6-DBDD-53F700D78B56}"/>
              </a:ext>
            </a:extLst>
          </p:cNvPr>
          <p:cNvSpPr txBox="1"/>
          <p:nvPr/>
        </p:nvSpPr>
        <p:spPr>
          <a:xfrm>
            <a:off x="15227300" y="127000"/>
            <a:ext cx="3048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600" b="1">
                <a:solidFill>
                  <a:srgbClr val="FFFFFF"/>
                </a:solidFill>
                <a:latin typeface="Aptos" panose="020B0004020202020204" pitchFamily="34" charset="0"/>
              </a:rPr>
              <a:t>9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1B496FE3-C168-326A-C55A-F4DB21DC3DB5}"/>
              </a:ext>
            </a:extLst>
          </p:cNvPr>
          <p:cNvSpPr/>
          <p:nvPr/>
        </p:nvSpPr>
        <p:spPr>
          <a:xfrm>
            <a:off x="1143000" y="2667000"/>
            <a:ext cx="6350000" cy="2921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D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7038F8F3-12C3-6A58-2C56-2EE192CBC19B}"/>
              </a:ext>
            </a:extLst>
          </p:cNvPr>
          <p:cNvSpPr/>
          <p:nvPr/>
        </p:nvSpPr>
        <p:spPr>
          <a:xfrm>
            <a:off x="1143000" y="2667000"/>
            <a:ext cx="88900" cy="2921000"/>
          </a:xfrm>
          <a:prstGeom prst="rect">
            <a:avLst/>
          </a:prstGeom>
          <a:solidFill>
            <a:srgbClr val="005AA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431E818-DC92-AFB0-C926-F2DC06453737}"/>
              </a:ext>
            </a:extLst>
          </p:cNvPr>
          <p:cNvSpPr txBox="1"/>
          <p:nvPr/>
        </p:nvSpPr>
        <p:spPr>
          <a:xfrm>
            <a:off x="1422400" y="2895600"/>
            <a:ext cx="58420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 sz="1700" b="1">
                <a:solidFill>
                  <a:srgbClr val="001F44"/>
                </a:solidFill>
                <a:latin typeface="Aptos" panose="020B0004020202020204" pitchFamily="34" charset="0"/>
              </a:rPr>
              <a:t>Pago electrónico Neonet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C4576177-BDC1-0415-2F49-45988BEF82F2}"/>
              </a:ext>
            </a:extLst>
          </p:cNvPr>
          <p:cNvSpPr txBox="1"/>
          <p:nvPr/>
        </p:nvSpPr>
        <p:spPr>
          <a:xfrm>
            <a:off x="1422400" y="3365500"/>
            <a:ext cx="5816600" cy="64633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ES" sz="1400">
                <a:solidFill>
                  <a:srgbClr val="002D5A"/>
                </a:solidFill>
                <a:latin typeface="Aptos" panose="020B0004020202020204" pitchFamily="34" charset="0"/>
              </a:rPr>
              <a:t>Estado actual: No iniciado.</a:t>
            </a:r>
          </a:p>
          <a:p>
            <a:r>
              <a:rPr lang="es-ES" sz="1400">
                <a:solidFill>
                  <a:srgbClr val="002D5A"/>
                </a:solidFill>
                <a:latin typeface="Aptos" panose="020B0004020202020204" pitchFamily="34" charset="0"/>
              </a:rPr>
              <a:t>Objetivo: integrar el servicio de pago electrónico dentro de la plataforma digital de trámites para facilitar pagos y trazabilidad.</a:t>
            </a:r>
            <a:endParaRPr lang="es-GT" sz="1400">
              <a:solidFill>
                <a:srgbClr val="002D5A"/>
              </a:solidFill>
              <a:latin typeface="Aptos" panose="020B0004020202020204" pitchFamily="34" charset="0"/>
            </a:endParaRP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7046F235-7988-43B3-A70C-F4CD9E4A08C7}"/>
              </a:ext>
            </a:extLst>
          </p:cNvPr>
          <p:cNvSpPr/>
          <p:nvPr/>
        </p:nvSpPr>
        <p:spPr>
          <a:xfrm>
            <a:off x="8763000" y="2667000"/>
            <a:ext cx="6350000" cy="2921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D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851C4D76-CDDC-AAAD-94A5-1DF6E1FCBB91}"/>
              </a:ext>
            </a:extLst>
          </p:cNvPr>
          <p:cNvSpPr/>
          <p:nvPr/>
        </p:nvSpPr>
        <p:spPr>
          <a:xfrm>
            <a:off x="8763000" y="2667000"/>
            <a:ext cx="88900" cy="2921000"/>
          </a:xfrm>
          <a:prstGeom prst="rect">
            <a:avLst/>
          </a:prstGeom>
          <a:solidFill>
            <a:srgbClr val="6859D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83C3E880-3B0D-3596-E0AD-1DAE1D19E2C8}"/>
              </a:ext>
            </a:extLst>
          </p:cNvPr>
          <p:cNvSpPr txBox="1"/>
          <p:nvPr/>
        </p:nvSpPr>
        <p:spPr>
          <a:xfrm>
            <a:off x="9042400" y="2895600"/>
            <a:ext cx="58420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 sz="1700" b="1">
                <a:solidFill>
                  <a:srgbClr val="001F44"/>
                </a:solidFill>
                <a:latin typeface="Aptos" panose="020B0004020202020204" pitchFamily="34" charset="0"/>
              </a:rPr>
              <a:t>Firma Electrónica Avanzada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DCB9E73D-4C98-34E6-FD41-066BAF6F6C10}"/>
              </a:ext>
            </a:extLst>
          </p:cNvPr>
          <p:cNvSpPr txBox="1"/>
          <p:nvPr/>
        </p:nvSpPr>
        <p:spPr>
          <a:xfrm>
            <a:off x="9042400" y="3365500"/>
            <a:ext cx="5816600" cy="64633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 sz="1400">
                <a:solidFill>
                  <a:srgbClr val="002D5A"/>
                </a:solidFill>
                <a:latin typeface="Aptos" panose="020B0004020202020204" pitchFamily="34" charset="0"/>
              </a:rPr>
              <a:t>Estado actual: No iniciado.</a:t>
            </a:r>
          </a:p>
          <a:p>
            <a:r>
              <a:rPr lang="es-GT" sz="1400">
                <a:solidFill>
                  <a:srgbClr val="002D5A"/>
                </a:solidFill>
                <a:latin typeface="Aptos" panose="020B0004020202020204" pitchFamily="34" charset="0"/>
              </a:rPr>
              <a:t>Objetivo: incorporar firma electrónica avanzada para fortalecer validez documental y gestión digital de expedientes.</a:t>
            </a:r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D09BE8E3-36B7-4836-B089-ECCB00CE6ADC}"/>
              </a:ext>
            </a:extLst>
          </p:cNvPr>
          <p:cNvSpPr/>
          <p:nvPr/>
        </p:nvSpPr>
        <p:spPr>
          <a:xfrm>
            <a:off x="3111500" y="6477000"/>
            <a:ext cx="660400" cy="660400"/>
          </a:xfrm>
          <a:prstGeom prst="ellipse">
            <a:avLst/>
          </a:prstGeom>
          <a:solidFill>
            <a:srgbClr val="005AA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6C9EB768-43D5-0525-A2DD-A52B8D56FA8C}"/>
              </a:ext>
            </a:extLst>
          </p:cNvPr>
          <p:cNvSpPr txBox="1"/>
          <p:nvPr/>
        </p:nvSpPr>
        <p:spPr>
          <a:xfrm>
            <a:off x="3327400" y="6540500"/>
            <a:ext cx="228600" cy="43088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2800" b="1">
                <a:solidFill>
                  <a:srgbClr val="FFFFFF"/>
                </a:solidFill>
                <a:latin typeface="Aptos" panose="020B0004020202020204" pitchFamily="34" charset="0"/>
              </a:rPr>
              <a:t>•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CC580BC4-6BB5-F3B3-86F4-372565066036}"/>
              </a:ext>
            </a:extLst>
          </p:cNvPr>
          <p:cNvSpPr txBox="1"/>
          <p:nvPr/>
        </p:nvSpPr>
        <p:spPr>
          <a:xfrm>
            <a:off x="2857500" y="7239000"/>
            <a:ext cx="1168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000">
                <a:solidFill>
                  <a:srgbClr val="002D5A"/>
                </a:solidFill>
                <a:latin typeface="Aptos" panose="020B0004020202020204" pitchFamily="34" charset="0"/>
              </a:rPr>
              <a:t>Definición técnica</a:t>
            </a:r>
          </a:p>
        </p:txBody>
      </p: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2AAEAE97-90F1-ED95-ED79-2D09DCE3B23E}"/>
              </a:ext>
            </a:extLst>
          </p:cNvPr>
          <p:cNvCxnSpPr/>
          <p:nvPr/>
        </p:nvCxnSpPr>
        <p:spPr>
          <a:xfrm>
            <a:off x="3873500" y="6807200"/>
            <a:ext cx="1460500" cy="0"/>
          </a:xfrm>
          <a:prstGeom prst="line">
            <a:avLst/>
          </a:prstGeom>
          <a:ln w="25400">
            <a:solidFill>
              <a:srgbClr val="BFD8F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Elipse 20">
            <a:extLst>
              <a:ext uri="{FF2B5EF4-FFF2-40B4-BE49-F238E27FC236}">
                <a16:creationId xmlns:a16="http://schemas.microsoft.com/office/drawing/2014/main" id="{5ED06B11-C8A8-D026-A648-437DBABAC0A7}"/>
              </a:ext>
            </a:extLst>
          </p:cNvPr>
          <p:cNvSpPr/>
          <p:nvPr/>
        </p:nvSpPr>
        <p:spPr>
          <a:xfrm>
            <a:off x="5524500" y="6477000"/>
            <a:ext cx="660400" cy="660400"/>
          </a:xfrm>
          <a:prstGeom prst="ellipse">
            <a:avLst/>
          </a:prstGeom>
          <a:solidFill>
            <a:srgbClr val="F5B4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C8E529A3-F738-0A92-B5A4-322B76D22B4B}"/>
              </a:ext>
            </a:extLst>
          </p:cNvPr>
          <p:cNvSpPr txBox="1"/>
          <p:nvPr/>
        </p:nvSpPr>
        <p:spPr>
          <a:xfrm>
            <a:off x="5740400" y="6540500"/>
            <a:ext cx="228600" cy="43088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2800" b="1">
                <a:solidFill>
                  <a:srgbClr val="FFFFFF"/>
                </a:solidFill>
                <a:latin typeface="Aptos" panose="020B0004020202020204" pitchFamily="34" charset="0"/>
              </a:rPr>
              <a:t>•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6C14CB31-221A-426A-F113-92EB4049351E}"/>
              </a:ext>
            </a:extLst>
          </p:cNvPr>
          <p:cNvSpPr txBox="1"/>
          <p:nvPr/>
        </p:nvSpPr>
        <p:spPr>
          <a:xfrm>
            <a:off x="5270500" y="7239000"/>
            <a:ext cx="1168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000">
                <a:solidFill>
                  <a:srgbClr val="002D5A"/>
                </a:solidFill>
                <a:latin typeface="Aptos" panose="020B0004020202020204" pitchFamily="34" charset="0"/>
              </a:rPr>
              <a:t>Integración</a:t>
            </a:r>
          </a:p>
        </p:txBody>
      </p: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F2C23931-0AAC-FDB4-85EE-E5DE4A724B04}"/>
              </a:ext>
            </a:extLst>
          </p:cNvPr>
          <p:cNvCxnSpPr/>
          <p:nvPr/>
        </p:nvCxnSpPr>
        <p:spPr>
          <a:xfrm>
            <a:off x="6286500" y="6807200"/>
            <a:ext cx="1460500" cy="0"/>
          </a:xfrm>
          <a:prstGeom prst="line">
            <a:avLst/>
          </a:prstGeom>
          <a:ln w="25400">
            <a:solidFill>
              <a:srgbClr val="BFD8F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Elipse 24">
            <a:extLst>
              <a:ext uri="{FF2B5EF4-FFF2-40B4-BE49-F238E27FC236}">
                <a16:creationId xmlns:a16="http://schemas.microsoft.com/office/drawing/2014/main" id="{5E4A8473-68CB-920E-4AD6-BF5145E08A39}"/>
              </a:ext>
            </a:extLst>
          </p:cNvPr>
          <p:cNvSpPr/>
          <p:nvPr/>
        </p:nvSpPr>
        <p:spPr>
          <a:xfrm>
            <a:off x="7937500" y="6477000"/>
            <a:ext cx="660400" cy="660400"/>
          </a:xfrm>
          <a:prstGeom prst="ellipse">
            <a:avLst/>
          </a:prstGeom>
          <a:solidFill>
            <a:srgbClr val="EB7D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37C2B2E2-4E78-60C3-2755-B9F0D646F308}"/>
              </a:ext>
            </a:extLst>
          </p:cNvPr>
          <p:cNvSpPr txBox="1"/>
          <p:nvPr/>
        </p:nvSpPr>
        <p:spPr>
          <a:xfrm>
            <a:off x="8153400" y="6540500"/>
            <a:ext cx="228600" cy="43088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2800" b="1">
                <a:solidFill>
                  <a:srgbClr val="FFFFFF"/>
                </a:solidFill>
                <a:latin typeface="Aptos" panose="020B0004020202020204" pitchFamily="34" charset="0"/>
              </a:rPr>
              <a:t>•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19B50827-70AD-26E1-0E50-DEBCABF5E21C}"/>
              </a:ext>
            </a:extLst>
          </p:cNvPr>
          <p:cNvSpPr txBox="1"/>
          <p:nvPr/>
        </p:nvSpPr>
        <p:spPr>
          <a:xfrm>
            <a:off x="7683500" y="7239000"/>
            <a:ext cx="1168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000">
                <a:solidFill>
                  <a:srgbClr val="002D5A"/>
                </a:solidFill>
                <a:latin typeface="Aptos" panose="020B0004020202020204" pitchFamily="34" charset="0"/>
              </a:rPr>
              <a:t>Pruebas</a:t>
            </a:r>
          </a:p>
        </p:txBody>
      </p: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274014F5-D71C-F490-8A9E-0BFFA8819F28}"/>
              </a:ext>
            </a:extLst>
          </p:cNvPr>
          <p:cNvCxnSpPr/>
          <p:nvPr/>
        </p:nvCxnSpPr>
        <p:spPr>
          <a:xfrm>
            <a:off x="8699500" y="6807200"/>
            <a:ext cx="1460500" cy="0"/>
          </a:xfrm>
          <a:prstGeom prst="line">
            <a:avLst/>
          </a:prstGeom>
          <a:ln w="25400">
            <a:solidFill>
              <a:srgbClr val="BFD8F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Elipse 28">
            <a:extLst>
              <a:ext uri="{FF2B5EF4-FFF2-40B4-BE49-F238E27FC236}">
                <a16:creationId xmlns:a16="http://schemas.microsoft.com/office/drawing/2014/main" id="{E73465AD-368B-25CA-4F0B-E0257FF280C8}"/>
              </a:ext>
            </a:extLst>
          </p:cNvPr>
          <p:cNvSpPr/>
          <p:nvPr/>
        </p:nvSpPr>
        <p:spPr>
          <a:xfrm>
            <a:off x="10350500" y="6477000"/>
            <a:ext cx="660400" cy="660400"/>
          </a:xfrm>
          <a:prstGeom prst="ellipse">
            <a:avLst/>
          </a:prstGeom>
          <a:solidFill>
            <a:srgbClr val="34A85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128832D4-B10F-A1DA-9400-00D66A710989}"/>
              </a:ext>
            </a:extLst>
          </p:cNvPr>
          <p:cNvSpPr txBox="1"/>
          <p:nvPr/>
        </p:nvSpPr>
        <p:spPr>
          <a:xfrm>
            <a:off x="10566400" y="6540500"/>
            <a:ext cx="228600" cy="43088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2800" b="1">
                <a:solidFill>
                  <a:srgbClr val="FFFFFF"/>
                </a:solidFill>
                <a:latin typeface="Aptos" panose="020B0004020202020204" pitchFamily="34" charset="0"/>
              </a:rPr>
              <a:t>•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4315DFF-6484-9BE9-F988-254C9BC66FEA}"/>
              </a:ext>
            </a:extLst>
          </p:cNvPr>
          <p:cNvSpPr txBox="1"/>
          <p:nvPr/>
        </p:nvSpPr>
        <p:spPr>
          <a:xfrm>
            <a:off x="10096500" y="7239000"/>
            <a:ext cx="1168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000">
                <a:solidFill>
                  <a:srgbClr val="002D5A"/>
                </a:solidFill>
                <a:latin typeface="Aptos" panose="020B0004020202020204" pitchFamily="34" charset="0"/>
              </a:rPr>
              <a:t>Producción</a:t>
            </a: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5A756733-9DF8-3E4C-43B0-9EDE494622DB}"/>
              </a:ext>
            </a:extLst>
          </p:cNvPr>
          <p:cNvSpPr/>
          <p:nvPr/>
        </p:nvSpPr>
        <p:spPr>
          <a:xfrm>
            <a:off x="0" y="8636000"/>
            <a:ext cx="16256000" cy="508000"/>
          </a:xfrm>
          <a:prstGeom prst="rect">
            <a:avLst/>
          </a:prstGeom>
          <a:solidFill>
            <a:srgbClr val="001F4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AA0CED45-B744-6FC4-678A-7A6AC942C364}"/>
              </a:ext>
            </a:extLst>
          </p:cNvPr>
          <p:cNvSpPr txBox="1"/>
          <p:nvPr/>
        </p:nvSpPr>
        <p:spPr>
          <a:xfrm>
            <a:off x="889000" y="8801100"/>
            <a:ext cx="9652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ES" sz="1100">
                <a:solidFill>
                  <a:srgbClr val="FFFFFF"/>
                </a:solidFill>
                <a:latin typeface="Aptos" panose="020B0004020202020204" pitchFamily="34" charset="0"/>
              </a:rPr>
              <a:t>DGAC · Avances del proyecto de modernización digital · 15 de julio de 2026</a:t>
            </a:r>
            <a:endParaRPr lang="es-GT" sz="11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A114C262-027B-FC2D-5BB3-EB75557A79ED}"/>
              </a:ext>
            </a:extLst>
          </p:cNvPr>
          <p:cNvSpPr txBox="1"/>
          <p:nvPr/>
        </p:nvSpPr>
        <p:spPr>
          <a:xfrm>
            <a:off x="9969500" y="8801100"/>
            <a:ext cx="5334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s-ES" sz="1100">
                <a:solidFill>
                  <a:srgbClr val="FFFFFF"/>
                </a:solidFill>
                <a:latin typeface="Aptos" panose="020B0004020202020204" pitchFamily="34" charset="0"/>
              </a:rPr>
              <a:t>Servicios más ágiles, eficientes y transparentes</a:t>
            </a:r>
            <a:endParaRPr lang="es-GT" sz="11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05406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9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6B1045C5-350F-120F-4B0C-9C8A741E945C}"/>
              </a:ext>
            </a:extLst>
          </p:cNvPr>
          <p:cNvSpPr/>
          <p:nvPr/>
        </p:nvSpPr>
        <p:spPr>
          <a:xfrm>
            <a:off x="0" y="0"/>
            <a:ext cx="16256000" cy="9144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EFEE966-C680-115C-BA3F-11B20B349DEC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215900"/>
            <a:ext cx="1968500" cy="482600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24072CAD-E272-8602-064C-3514353E7DCA}"/>
              </a:ext>
            </a:extLst>
          </p:cNvPr>
          <p:cNvSpPr txBox="1"/>
          <p:nvPr/>
        </p:nvSpPr>
        <p:spPr>
          <a:xfrm>
            <a:off x="812800" y="1219200"/>
            <a:ext cx="12954000" cy="44627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ES" sz="2900" b="1" dirty="0">
                <a:solidFill>
                  <a:srgbClr val="001F44"/>
                </a:solidFill>
                <a:latin typeface="Aptos" panose="020B0004020202020204" pitchFamily="34" charset="0"/>
              </a:rPr>
              <a:t>HOJA DE RUTA Y BENEFICIOS ESPERADOS</a:t>
            </a:r>
            <a:endParaRPr lang="es-GT" sz="2900" b="1" dirty="0">
              <a:solidFill>
                <a:srgbClr val="001F44"/>
              </a:solidFill>
              <a:latin typeface="Aptos" panose="020B0004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CC4481C-E8EB-4A23-1885-57ADAADE37E8}"/>
              </a:ext>
            </a:extLst>
          </p:cNvPr>
          <p:cNvSpPr/>
          <p:nvPr/>
        </p:nvSpPr>
        <p:spPr>
          <a:xfrm>
            <a:off x="812800" y="1854200"/>
            <a:ext cx="889000" cy="63500"/>
          </a:xfrm>
          <a:prstGeom prst="rect">
            <a:avLst/>
          </a:prstGeom>
          <a:solidFill>
            <a:srgbClr val="005AA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60D023CF-3800-0295-763F-40E1D3C33E17}"/>
              </a:ext>
            </a:extLst>
          </p:cNvPr>
          <p:cNvSpPr/>
          <p:nvPr/>
        </p:nvSpPr>
        <p:spPr>
          <a:xfrm>
            <a:off x="15011400" y="0"/>
            <a:ext cx="635000" cy="584200"/>
          </a:xfrm>
          <a:prstGeom prst="rect">
            <a:avLst/>
          </a:prstGeom>
          <a:solidFill>
            <a:srgbClr val="005AA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8E3600-5583-23A8-5B75-0A25438C4FBE}"/>
              </a:ext>
            </a:extLst>
          </p:cNvPr>
          <p:cNvSpPr txBox="1"/>
          <p:nvPr/>
        </p:nvSpPr>
        <p:spPr>
          <a:xfrm>
            <a:off x="15227300" y="127000"/>
            <a:ext cx="3048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600" b="1">
                <a:solidFill>
                  <a:srgbClr val="FFFFFF"/>
                </a:solidFill>
                <a:latin typeface="Aptos" panose="020B0004020202020204" pitchFamily="34" charset="0"/>
              </a:rPr>
              <a:t>10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7634ACB6-0EE5-9480-E337-121737E801E1}"/>
              </a:ext>
            </a:extLst>
          </p:cNvPr>
          <p:cNvCxnSpPr/>
          <p:nvPr/>
        </p:nvCxnSpPr>
        <p:spPr>
          <a:xfrm>
            <a:off x="1524000" y="4635500"/>
            <a:ext cx="12573000" cy="0"/>
          </a:xfrm>
          <a:prstGeom prst="line">
            <a:avLst/>
          </a:prstGeom>
          <a:ln w="63500">
            <a:solidFill>
              <a:srgbClr val="005A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Elipse 9">
            <a:extLst>
              <a:ext uri="{FF2B5EF4-FFF2-40B4-BE49-F238E27FC236}">
                <a16:creationId xmlns:a16="http://schemas.microsoft.com/office/drawing/2014/main" id="{0F83A429-0124-237D-F411-6F498BB214D3}"/>
              </a:ext>
            </a:extLst>
          </p:cNvPr>
          <p:cNvSpPr/>
          <p:nvPr/>
        </p:nvSpPr>
        <p:spPr>
          <a:xfrm>
            <a:off x="1803400" y="4064000"/>
            <a:ext cx="711200" cy="711200"/>
          </a:xfrm>
          <a:prstGeom prst="ellipse">
            <a:avLst/>
          </a:prstGeom>
          <a:solidFill>
            <a:srgbClr val="34A85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6F34F174-9BA8-0B6B-9A7E-26E4162EDFC9}"/>
              </a:ext>
            </a:extLst>
          </p:cNvPr>
          <p:cNvSpPr txBox="1"/>
          <p:nvPr/>
        </p:nvSpPr>
        <p:spPr>
          <a:xfrm>
            <a:off x="2057400" y="4140200"/>
            <a:ext cx="2032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2400" b="1">
                <a:solidFill>
                  <a:srgbClr val="FFFFFF"/>
                </a:solidFill>
                <a:latin typeface="Aptos" panose="020B0004020202020204" pitchFamily="34" charset="0"/>
              </a:rPr>
              <a:t>•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87261FF5-D5A8-E1FE-E7A9-1B7A102531D6}"/>
              </a:ext>
            </a:extLst>
          </p:cNvPr>
          <p:cNvSpPr txBox="1"/>
          <p:nvPr/>
        </p:nvSpPr>
        <p:spPr>
          <a:xfrm>
            <a:off x="1016000" y="5143500"/>
            <a:ext cx="22860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300" b="1">
                <a:solidFill>
                  <a:srgbClr val="34A853"/>
                </a:solidFill>
                <a:latin typeface="Aptos" panose="020B0004020202020204" pitchFamily="34" charset="0"/>
              </a:rPr>
              <a:t>Julio - Agosto 2026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268E28BE-82F1-3BBE-7780-7DC59D284DA1}"/>
              </a:ext>
            </a:extLst>
          </p:cNvPr>
          <p:cNvSpPr txBox="1"/>
          <p:nvPr/>
        </p:nvSpPr>
        <p:spPr>
          <a:xfrm>
            <a:off x="825500" y="5486400"/>
            <a:ext cx="26670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ES" sz="1200">
                <a:solidFill>
                  <a:srgbClr val="002D5A"/>
                </a:solidFill>
                <a:latin typeface="Aptos" panose="020B0004020202020204" pitchFamily="34" charset="0"/>
              </a:rPr>
              <a:t>Validación de contenido y capacitación</a:t>
            </a:r>
            <a:endParaRPr lang="es-GT" sz="1200">
              <a:solidFill>
                <a:srgbClr val="002D5A"/>
              </a:solidFill>
              <a:latin typeface="Aptos" panose="020B0004020202020204" pitchFamily="34" charset="0"/>
            </a:endParaRPr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09532491-ECAC-0EAA-6C25-D36C72D61B2D}"/>
              </a:ext>
            </a:extLst>
          </p:cNvPr>
          <p:cNvSpPr/>
          <p:nvPr/>
        </p:nvSpPr>
        <p:spPr>
          <a:xfrm>
            <a:off x="5105400" y="4064000"/>
            <a:ext cx="711200" cy="711200"/>
          </a:xfrm>
          <a:prstGeom prst="ellipse">
            <a:avLst/>
          </a:prstGeom>
          <a:solidFill>
            <a:srgbClr val="F5B4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7E9452C5-C4C3-8E6E-B3A2-0CAED0F1AAD1}"/>
              </a:ext>
            </a:extLst>
          </p:cNvPr>
          <p:cNvSpPr txBox="1"/>
          <p:nvPr/>
        </p:nvSpPr>
        <p:spPr>
          <a:xfrm>
            <a:off x="5359400" y="4140200"/>
            <a:ext cx="2032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2400" b="1">
                <a:solidFill>
                  <a:srgbClr val="FFFFFF"/>
                </a:solidFill>
                <a:latin typeface="Aptos" panose="020B0004020202020204" pitchFamily="34" charset="0"/>
              </a:rPr>
              <a:t>•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992FFBBB-81AB-91AF-258B-FD1B3440DB79}"/>
              </a:ext>
            </a:extLst>
          </p:cNvPr>
          <p:cNvSpPr txBox="1"/>
          <p:nvPr/>
        </p:nvSpPr>
        <p:spPr>
          <a:xfrm>
            <a:off x="4318000" y="5143500"/>
            <a:ext cx="22860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300" b="1">
                <a:solidFill>
                  <a:srgbClr val="F5B400"/>
                </a:solidFill>
                <a:latin typeface="Aptos" panose="020B0004020202020204" pitchFamily="34" charset="0"/>
              </a:rPr>
              <a:t>Agosto - Octubre 2026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A3846078-226F-1278-D50F-5C57885DFADE}"/>
              </a:ext>
            </a:extLst>
          </p:cNvPr>
          <p:cNvSpPr txBox="1"/>
          <p:nvPr/>
        </p:nvSpPr>
        <p:spPr>
          <a:xfrm>
            <a:off x="4127500" y="5486400"/>
            <a:ext cx="26670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ES" sz="1200">
                <a:solidFill>
                  <a:srgbClr val="002D5A"/>
                </a:solidFill>
                <a:latin typeface="Aptos" panose="020B0004020202020204" pitchFamily="34" charset="0"/>
              </a:rPr>
              <a:t>Continuar desarrollo del segundo grupo</a:t>
            </a:r>
            <a:endParaRPr lang="es-GT" sz="1200">
              <a:solidFill>
                <a:srgbClr val="002D5A"/>
              </a:solidFill>
              <a:latin typeface="Aptos" panose="020B0004020202020204" pitchFamily="34" charset="0"/>
            </a:endParaRP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7B670353-F3C3-2CE1-408E-EDCE015944C7}"/>
              </a:ext>
            </a:extLst>
          </p:cNvPr>
          <p:cNvSpPr/>
          <p:nvPr/>
        </p:nvSpPr>
        <p:spPr>
          <a:xfrm>
            <a:off x="8407400" y="4064000"/>
            <a:ext cx="711200" cy="711200"/>
          </a:xfrm>
          <a:prstGeom prst="ellipse">
            <a:avLst/>
          </a:prstGeom>
          <a:solidFill>
            <a:srgbClr val="005AA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EF5AE94D-9776-020B-72A8-6BCEA10E8351}"/>
              </a:ext>
            </a:extLst>
          </p:cNvPr>
          <p:cNvSpPr txBox="1"/>
          <p:nvPr/>
        </p:nvSpPr>
        <p:spPr>
          <a:xfrm>
            <a:off x="8661400" y="4140200"/>
            <a:ext cx="2032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2400" b="1">
                <a:solidFill>
                  <a:srgbClr val="FFFFFF"/>
                </a:solidFill>
                <a:latin typeface="Aptos" panose="020B0004020202020204" pitchFamily="34" charset="0"/>
              </a:rPr>
              <a:t>•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C3302C2D-5A57-16D2-80A9-76FC53A9242C}"/>
              </a:ext>
            </a:extLst>
          </p:cNvPr>
          <p:cNvSpPr txBox="1"/>
          <p:nvPr/>
        </p:nvSpPr>
        <p:spPr>
          <a:xfrm>
            <a:off x="7620000" y="5143500"/>
            <a:ext cx="22860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300" b="1">
                <a:solidFill>
                  <a:srgbClr val="005AA9"/>
                </a:solidFill>
                <a:latin typeface="Aptos" panose="020B0004020202020204" pitchFamily="34" charset="0"/>
              </a:rPr>
              <a:t>Octubre - Diciembre 2026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AC673064-E959-8BEC-CB0E-681B1BEF77A0}"/>
              </a:ext>
            </a:extLst>
          </p:cNvPr>
          <p:cNvSpPr txBox="1"/>
          <p:nvPr/>
        </p:nvSpPr>
        <p:spPr>
          <a:xfrm>
            <a:off x="7429500" y="5486400"/>
            <a:ext cx="26670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200">
                <a:solidFill>
                  <a:srgbClr val="002D5A"/>
                </a:solidFill>
                <a:latin typeface="Aptos" panose="020B0004020202020204" pitchFamily="34" charset="0"/>
              </a:rPr>
              <a:t>Pruebas, preparación y lanzamiento</a:t>
            </a:r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A7278570-0560-4A32-F8E6-7961F7FA5113}"/>
              </a:ext>
            </a:extLst>
          </p:cNvPr>
          <p:cNvSpPr/>
          <p:nvPr/>
        </p:nvSpPr>
        <p:spPr>
          <a:xfrm>
            <a:off x="11709400" y="4064000"/>
            <a:ext cx="711200" cy="711200"/>
          </a:xfrm>
          <a:prstGeom prst="ellipse">
            <a:avLst/>
          </a:prstGeom>
          <a:solidFill>
            <a:srgbClr val="6859D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281FFB3A-A189-F270-27A8-15B8086AA184}"/>
              </a:ext>
            </a:extLst>
          </p:cNvPr>
          <p:cNvSpPr txBox="1"/>
          <p:nvPr/>
        </p:nvSpPr>
        <p:spPr>
          <a:xfrm>
            <a:off x="11963400" y="4140200"/>
            <a:ext cx="2032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2400" b="1">
                <a:solidFill>
                  <a:srgbClr val="FFFFFF"/>
                </a:solidFill>
                <a:latin typeface="Aptos" panose="020B0004020202020204" pitchFamily="34" charset="0"/>
              </a:rPr>
              <a:t>•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4539024B-0F7C-4275-BA77-B6C715973FE4}"/>
              </a:ext>
            </a:extLst>
          </p:cNvPr>
          <p:cNvSpPr txBox="1"/>
          <p:nvPr/>
        </p:nvSpPr>
        <p:spPr>
          <a:xfrm>
            <a:off x="10922000" y="5143500"/>
            <a:ext cx="22860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GT" sz="1300" b="1">
                <a:solidFill>
                  <a:srgbClr val="6859DC"/>
                </a:solidFill>
                <a:latin typeface="Aptos" panose="020B0004020202020204" pitchFamily="34" charset="0"/>
              </a:rPr>
              <a:t>2027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DF5056F2-4CB2-E55C-41DD-1A2E73CBBFF7}"/>
              </a:ext>
            </a:extLst>
          </p:cNvPr>
          <p:cNvSpPr txBox="1"/>
          <p:nvPr/>
        </p:nvSpPr>
        <p:spPr>
          <a:xfrm>
            <a:off x="10731500" y="5486400"/>
            <a:ext cx="26670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s-ES" sz="1200">
                <a:solidFill>
                  <a:srgbClr val="002D5A"/>
                </a:solidFill>
                <a:latin typeface="Aptos" panose="020B0004020202020204" pitchFamily="34" charset="0"/>
              </a:rPr>
              <a:t>Integración de pago electrónico y firma avanzada</a:t>
            </a:r>
            <a:endParaRPr lang="es-GT" sz="1200">
              <a:solidFill>
                <a:srgbClr val="002D5A"/>
              </a:solidFill>
              <a:latin typeface="Aptos" panose="020B0004020202020204" pitchFamily="34" charset="0"/>
            </a:endParaRPr>
          </a:p>
        </p:txBody>
      </p:sp>
      <p:sp>
        <p:nvSpPr>
          <p:cNvPr id="26" name="Rectángulo: esquinas redondeadas 25">
            <a:extLst>
              <a:ext uri="{FF2B5EF4-FFF2-40B4-BE49-F238E27FC236}">
                <a16:creationId xmlns:a16="http://schemas.microsoft.com/office/drawing/2014/main" id="{4074D980-520E-14EC-CB75-97BDEC5F8B76}"/>
              </a:ext>
            </a:extLst>
          </p:cNvPr>
          <p:cNvSpPr/>
          <p:nvPr/>
        </p:nvSpPr>
        <p:spPr>
          <a:xfrm>
            <a:off x="1143000" y="1714500"/>
            <a:ext cx="13716000" cy="18415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D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C4C73844-0306-045D-3E0C-D79FF5ED9312}"/>
              </a:ext>
            </a:extLst>
          </p:cNvPr>
          <p:cNvSpPr/>
          <p:nvPr/>
        </p:nvSpPr>
        <p:spPr>
          <a:xfrm>
            <a:off x="1143000" y="1714500"/>
            <a:ext cx="88900" cy="1841500"/>
          </a:xfrm>
          <a:prstGeom prst="rect">
            <a:avLst/>
          </a:prstGeom>
          <a:solidFill>
            <a:srgbClr val="005AA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BA108F11-1D96-C485-10B9-028DB5655DAC}"/>
              </a:ext>
            </a:extLst>
          </p:cNvPr>
          <p:cNvSpPr txBox="1"/>
          <p:nvPr/>
        </p:nvSpPr>
        <p:spPr>
          <a:xfrm>
            <a:off x="1422400" y="1943100"/>
            <a:ext cx="132080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GT" sz="1700" b="1">
                <a:solidFill>
                  <a:srgbClr val="001F44"/>
                </a:solidFill>
                <a:latin typeface="Aptos" panose="020B0004020202020204" pitchFamily="34" charset="0"/>
              </a:rPr>
              <a:t>Beneficios esperados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A422551D-6C3D-8071-11EB-FA0AAC14C953}"/>
              </a:ext>
            </a:extLst>
          </p:cNvPr>
          <p:cNvSpPr txBox="1"/>
          <p:nvPr/>
        </p:nvSpPr>
        <p:spPr>
          <a:xfrm>
            <a:off x="1422400" y="2413000"/>
            <a:ext cx="13182600" cy="129266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ES" sz="1400" dirty="0">
                <a:solidFill>
                  <a:srgbClr val="002D5A"/>
                </a:solidFill>
                <a:latin typeface="Aptos" panose="020B0004020202020204" pitchFamily="34" charset="0"/>
              </a:rPr>
              <a:t>• Reducción de tiempos de atención.</a:t>
            </a:r>
          </a:p>
          <a:p>
            <a:r>
              <a:rPr lang="es-ES" sz="1400" dirty="0">
                <a:solidFill>
                  <a:srgbClr val="002D5A"/>
                </a:solidFill>
                <a:latin typeface="Aptos" panose="020B0004020202020204" pitchFamily="34" charset="0"/>
              </a:rPr>
              <a:t>• Digitalización de procesos.</a:t>
            </a:r>
          </a:p>
          <a:p>
            <a:r>
              <a:rPr lang="es-ES" sz="1400" dirty="0">
                <a:solidFill>
                  <a:srgbClr val="002D5A"/>
                </a:solidFill>
                <a:latin typeface="Aptos" panose="020B0004020202020204" pitchFamily="34" charset="0"/>
              </a:rPr>
              <a:t>• Mayor disponibilidad de servicios.</a:t>
            </a:r>
          </a:p>
          <a:p>
            <a:r>
              <a:rPr lang="es-ES" sz="1400" dirty="0">
                <a:solidFill>
                  <a:srgbClr val="002D5A"/>
                </a:solidFill>
                <a:latin typeface="Aptos" panose="020B0004020202020204" pitchFamily="34" charset="0"/>
              </a:rPr>
              <a:t>• Mejor trazabilidad y control.</a:t>
            </a:r>
          </a:p>
          <a:p>
            <a:r>
              <a:rPr lang="es-ES" sz="1400" dirty="0">
                <a:solidFill>
                  <a:srgbClr val="002D5A"/>
                </a:solidFill>
                <a:latin typeface="Aptos" panose="020B0004020202020204" pitchFamily="34" charset="0"/>
              </a:rPr>
              <a:t>• Disminución del uso de papel.</a:t>
            </a:r>
          </a:p>
          <a:p>
            <a:r>
              <a:rPr lang="es-ES" sz="1400" dirty="0">
                <a:solidFill>
                  <a:srgbClr val="002D5A"/>
                </a:solidFill>
                <a:latin typeface="Aptos" panose="020B0004020202020204" pitchFamily="34" charset="0"/>
              </a:rPr>
              <a:t>• Atención en línea para usuarios nacionales e internacionales.</a:t>
            </a:r>
            <a:endParaRPr lang="es-GT" sz="1400" dirty="0">
              <a:solidFill>
                <a:srgbClr val="002D5A"/>
              </a:solidFill>
              <a:latin typeface="Aptos" panose="020B0004020202020204" pitchFamily="34" charset="0"/>
            </a:endParaRP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580293BF-3089-1F76-86EB-5EAA2457DB59}"/>
              </a:ext>
            </a:extLst>
          </p:cNvPr>
          <p:cNvSpPr/>
          <p:nvPr/>
        </p:nvSpPr>
        <p:spPr>
          <a:xfrm>
            <a:off x="0" y="8636000"/>
            <a:ext cx="16256000" cy="508000"/>
          </a:xfrm>
          <a:prstGeom prst="rect">
            <a:avLst/>
          </a:prstGeom>
          <a:solidFill>
            <a:srgbClr val="001F4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830B4C1F-F2B3-E507-6CE0-E4D14090F0E0}"/>
              </a:ext>
            </a:extLst>
          </p:cNvPr>
          <p:cNvSpPr txBox="1"/>
          <p:nvPr/>
        </p:nvSpPr>
        <p:spPr>
          <a:xfrm>
            <a:off x="889000" y="8801100"/>
            <a:ext cx="9652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s-ES" sz="1100">
                <a:solidFill>
                  <a:srgbClr val="FFFFFF"/>
                </a:solidFill>
                <a:latin typeface="Aptos" panose="020B0004020202020204" pitchFamily="34" charset="0"/>
              </a:rPr>
              <a:t>DGAC · Avances del proyecto de modernización digital · 15 de julio de 2026</a:t>
            </a:r>
            <a:endParaRPr lang="es-GT" sz="11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4F577EC8-0B99-D899-30A7-CF6E6A0742A6}"/>
              </a:ext>
            </a:extLst>
          </p:cNvPr>
          <p:cNvSpPr txBox="1"/>
          <p:nvPr/>
        </p:nvSpPr>
        <p:spPr>
          <a:xfrm>
            <a:off x="9969500" y="8801100"/>
            <a:ext cx="5334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s-ES" sz="1100">
                <a:solidFill>
                  <a:srgbClr val="FFFFFF"/>
                </a:solidFill>
                <a:latin typeface="Aptos" panose="020B0004020202020204" pitchFamily="34" charset="0"/>
              </a:rPr>
              <a:t>Servicios más ágiles, eficientes y transparentes</a:t>
            </a:r>
            <a:endParaRPr lang="es-GT" sz="11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363620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796</Words>
  <Application>Microsoft Office PowerPoint</Application>
  <PresentationFormat>Personalizado</PresentationFormat>
  <Paragraphs>168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Fernando Perez</dc:creator>
  <cp:lastModifiedBy>Fernando Perez</cp:lastModifiedBy>
  <cp:revision>2</cp:revision>
  <dcterms:created xsi:type="dcterms:W3CDTF">2026-07-15T19:19:34Z</dcterms:created>
  <dcterms:modified xsi:type="dcterms:W3CDTF">2026-08-18T22:59:42Z</dcterms:modified>
</cp:coreProperties>
</file>