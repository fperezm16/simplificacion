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6256000" cy="9144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8A809-AEF3-2EE4-1BB2-364E39E21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CCCC0B-6340-3CBE-027E-DE11565DB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717D93-9F23-B23C-6474-F84E946EE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EEB3FA-2E61-0B6E-7C0D-841CB482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0DB2DF-9A4C-D078-3F59-0F13A8BB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0963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A875A-97C0-81AF-3C1B-50050927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AF64BA-E805-8E6F-DA1C-A1843CBBA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5DE387-588A-4904-E983-2323313B3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3EA917-2BE5-D4EF-8678-293E0C104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45F75C-4B65-F7A8-6257-FE5816C1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69053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0AA70-0B55-0A0B-4367-0A807C3E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F15BD4-A644-D70B-022A-7FBC1548B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43A6D7-CD00-51CF-EDDB-C6263EC1F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012862-30DB-A1FB-C1A9-36F9E38DB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0476E9-4242-7D33-4C16-150FA8578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9348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0F6D9-45DB-3554-F97F-A76E0136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4EBA54-D251-94D7-F72B-497E4C9F3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20E05D-C1C1-AEA2-5813-33F3F761E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F7AE7B-D40E-B3F8-C948-6E0CB96E3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2C7A55-BBE4-D39C-21BB-591C892C0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46D36E-D04F-BF1B-3DDB-FAC3DC7E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1307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C1BB9-8975-1709-70DC-AC5ED74B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E8C166-FD4E-1BA4-D42F-E621F21CE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76B95E-E111-00FB-143D-52A2B4B9E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838CAC-9AE8-FEB6-54C7-731E903BF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D12787-1971-A162-39E7-035A8C803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D9525C-5B8E-B72E-1B68-2E57F5B78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8D33395-3E12-FE17-9ADB-6ADD0C261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15F440-CD9A-1C22-7081-94B68B3B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96567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18298-6448-C0AC-F0FA-43473BF90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DA8C99-1D4F-E646-1F70-465577F0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B401E4-5F5F-9306-5B31-9D17FB91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4B0B1C7-F7B6-CCE2-A08A-974EB2D3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30579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C6866A-B319-DDD1-072D-E7EEEA8C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D94CC2-B13F-297B-F0B6-AA12E253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862D20-1D90-2F54-7EB9-1842F597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81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5D73E-57C2-D926-AB84-103C596E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5A40E7-94E1-CA94-3F35-358BA2E03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16080B-C045-A8E9-C957-0D2A5E250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60CFD7-7283-DB5C-61BD-0FC573597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8CC535-9EED-C108-D79A-90A5015C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C65692-2964-0A21-8790-A2BEA21B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2489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0B259-61CB-C27C-8753-3200A1EBF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9CE247-F755-036D-8161-72BAEC22F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A73A77-D82A-4BDE-EF11-54C53F8A4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C5086D-0AC6-699F-D517-120C916B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5DB139-86B7-7EBD-F723-D6977B0C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681D16-F711-A10B-A13E-9063F45B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2716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04DBF-0A0E-495E-E24E-83D87E968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15EBCB-D86C-1C3C-2859-DB8CA3C20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40FDA-33A6-145D-A670-A35BE01C5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6ADD3-0D44-2EFD-626F-ADAC4713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984402-8562-4B72-C9BE-03DDED01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40646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6C74A4-B59E-C8BF-A319-F4ECC6CE9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7B40AD-8563-3E31-F571-870CFE538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A7758C-C297-B7DE-364D-183CD90D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81E162-8C21-F94D-ABBB-6591F04B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4E80FE-40F0-742A-A322-1B36C0D6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0349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DED905-6E7F-F317-E812-686A9F8D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6A97A0-EF96-48F0-9202-08CC19F54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107334-2C0E-4EBE-9BD8-D5AD12D1F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2E7D1-8CB8-074B-FD86-3958FAECA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597373-25F7-75F8-B236-9A76280E1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8419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40691C2-244E-3BE2-8B92-E80483D03292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EAF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999F15B-CD25-9586-7F78-9FAE220F39E1}"/>
              </a:ext>
            </a:extLst>
          </p:cNvPr>
          <p:cNvSpPr/>
          <p:nvPr/>
        </p:nvSpPr>
        <p:spPr>
          <a:xfrm>
            <a:off x="812800" y="889000"/>
            <a:ext cx="14630400" cy="711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39107D-08F3-27F0-E558-F00FE747964B}"/>
              </a:ext>
            </a:extLst>
          </p:cNvPr>
          <p:cNvSpPr txBox="1"/>
          <p:nvPr/>
        </p:nvSpPr>
        <p:spPr>
          <a:xfrm>
            <a:off x="1397000" y="1524000"/>
            <a:ext cx="27940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4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AE2A7B-1724-7A35-2C9F-546B1B49C239}"/>
              </a:ext>
            </a:extLst>
          </p:cNvPr>
          <p:cNvSpPr txBox="1"/>
          <p:nvPr/>
        </p:nvSpPr>
        <p:spPr>
          <a:xfrm>
            <a:off x="1397000" y="2857500"/>
            <a:ext cx="10541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4400" b="1">
                <a:solidFill>
                  <a:srgbClr val="002D5A"/>
                </a:solidFill>
                <a:latin typeface="Aptos" panose="020B0004020202020204" pitchFamily="34" charset="0"/>
              </a:rPr>
              <a:t>Funcionamiento del Sistema de Trámites</a:t>
            </a:r>
            <a:endParaRPr lang="es-GT" sz="4400" b="1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C69635F-C7EC-FE4B-0BEB-EE0D09AAB0DF}"/>
              </a:ext>
            </a:extLst>
          </p:cNvPr>
          <p:cNvSpPr txBox="1"/>
          <p:nvPr/>
        </p:nvSpPr>
        <p:spPr>
          <a:xfrm>
            <a:off x="1422400" y="4038600"/>
            <a:ext cx="1079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200">
                <a:solidFill>
                  <a:srgbClr val="506073"/>
                </a:solidFill>
                <a:latin typeface="Aptos" panose="020B0004020202020204" pitchFamily="34" charset="0"/>
              </a:rPr>
              <a:t>Enfoque en ambientes de producción y pruebas · Unidades RAN y FINANCIERO</a:t>
            </a:r>
            <a:endParaRPr lang="es-GT" sz="22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9903AF7-B247-6C6A-5CAD-C8CD24ADE6A1}"/>
              </a:ext>
            </a:extLst>
          </p:cNvPr>
          <p:cNvSpPr/>
          <p:nvPr/>
        </p:nvSpPr>
        <p:spPr>
          <a:xfrm>
            <a:off x="1422400" y="5207000"/>
            <a:ext cx="2032000" cy="431800"/>
          </a:xfrm>
          <a:prstGeom prst="round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3B1FCD-BF57-7280-D0A8-1A57B9E501C5}"/>
              </a:ext>
            </a:extLst>
          </p:cNvPr>
          <p:cNvSpPr txBox="1"/>
          <p:nvPr/>
        </p:nvSpPr>
        <p:spPr>
          <a:xfrm>
            <a:off x="1524000" y="5308600"/>
            <a:ext cx="1828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Producción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74B07B8-7146-83C9-39DE-95AC3C341837}"/>
              </a:ext>
            </a:extLst>
          </p:cNvPr>
          <p:cNvSpPr/>
          <p:nvPr/>
        </p:nvSpPr>
        <p:spPr>
          <a:xfrm>
            <a:off x="3708400" y="5207000"/>
            <a:ext cx="1651000" cy="431800"/>
          </a:xfrm>
          <a:prstGeom prst="roundRect">
            <a:avLst/>
          </a:prstGeom>
          <a:solidFill>
            <a:srgbClr val="1598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C738F6-A3ED-E707-EEFB-BE09254ABC45}"/>
              </a:ext>
            </a:extLst>
          </p:cNvPr>
          <p:cNvSpPr txBox="1"/>
          <p:nvPr/>
        </p:nvSpPr>
        <p:spPr>
          <a:xfrm>
            <a:off x="3810000" y="5308600"/>
            <a:ext cx="1447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Pruebas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F14BD2F-D89E-7B79-CF2E-E355909B25AF}"/>
              </a:ext>
            </a:extLst>
          </p:cNvPr>
          <p:cNvSpPr/>
          <p:nvPr/>
        </p:nvSpPr>
        <p:spPr>
          <a:xfrm>
            <a:off x="5613400" y="5207000"/>
            <a:ext cx="1143000" cy="431800"/>
          </a:xfrm>
          <a:prstGeom prst="roundRect">
            <a:avLst/>
          </a:prstGeom>
          <a:solidFill>
            <a:srgbClr val="002D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FBFE3C0-C1F2-6BEB-D00D-C34D42031158}"/>
              </a:ext>
            </a:extLst>
          </p:cNvPr>
          <p:cNvSpPr txBox="1"/>
          <p:nvPr/>
        </p:nvSpPr>
        <p:spPr>
          <a:xfrm>
            <a:off x="5715000" y="5308600"/>
            <a:ext cx="939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RAN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101D0B2-4D52-B7AA-EEEE-D155374CB259}"/>
              </a:ext>
            </a:extLst>
          </p:cNvPr>
          <p:cNvSpPr/>
          <p:nvPr/>
        </p:nvSpPr>
        <p:spPr>
          <a:xfrm>
            <a:off x="7010400" y="5207000"/>
            <a:ext cx="2159000" cy="431800"/>
          </a:xfrm>
          <a:prstGeom prst="roundRect">
            <a:avLst/>
          </a:prstGeom>
          <a:solidFill>
            <a:srgbClr val="002D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2DE90F6-A04B-C982-AF75-D1CF162878E0}"/>
              </a:ext>
            </a:extLst>
          </p:cNvPr>
          <p:cNvSpPr txBox="1"/>
          <p:nvPr/>
        </p:nvSpPr>
        <p:spPr>
          <a:xfrm>
            <a:off x="7112000" y="5308600"/>
            <a:ext cx="1955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FINANCIERO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2822AFB-5387-87E4-431A-AFB066211630}"/>
              </a:ext>
            </a:extLst>
          </p:cNvPr>
          <p:cNvSpPr txBox="1"/>
          <p:nvPr/>
        </p:nvSpPr>
        <p:spPr>
          <a:xfrm>
            <a:off x="1422400" y="6604000"/>
            <a:ext cx="533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>
                <a:solidFill>
                  <a:srgbClr val="506073"/>
                </a:solidFill>
                <a:latin typeface="Aptos" panose="020B0004020202020204" pitchFamily="34" charset="0"/>
              </a:rPr>
              <a:t>Presentación operativa</a:t>
            </a:r>
          </a:p>
        </p:txBody>
      </p:sp>
    </p:spTree>
    <p:extLst>
      <p:ext uri="{BB962C8B-B14F-4D97-AF65-F5344CB8AC3E}">
        <p14:creationId xmlns:p14="http://schemas.microsoft.com/office/powerpoint/2010/main" val="396852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8FE36E8-75CA-B7E9-48E0-00F0173AE12C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EDF2F2D-E10C-22CE-543A-B698EC53E7DC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C46142-FD40-1026-74D5-E663CC0F85D5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Objetivo de la presentación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8589C3-70F7-BED3-5F51-340BE95F0E29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Mostrar cómo opera el sistema en producción y pruebas, acotado a RAN y FINANCIERO.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355E4F6-F1B1-B995-D779-2ABB69CFA3CC}"/>
              </a:ext>
            </a:extLst>
          </p:cNvPr>
          <p:cNvSpPr/>
          <p:nvPr/>
        </p:nvSpPr>
        <p:spPr>
          <a:xfrm>
            <a:off x="889000" y="2984500"/>
            <a:ext cx="4318000" cy="279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43743A6-2401-DD2C-F0F8-ABAFA05E9700}"/>
              </a:ext>
            </a:extLst>
          </p:cNvPr>
          <p:cNvSpPr txBox="1"/>
          <p:nvPr/>
        </p:nvSpPr>
        <p:spPr>
          <a:xfrm>
            <a:off x="1168400" y="32131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Qué resuelve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3071B8-0046-4635-E41C-35A58602F5F2}"/>
              </a:ext>
            </a:extLst>
          </p:cNvPr>
          <p:cNvSpPr txBox="1"/>
          <p:nvPr/>
        </p:nvSpPr>
        <p:spPr>
          <a:xfrm>
            <a:off x="1168400" y="3721100"/>
            <a:ext cx="37592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Centraliza el ingreso, revisión, asignación, devolución, aprobación, finalización y consulta de trámites.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BF7CEB0-ED24-1E2C-F9F2-6EBACC4247BE}"/>
              </a:ext>
            </a:extLst>
          </p:cNvPr>
          <p:cNvSpPr/>
          <p:nvPr/>
        </p:nvSpPr>
        <p:spPr>
          <a:xfrm>
            <a:off x="5969000" y="2984500"/>
            <a:ext cx="4318000" cy="279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5E7765-6D15-D4BA-41AE-C60479D76D8A}"/>
              </a:ext>
            </a:extLst>
          </p:cNvPr>
          <p:cNvSpPr txBox="1"/>
          <p:nvPr/>
        </p:nvSpPr>
        <p:spPr>
          <a:xfrm>
            <a:off x="6248400" y="32131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A quién apoya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F8C41C-4AEA-F549-B2DB-BC8AD51B55A6}"/>
              </a:ext>
            </a:extLst>
          </p:cNvPr>
          <p:cNvSpPr txBox="1"/>
          <p:nvPr/>
        </p:nvSpPr>
        <p:spPr>
          <a:xfrm>
            <a:off x="6248400" y="3721100"/>
            <a:ext cx="37592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Usuarios externos que ingresan solicitudes y usuarios internos responsables de revisar, aprobar y dar seguimiento.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7C3E5D9-42BC-AC95-9BF8-98198E4E2112}"/>
              </a:ext>
            </a:extLst>
          </p:cNvPr>
          <p:cNvSpPr/>
          <p:nvPr/>
        </p:nvSpPr>
        <p:spPr>
          <a:xfrm>
            <a:off x="11049000" y="2984500"/>
            <a:ext cx="4318000" cy="279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BBA1E95-A079-83DB-58DD-7BBF66AC456D}"/>
              </a:ext>
            </a:extLst>
          </p:cNvPr>
          <p:cNvSpPr txBox="1"/>
          <p:nvPr/>
        </p:nvSpPr>
        <p:spPr>
          <a:xfrm>
            <a:off x="11328400" y="32131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Dónde se valida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630C564-CD5F-9840-D105-F6E12407E351}"/>
              </a:ext>
            </a:extLst>
          </p:cNvPr>
          <p:cNvSpPr txBox="1"/>
          <p:nvPr/>
        </p:nvSpPr>
        <p:spPr>
          <a:xfrm>
            <a:off x="11328400" y="3721100"/>
            <a:ext cx="37592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Producción se usa para operación real; pruebas se usa para ensayar cambios antes de publicarlos.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3ADA9FD-5BF0-9329-4563-C46CD7EED2F8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DF3C237-E5B7-293B-2063-05EE429C4328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2199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7EBBB35-3146-AC53-BF9E-C56C410D2975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99D5AF8-C8AD-74C9-7212-560B8C9FA3AC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C87F31C-4980-5332-1982-0DBCDCAD9D78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Ambientes del sistema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3E8C6F-12F2-63F3-F5EA-EEC69F5E83A6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Separación funcional entre operación real y validación controlada.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7C85DF4-EC1C-A59D-B4D1-54F2E4C23AEE}"/>
              </a:ext>
            </a:extLst>
          </p:cNvPr>
          <p:cNvSpPr/>
          <p:nvPr/>
        </p:nvSpPr>
        <p:spPr>
          <a:xfrm>
            <a:off x="1079500" y="2794000"/>
            <a:ext cx="6350000" cy="381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8D0ACF-425D-B2E6-BBD8-D404E943DABC}"/>
              </a:ext>
            </a:extLst>
          </p:cNvPr>
          <p:cNvSpPr txBox="1"/>
          <p:nvPr/>
        </p:nvSpPr>
        <p:spPr>
          <a:xfrm>
            <a:off x="1358900" y="3022600"/>
            <a:ext cx="5791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Producción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D80A54-35C7-D798-FF85-7E041735A0F3}"/>
              </a:ext>
            </a:extLst>
          </p:cNvPr>
          <p:cNvSpPr txBox="1"/>
          <p:nvPr/>
        </p:nvSpPr>
        <p:spPr>
          <a:xfrm>
            <a:off x="1358900" y="3530600"/>
            <a:ext cx="57912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Ambiente utilizado por usuarios reales.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Contiene procesos oficiales.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Requiere estabilidad, respaldo y control de cambios.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Solo deben publicarse funciones validadas.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0F9603B-ECD3-CEFB-41A3-01EA54E004B8}"/>
              </a:ext>
            </a:extLst>
          </p:cNvPr>
          <p:cNvSpPr/>
          <p:nvPr/>
        </p:nvSpPr>
        <p:spPr>
          <a:xfrm>
            <a:off x="8826500" y="2794000"/>
            <a:ext cx="6350000" cy="381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06B99F4-0636-D992-AE3D-4AEC1081810C}"/>
              </a:ext>
            </a:extLst>
          </p:cNvPr>
          <p:cNvSpPr txBox="1"/>
          <p:nvPr/>
        </p:nvSpPr>
        <p:spPr>
          <a:xfrm>
            <a:off x="9105900" y="3022600"/>
            <a:ext cx="5791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Pruebas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547BE90-6FDF-D15C-941A-8D7CDC6FCB55}"/>
              </a:ext>
            </a:extLst>
          </p:cNvPr>
          <p:cNvSpPr txBox="1"/>
          <p:nvPr/>
        </p:nvSpPr>
        <p:spPr>
          <a:xfrm>
            <a:off x="9105900" y="3530600"/>
            <a:ext cx="57912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Ambiente para validar formularios, roles y flujos.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Permite crear datos de prueba.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Sirve para revisar capturas, manuales y capacitaciones.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No debe mezclarse con información oficial.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5793284-E478-3131-AD67-0225D7CC4D00}"/>
              </a:ext>
            </a:extLst>
          </p:cNvPr>
          <p:cNvSpPr txBox="1"/>
          <p:nvPr/>
        </p:nvSpPr>
        <p:spPr>
          <a:xfrm>
            <a:off x="3175000" y="7239000"/>
            <a:ext cx="9906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2600" b="1">
                <a:solidFill>
                  <a:srgbClr val="005AA9"/>
                </a:solidFill>
                <a:latin typeface="Aptos" panose="020B0004020202020204" pitchFamily="34" charset="0"/>
              </a:rPr>
              <a:t>Idea clave: pruebas protege producción.</a:t>
            </a:r>
            <a:endParaRPr lang="es-GT" sz="2600" b="1">
              <a:solidFill>
                <a:srgbClr val="005AA9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C84FC10-C3C5-752C-35C1-1C4225F56FFB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C7005E-93DB-0AEA-49B8-A90A5DF7FD1E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197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858231B-5D0E-BC84-B4DF-2202F2164212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5E7D4A-DEFB-B27F-0F50-4E22CD3BEB4C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092076-654C-F1BC-4D0A-B9885850D5BE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002D5A"/>
                </a:solidFill>
                <a:latin typeface="Aptos" panose="020B0004020202020204" pitchFamily="34" charset="0"/>
              </a:rPr>
              <a:t>Alcance funcional: RAN y FINANCIERO</a:t>
            </a:r>
            <a:endParaRPr lang="es-GT" sz="3400" b="1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EEB4F4-72B4-FF86-CF1F-6E560B2F8F0F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La presentación se concentra en las unidades priorizadas.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628C13D-A07C-8F12-6A57-9041BF2B21C8}"/>
              </a:ext>
            </a:extLst>
          </p:cNvPr>
          <p:cNvSpPr/>
          <p:nvPr/>
        </p:nvSpPr>
        <p:spPr>
          <a:xfrm>
            <a:off x="889000" y="2794000"/>
            <a:ext cx="6604000" cy="419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6A91765-674B-A1AC-8C42-13839140EE74}"/>
              </a:ext>
            </a:extLst>
          </p:cNvPr>
          <p:cNvSpPr txBox="1"/>
          <p:nvPr/>
        </p:nvSpPr>
        <p:spPr>
          <a:xfrm>
            <a:off x="1168400" y="3022600"/>
            <a:ext cx="6045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RAN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A059B47-28CF-3A42-0B59-BA814FCB842F}"/>
              </a:ext>
            </a:extLst>
          </p:cNvPr>
          <p:cNvSpPr txBox="1"/>
          <p:nvPr/>
        </p:nvSpPr>
        <p:spPr>
          <a:xfrm>
            <a:off x="1168400" y="3530600"/>
            <a:ext cx="6045200" cy="11541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Recepción de trámites aeronáuticos.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Revisión documental y datos del solicitante.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Asignación a analista/aprobador.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Devolución al usuario cuando falta información.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Aprobación, entrega o archivo.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96474E4-4AAE-2759-C6E9-0614C29C3AA1}"/>
              </a:ext>
            </a:extLst>
          </p:cNvPr>
          <p:cNvSpPr/>
          <p:nvPr/>
        </p:nvSpPr>
        <p:spPr>
          <a:xfrm>
            <a:off x="8763000" y="2794000"/>
            <a:ext cx="6604000" cy="419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1EF1CF-9E6A-8801-3DA0-118CC2958EEB}"/>
              </a:ext>
            </a:extLst>
          </p:cNvPr>
          <p:cNvSpPr txBox="1"/>
          <p:nvPr/>
        </p:nvSpPr>
        <p:spPr>
          <a:xfrm>
            <a:off x="9042400" y="3022600"/>
            <a:ext cx="6045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FINANCIERO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6126C1F-F332-AC36-3996-DC4802610D90}"/>
              </a:ext>
            </a:extLst>
          </p:cNvPr>
          <p:cNvSpPr txBox="1"/>
          <p:nvPr/>
        </p:nvSpPr>
        <p:spPr>
          <a:xfrm>
            <a:off x="9042400" y="3530600"/>
            <a:ext cx="6045200" cy="11541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Recepción y revisión de solicitudes financieras.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Verificación de documentos adjuntos.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Emisión/revisión según rol.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Aprobación o devolución al responsable previo.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Seguimiento y cierre del proceso.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9884BB-B1BD-E306-7981-EB2EF5C050AD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7C9F6DB-3A1F-9AF3-E298-AE0297D6952B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77412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B96D830-BB51-7CC2-A3E0-E5E1F9495FF3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38767C-7A97-2F60-AA97-28D01A2957C6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28653F-4FCF-1CF7-691C-0A218B47A2AB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002D5A"/>
                </a:solidFill>
                <a:latin typeface="Aptos" panose="020B0004020202020204" pitchFamily="34" charset="0"/>
              </a:rPr>
              <a:t>Entrada del trámite: vista del usuario externo</a:t>
            </a:r>
            <a:endParaRPr lang="es-GT" sz="3400" b="1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C2CE81-4DF9-F76C-577D-AB300A1347D4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El usuario inicia la solicitud desde el portal y adjunta la documentación requerida.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89FCAB1-A4B7-2023-623A-5AC4726444C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857500"/>
            <a:ext cx="6794500" cy="4191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9DEA649-FBFE-DAB7-A9A5-9B79F196151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0" y="2857500"/>
            <a:ext cx="6794500" cy="4191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BDFD29B-DEF4-7B42-98B8-B6BCD9B92932}"/>
              </a:ext>
            </a:extLst>
          </p:cNvPr>
          <p:cNvSpPr txBox="1"/>
          <p:nvPr/>
        </p:nvSpPr>
        <p:spPr>
          <a:xfrm>
            <a:off x="889000" y="7175500"/>
            <a:ext cx="6794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RAN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B0E04B6-F5B3-8A7E-198D-01984DDE66AF}"/>
              </a:ext>
            </a:extLst>
          </p:cNvPr>
          <p:cNvSpPr txBox="1"/>
          <p:nvPr/>
        </p:nvSpPr>
        <p:spPr>
          <a:xfrm>
            <a:off x="8572500" y="7175500"/>
            <a:ext cx="6794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FINANCIERO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A0241E8-6B8A-69FE-D43C-CBA5C43DBDA0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2B8455F-D22B-121A-5468-04682279BDB4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9739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63DBB54-FF10-52C6-F5D9-B3AB18CD7D56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125F6A-8033-E016-1516-9397455AA942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535E77-53DD-D5A8-109D-8D75E327192B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Flujo interno RAN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B261AC1-D077-4F5B-E8E5-EB59F6CD5B9C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Recepción, análisis, devolución cuando aplica y traslado al siguiente responsable.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BC6647-DB3D-A626-865C-6EC6FC4732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2730500"/>
            <a:ext cx="7112000" cy="4953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3DE9C83-F2D9-3816-3B1C-5D7A878E7E10}"/>
              </a:ext>
            </a:extLst>
          </p:cNvPr>
          <p:cNvSpPr/>
          <p:nvPr/>
        </p:nvSpPr>
        <p:spPr>
          <a:xfrm>
            <a:off x="8890000" y="2921000"/>
            <a:ext cx="5842000" cy="3937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57B19B4-C25C-0B86-28BC-B2A4410042DB}"/>
              </a:ext>
            </a:extLst>
          </p:cNvPr>
          <p:cNvSpPr txBox="1"/>
          <p:nvPr/>
        </p:nvSpPr>
        <p:spPr>
          <a:xfrm>
            <a:off x="9169400" y="3149600"/>
            <a:ext cx="5283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Pasos principales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1B048D4-C01D-B8BE-7394-D375A8052DDF}"/>
              </a:ext>
            </a:extLst>
          </p:cNvPr>
          <p:cNvSpPr txBox="1"/>
          <p:nvPr/>
        </p:nvSpPr>
        <p:spPr>
          <a:xfrm>
            <a:off x="9169400" y="3657600"/>
            <a:ext cx="5283200" cy="11541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1. Recepción identifica el trámite.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2. Se abre el registro desde la bandeja.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3. Analista revisa datos y documentos.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4. Si falta información, se devuelve al usuario con comentario.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5. Si procede, se envía a aprobación/cierre.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376BFE3-3B52-4C6F-2C2E-F415F71F3469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F6EF51B-AEAB-1113-33FA-1C97A0C09B85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0098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9735810-88B8-3A04-DC2A-E68A0552CD82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1BD5BA-05D3-260C-5FA7-C5725FD3C463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41DC4A9-615A-7300-0A2E-4663E4AA7613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002D5A"/>
                </a:solidFill>
                <a:latin typeface="Aptos" panose="020B0004020202020204" pitchFamily="34" charset="0"/>
              </a:rPr>
              <a:t>RAN: revisión de detalle y devolución</a:t>
            </a:r>
            <a:endParaRPr lang="es-GT" sz="3400" b="1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95C5833-141D-5B5C-FFFA-34B114EC7EE0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El sistema registra el motivo de devolución y conserva trazabilidad en bitácora.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E7C824B-C80C-7037-A88F-7648373728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730500"/>
            <a:ext cx="9525000" cy="5207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4E1C7F2-01B8-C7D4-BE1B-A5AB78241C3A}"/>
              </a:ext>
            </a:extLst>
          </p:cNvPr>
          <p:cNvSpPr/>
          <p:nvPr/>
        </p:nvSpPr>
        <p:spPr>
          <a:xfrm>
            <a:off x="11049000" y="3302000"/>
            <a:ext cx="4064000" cy="215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80B2DD-BDF0-EA0D-F8A2-6F8AEA7236FF}"/>
              </a:ext>
            </a:extLst>
          </p:cNvPr>
          <p:cNvSpPr txBox="1"/>
          <p:nvPr/>
        </p:nvSpPr>
        <p:spPr>
          <a:xfrm>
            <a:off x="11328400" y="3530600"/>
            <a:ext cx="3505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Punto de control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04B784E-D78D-50E0-EC79-442CEC8C7CF6}"/>
              </a:ext>
            </a:extLst>
          </p:cNvPr>
          <p:cNvSpPr txBox="1"/>
          <p:nvPr/>
        </p:nvSpPr>
        <p:spPr>
          <a:xfrm>
            <a:off x="11328400" y="4038600"/>
            <a:ext cx="35052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El comentario de devolución debe ser claro y específico para que el usuario pueda corregir el formulario o documentación.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4742164-547C-12A3-2958-564C11730222}"/>
              </a:ext>
            </a:extLst>
          </p:cNvPr>
          <p:cNvSpPr/>
          <p:nvPr/>
        </p:nvSpPr>
        <p:spPr>
          <a:xfrm>
            <a:off x="11049000" y="5842000"/>
            <a:ext cx="4064000" cy="1397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E46A87-94F6-5E81-3B9B-4D49D87DA41F}"/>
              </a:ext>
            </a:extLst>
          </p:cNvPr>
          <p:cNvSpPr txBox="1"/>
          <p:nvPr/>
        </p:nvSpPr>
        <p:spPr>
          <a:xfrm>
            <a:off x="11328400" y="6070600"/>
            <a:ext cx="3505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Roles involucrados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C057D0D-B110-A640-EEA3-94FC1B0DA281}"/>
              </a:ext>
            </a:extLst>
          </p:cNvPr>
          <p:cNvSpPr txBox="1"/>
          <p:nvPr/>
        </p:nvSpPr>
        <p:spPr>
          <a:xfrm>
            <a:off x="11328400" y="6578600"/>
            <a:ext cx="3505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Recepción RAN · Analista RAN · Aprobador RAN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DD477D4-8392-7800-292A-5E9A798A63D2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4969BA-01E1-8F53-E21E-E6A7322343D5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90192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0592E03-2C99-04E3-EF7B-0B0C7E29B821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4214441-DEF0-4D37-BBE3-45AB69E0D331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143287-9DBE-FB74-3585-88AAC84ADF1E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Flujo interno FINANCIERO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1AB206-E818-9DAE-BD6D-1911974AFB8D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Revisión documental, emisión/aprobación y cierre conforme al rol asignado.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8FF63AE-2D45-0632-FC85-06B97753FB7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730500"/>
            <a:ext cx="7112000" cy="4953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0105674-62DB-0650-6D5A-EB1C725CD40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0" y="2730500"/>
            <a:ext cx="6731000" cy="4953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59FE1DD-283D-4D17-4F85-B71C511831D9}"/>
              </a:ext>
            </a:extLst>
          </p:cNvPr>
          <p:cNvSpPr txBox="1"/>
          <p:nvPr/>
        </p:nvSpPr>
        <p:spPr>
          <a:xfrm>
            <a:off x="889000" y="7810500"/>
            <a:ext cx="711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500">
                <a:solidFill>
                  <a:srgbClr val="506073"/>
                </a:solidFill>
                <a:latin typeface="Aptos" panose="020B0004020202020204" pitchFamily="34" charset="0"/>
              </a:rPr>
              <a:t>Apertura desde bandeja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1BBDF78-BF2D-C392-F72E-A4A337B8649A}"/>
              </a:ext>
            </a:extLst>
          </p:cNvPr>
          <p:cNvSpPr txBox="1"/>
          <p:nvPr/>
        </p:nvSpPr>
        <p:spPr>
          <a:xfrm>
            <a:off x="8699500" y="7810500"/>
            <a:ext cx="673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500">
                <a:solidFill>
                  <a:srgbClr val="506073"/>
                </a:solidFill>
                <a:latin typeface="Aptos" panose="020B0004020202020204" pitchFamily="34" charset="0"/>
              </a:rPr>
              <a:t>Validación antes de aprobar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B31BB07-7662-76F6-AAE8-0A7F44639846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CC50FA1-4013-80FB-0C04-56D64859DCF0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68136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042922D-B84B-A499-2C57-3B28CE0DDCD8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F1A18BB-A973-4F7C-B9DF-79CB9443C073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DE6AAA-5BEC-4A7C-B3D3-C29BA5F292C8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FINANCIERO: acciones del proceso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8A4451-BCC1-9A47-075A-026B0D12EB54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Las acciones disponibles cambian según rol y estado del trámite.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17DEC8-41F9-87AD-E128-62B526C9B3C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667000"/>
            <a:ext cx="9271000" cy="5461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A9F7BCF-A02D-3BAC-39A5-0A32E3C382EF}"/>
              </a:ext>
            </a:extLst>
          </p:cNvPr>
          <p:cNvSpPr/>
          <p:nvPr/>
        </p:nvSpPr>
        <p:spPr>
          <a:xfrm>
            <a:off x="10795000" y="2984500"/>
            <a:ext cx="4381500" cy="406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0286980-4CFA-92ED-82F0-009AE33FAC1E}"/>
              </a:ext>
            </a:extLst>
          </p:cNvPr>
          <p:cNvSpPr txBox="1"/>
          <p:nvPr/>
        </p:nvSpPr>
        <p:spPr>
          <a:xfrm>
            <a:off x="11074400" y="3213100"/>
            <a:ext cx="38227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Controles esperados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5881D2-DA9E-5DAF-9CDC-ACCE4A47A50F}"/>
              </a:ext>
            </a:extLst>
          </p:cNvPr>
          <p:cNvSpPr txBox="1"/>
          <p:nvPr/>
        </p:nvSpPr>
        <p:spPr>
          <a:xfrm>
            <a:off x="11074400" y="3721100"/>
            <a:ext cx="3822700" cy="138499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Revisar documentos adjuntos.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Validar estado actual.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Trasladar al siguiente responsable.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Devolver al analista si requiere corrección.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Marcar finalizado/aprobado cuando corresponda.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8695780-BD05-6687-0CCE-6C66D60F27F0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542E8C7-D53E-875E-8506-0A26054390AF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00737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6AB8579-0F23-368A-CE3C-C8E62495634D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930B0AD-341E-0C7A-B4B2-EAF7D32BA7F5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C7BD4C-86F6-8A2E-DDC7-1CF9FB5CA137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002D5A"/>
                </a:solidFill>
                <a:latin typeface="Aptos" panose="020B0004020202020204" pitchFamily="34" charset="0"/>
              </a:rPr>
              <a:t>Seguimiento: búsqueda, archivo y aprobados</a:t>
            </a:r>
            <a:endParaRPr lang="es-GT" sz="3400" b="1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1F21C8A-078E-F44A-4636-1FA19FDEB57C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Herramientas para consultar procesos sin alterar la gestión.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4C21B1-4703-9DF8-627E-0D71871ED4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603500"/>
            <a:ext cx="4699000" cy="3175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D865BE5-5DE1-6939-D18E-4755A240731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00" y="2603500"/>
            <a:ext cx="4699000" cy="3175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3C24E55-317D-CF2E-CEF9-8D250C3D1D3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0" y="2603500"/>
            <a:ext cx="4699000" cy="3175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6962E6A-F612-46F7-9AD8-5E048D47DF92}"/>
              </a:ext>
            </a:extLst>
          </p:cNvPr>
          <p:cNvSpPr/>
          <p:nvPr/>
        </p:nvSpPr>
        <p:spPr>
          <a:xfrm>
            <a:off x="1143000" y="6413500"/>
            <a:ext cx="6350000" cy="1206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5B3E1A-6882-8B02-C5D9-D6F9B9BD8430}"/>
              </a:ext>
            </a:extLst>
          </p:cNvPr>
          <p:cNvSpPr txBox="1"/>
          <p:nvPr/>
        </p:nvSpPr>
        <p:spPr>
          <a:xfrm>
            <a:off x="1422400" y="6642100"/>
            <a:ext cx="5791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Uso en producción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30AF4B-98D9-ECD9-F9CC-3CF4EAC22EDF}"/>
              </a:ext>
            </a:extLst>
          </p:cNvPr>
          <p:cNvSpPr txBox="1"/>
          <p:nvPr/>
        </p:nvSpPr>
        <p:spPr>
          <a:xfrm>
            <a:off x="1422400" y="7150100"/>
            <a:ext cx="5791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>
                <a:solidFill>
                  <a:srgbClr val="002D5A"/>
                </a:solidFill>
                <a:latin typeface="Aptos" panose="020B0004020202020204" pitchFamily="34" charset="0"/>
              </a:rPr>
              <a:t>Consulta de procesos reales, soporte operativo y seguimiento institucional.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FA850A7-25E3-6A8C-9699-68FAA0804F02}"/>
              </a:ext>
            </a:extLst>
          </p:cNvPr>
          <p:cNvSpPr/>
          <p:nvPr/>
        </p:nvSpPr>
        <p:spPr>
          <a:xfrm>
            <a:off x="8763000" y="6413500"/>
            <a:ext cx="6350000" cy="1206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C8DE1D8-8202-1EC3-9E73-E57172B8CD72}"/>
              </a:ext>
            </a:extLst>
          </p:cNvPr>
          <p:cNvSpPr txBox="1"/>
          <p:nvPr/>
        </p:nvSpPr>
        <p:spPr>
          <a:xfrm>
            <a:off x="9042400" y="6642100"/>
            <a:ext cx="5791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Uso en pruebas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D31491-43A9-EE03-99C1-7D872A39E24D}"/>
              </a:ext>
            </a:extLst>
          </p:cNvPr>
          <p:cNvSpPr txBox="1"/>
          <p:nvPr/>
        </p:nvSpPr>
        <p:spPr>
          <a:xfrm>
            <a:off x="9042400" y="7150100"/>
            <a:ext cx="5791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>
                <a:solidFill>
                  <a:srgbClr val="002D5A"/>
                </a:solidFill>
                <a:latin typeface="Aptos" panose="020B0004020202020204" pitchFamily="34" charset="0"/>
              </a:rPr>
              <a:t>Validar filtros, estados, correlativos, permisos y comportamiento antes de publicar.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943F3AA-9392-A973-7591-6DDE1B9DDDB1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5D1FA43-BC18-7EFF-2142-B1B399AC9766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06466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259A12F-3C02-12EA-94E9-A349394740CE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9EED553-A229-D14B-D4E3-FA52DA3E776B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667B4DA-23B8-DC1D-8EA0-CBF0E2A3E5F6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Supervisión y administración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19CAB0-58B1-AB93-6F6E-42425D6649AA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Dashboard para seguimiento y Admin para controlar usuarios, roles y unidades.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91B17FA-BF5F-6531-BF79-B8AB3744AB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2730500"/>
            <a:ext cx="7112000" cy="4572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2F3E72F-88C1-C57B-6D2E-8FB940FF68D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0" y="2730500"/>
            <a:ext cx="6731000" cy="4572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F718F32-2794-F41F-8DC4-44FB994B173E}"/>
              </a:ext>
            </a:extLst>
          </p:cNvPr>
          <p:cNvSpPr txBox="1"/>
          <p:nvPr/>
        </p:nvSpPr>
        <p:spPr>
          <a:xfrm>
            <a:off x="825500" y="7493000"/>
            <a:ext cx="711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1600" b="1">
                <a:solidFill>
                  <a:srgbClr val="005AA9"/>
                </a:solidFill>
                <a:latin typeface="Aptos" panose="020B0004020202020204" pitchFamily="34" charset="0"/>
              </a:rPr>
              <a:t>Dashboard: métricas y carga operativa</a:t>
            </a:r>
            <a:endParaRPr lang="es-GT" sz="1600" b="1">
              <a:solidFill>
                <a:srgbClr val="005AA9"/>
              </a:solidFill>
              <a:latin typeface="Aptos" panose="020B00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D92BF77-9021-283E-E8F1-84A18EC23691}"/>
              </a:ext>
            </a:extLst>
          </p:cNvPr>
          <p:cNvSpPr txBox="1"/>
          <p:nvPr/>
        </p:nvSpPr>
        <p:spPr>
          <a:xfrm>
            <a:off x="8699500" y="7493000"/>
            <a:ext cx="673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1600" b="1">
                <a:solidFill>
                  <a:srgbClr val="005AA9"/>
                </a:solidFill>
                <a:latin typeface="Aptos" panose="020B0004020202020204" pitchFamily="34" charset="0"/>
              </a:rPr>
              <a:t>Admin: creación de usuarios y permisos</a:t>
            </a:r>
            <a:endParaRPr lang="es-GT" sz="1600" b="1">
              <a:solidFill>
                <a:srgbClr val="005AA9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C8DB47-5EA0-E121-FE14-1E7F716BAE72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C54A124-8CE8-9C4A-7B96-034E7B4F1DD2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27089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63D32E5-FD34-B58A-D0A7-717513737BD1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21A5329-4D18-034B-A040-5588AD814D13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7C3AF8-2F34-CE55-310B-1065CCAF6F09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Seguridad: reCAPTCHA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08D5FB-FEEE-CC87-F746-2C35D3E1CB36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Control de verificación usado en acceso y recuperación de contraseña.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CE2F079-94D9-B3C9-AD93-1C0BE9C6210C}"/>
              </a:ext>
            </a:extLst>
          </p:cNvPr>
          <p:cNvSpPr/>
          <p:nvPr/>
        </p:nvSpPr>
        <p:spPr>
          <a:xfrm>
            <a:off x="889000" y="2921000"/>
            <a:ext cx="4254500" cy="330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4CE700E-CDB2-63C2-5FF4-0D957F7CBC1C}"/>
              </a:ext>
            </a:extLst>
          </p:cNvPr>
          <p:cNvSpPr txBox="1"/>
          <p:nvPr/>
        </p:nvSpPr>
        <p:spPr>
          <a:xfrm>
            <a:off x="1168400" y="3149600"/>
            <a:ext cx="36957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Dónde interviene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6BA5280-631F-1280-12E9-1688FDC926A5}"/>
              </a:ext>
            </a:extLst>
          </p:cNvPr>
          <p:cNvSpPr txBox="1"/>
          <p:nvPr/>
        </p:nvSpPr>
        <p:spPr>
          <a:xfrm>
            <a:off x="1168400" y="3657600"/>
            <a:ext cx="3695700" cy="11541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Inicio de sesión.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Recuperación de contraseña.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Validación del token antes de continuar.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En pruebas puede existir bypass controlado para desarrollo local.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43CF89E-3D3D-2D29-EDB4-D9E4C7371E03}"/>
              </a:ext>
            </a:extLst>
          </p:cNvPr>
          <p:cNvSpPr/>
          <p:nvPr/>
        </p:nvSpPr>
        <p:spPr>
          <a:xfrm>
            <a:off x="6032500" y="2921000"/>
            <a:ext cx="4254500" cy="330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B8CA945-1CC6-122C-B40B-71B60D308E73}"/>
              </a:ext>
            </a:extLst>
          </p:cNvPr>
          <p:cNvSpPr txBox="1"/>
          <p:nvPr/>
        </p:nvSpPr>
        <p:spPr>
          <a:xfrm>
            <a:off x="6311900" y="3149600"/>
            <a:ext cx="36957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Qué protege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2158E56-68D8-19A3-6598-682C01185211}"/>
              </a:ext>
            </a:extLst>
          </p:cNvPr>
          <p:cNvSpPr txBox="1"/>
          <p:nvPr/>
        </p:nvSpPr>
        <p:spPr>
          <a:xfrm>
            <a:off x="6311900" y="3657600"/>
            <a:ext cx="36957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Reduce intentos automatizados, abuso de formularios de autenticación y solicitudes repetitivas sobre cuentas de usuario.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8E7E736-AB02-99DB-AD68-19C4E442367A}"/>
              </a:ext>
            </a:extLst>
          </p:cNvPr>
          <p:cNvSpPr/>
          <p:nvPr/>
        </p:nvSpPr>
        <p:spPr>
          <a:xfrm>
            <a:off x="11176000" y="2921000"/>
            <a:ext cx="4254500" cy="330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EB7F629-7074-230F-65FF-4FCA194FA1AF}"/>
              </a:ext>
            </a:extLst>
          </p:cNvPr>
          <p:cNvSpPr txBox="1"/>
          <p:nvPr/>
        </p:nvSpPr>
        <p:spPr>
          <a:xfrm>
            <a:off x="11455400" y="3149600"/>
            <a:ext cx="36957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Operación por ambiente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95D3C5-9EBC-6BA8-0B72-00FD22CAED33}"/>
              </a:ext>
            </a:extLst>
          </p:cNvPr>
          <p:cNvSpPr txBox="1"/>
          <p:nvPr/>
        </p:nvSpPr>
        <p:spPr>
          <a:xfrm>
            <a:off x="11455400" y="3657600"/>
            <a:ext cx="36957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Producción: debe mantenerse activo con llaves oficiales.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Pruebas: permite validar flujo sin comprometer datos reales.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D6E1112-6198-976F-B225-CBAF5090D1CA}"/>
              </a:ext>
            </a:extLst>
          </p:cNvPr>
          <p:cNvSpPr/>
          <p:nvPr/>
        </p:nvSpPr>
        <p:spPr>
          <a:xfrm>
            <a:off x="1651000" y="7048500"/>
            <a:ext cx="12954000" cy="711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EA67894-D67C-37D4-B3D3-272851BCDF66}"/>
              </a:ext>
            </a:extLst>
          </p:cNvPr>
          <p:cNvSpPr txBox="1"/>
          <p:nvPr/>
        </p:nvSpPr>
        <p:spPr>
          <a:xfrm>
            <a:off x="1905000" y="7239000"/>
            <a:ext cx="1244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2200" b="1">
                <a:solidFill>
                  <a:srgbClr val="005AA9"/>
                </a:solidFill>
                <a:latin typeface="Aptos" panose="020B0004020202020204" pitchFamily="34" charset="0"/>
              </a:rPr>
              <a:t>Usuario → reCAPTCHA → Backend valida token → Acceso / recuperación autorizada</a:t>
            </a:r>
            <a:endParaRPr lang="es-GT" sz="2200" b="1">
              <a:solidFill>
                <a:srgbClr val="005AA9"/>
              </a:solidFill>
              <a:latin typeface="Aptos" panose="020B00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31460C3-1EE9-3C67-B6F8-61FAAE203B9C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822B4B6-2670-BB16-DA70-13717A9412FB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33135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3975B65-737E-6B37-B4DC-EB580F709142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2DC9993-5BB6-A49E-49D6-CC923FBBBC7A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2455116-65F6-8E79-8161-21FC8A635EA3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Notificaciones por correo electrónico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32725E0-10C2-27C2-9E14-8A4A8DE5E9C1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El backend utiliza SMTP institucional para informar eventos y apoyar la trazabilidad.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525397A-FD11-3053-422F-D4677DD7C2A5}"/>
              </a:ext>
            </a:extLst>
          </p:cNvPr>
          <p:cNvSpPr/>
          <p:nvPr/>
        </p:nvSpPr>
        <p:spPr>
          <a:xfrm>
            <a:off x="889000" y="2794000"/>
            <a:ext cx="4572000" cy="419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F6358B1-564F-9A2B-F988-AC6DAB87DDE2}"/>
              </a:ext>
            </a:extLst>
          </p:cNvPr>
          <p:cNvSpPr txBox="1"/>
          <p:nvPr/>
        </p:nvSpPr>
        <p:spPr>
          <a:xfrm>
            <a:off x="1168400" y="3022600"/>
            <a:ext cx="4013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Casos de uso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169473D-4799-CF2F-755D-A120AE1B62BD}"/>
              </a:ext>
            </a:extLst>
          </p:cNvPr>
          <p:cNvSpPr txBox="1"/>
          <p:nvPr/>
        </p:nvSpPr>
        <p:spPr>
          <a:xfrm>
            <a:off x="1168400" y="3530600"/>
            <a:ext cx="4013200" cy="11541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Verificación de cuenta.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Reenvío de enlace de verificación.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Recuperación/restablecimiento de contraseña.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Alertas internas por recepción de formularios o eventos relevantes.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9F294C5-812E-4C34-8525-A9272690B22C}"/>
              </a:ext>
            </a:extLst>
          </p:cNvPr>
          <p:cNvSpPr/>
          <p:nvPr/>
        </p:nvSpPr>
        <p:spPr>
          <a:xfrm>
            <a:off x="5842000" y="2794000"/>
            <a:ext cx="4572000" cy="419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690CF1B-3F99-73AF-A4BF-52F70EE9CAD9}"/>
              </a:ext>
            </a:extLst>
          </p:cNvPr>
          <p:cNvSpPr txBox="1"/>
          <p:nvPr/>
        </p:nvSpPr>
        <p:spPr>
          <a:xfrm>
            <a:off x="6121400" y="3022600"/>
            <a:ext cx="4013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Cómo funciona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FE748F4-74A8-AB5F-F477-7426D5CFAA30}"/>
              </a:ext>
            </a:extLst>
          </p:cNvPr>
          <p:cNvSpPr txBox="1"/>
          <p:nvPr/>
        </p:nvSpPr>
        <p:spPr>
          <a:xfrm>
            <a:off x="6121400" y="3530600"/>
            <a:ext cx="4013200" cy="11541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El backend construye el mensaje, usa el remitente institucional configurado y envía por SMTP. Si ocurre un error, se registra sin bloquear completamente la operación principal cuando aplica.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F8C03450-F177-9B25-B8E0-94277CDB77B2}"/>
              </a:ext>
            </a:extLst>
          </p:cNvPr>
          <p:cNvSpPr/>
          <p:nvPr/>
        </p:nvSpPr>
        <p:spPr>
          <a:xfrm>
            <a:off x="10795000" y="2794000"/>
            <a:ext cx="4572000" cy="419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F261A39-DFC7-CF9D-2AEC-3CEFF26B4B00}"/>
              </a:ext>
            </a:extLst>
          </p:cNvPr>
          <p:cNvSpPr txBox="1"/>
          <p:nvPr/>
        </p:nvSpPr>
        <p:spPr>
          <a:xfrm>
            <a:off x="11074400" y="3022600"/>
            <a:ext cx="4013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Recomendaciones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8621A75-AF04-14A0-CCCC-AEF318DECBFA}"/>
              </a:ext>
            </a:extLst>
          </p:cNvPr>
          <p:cNvSpPr txBox="1"/>
          <p:nvPr/>
        </p:nvSpPr>
        <p:spPr>
          <a:xfrm>
            <a:off x="11074400" y="3530600"/>
            <a:ext cx="4013200" cy="11541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No exponer credenciales SMTP en documentos.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Validar envío en pruebas antes de producción.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Confirmar bandeja, asunto y contenido.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Mantener control de errores y logs.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A173367-7116-FA66-11F0-EC99578FD057}"/>
              </a:ext>
            </a:extLst>
          </p:cNvPr>
          <p:cNvSpPr/>
          <p:nvPr/>
        </p:nvSpPr>
        <p:spPr>
          <a:xfrm>
            <a:off x="1524000" y="7429500"/>
            <a:ext cx="1397000" cy="431800"/>
          </a:xfrm>
          <a:prstGeom prst="round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9CA0778-1509-3007-B937-FC04B327D885}"/>
              </a:ext>
            </a:extLst>
          </p:cNvPr>
          <p:cNvSpPr txBox="1"/>
          <p:nvPr/>
        </p:nvSpPr>
        <p:spPr>
          <a:xfrm>
            <a:off x="1625600" y="7531100"/>
            <a:ext cx="1193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Evento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088EE6C4-BB2B-E714-EA1B-8BD1FCCC07B4}"/>
              </a:ext>
            </a:extLst>
          </p:cNvPr>
          <p:cNvCxnSpPr/>
          <p:nvPr/>
        </p:nvCxnSpPr>
        <p:spPr>
          <a:xfrm>
            <a:off x="2984500" y="7645400"/>
            <a:ext cx="1206500" cy="0"/>
          </a:xfrm>
          <a:prstGeom prst="line">
            <a:avLst/>
          </a:prstGeom>
          <a:ln w="38100">
            <a:solidFill>
              <a:srgbClr val="005AA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5096B11-D716-D414-5992-578F30C3FECB}"/>
              </a:ext>
            </a:extLst>
          </p:cNvPr>
          <p:cNvSpPr/>
          <p:nvPr/>
        </p:nvSpPr>
        <p:spPr>
          <a:xfrm>
            <a:off x="4254500" y="7429500"/>
            <a:ext cx="1524000" cy="431800"/>
          </a:xfrm>
          <a:prstGeom prst="roundRect">
            <a:avLst/>
          </a:prstGeom>
          <a:solidFill>
            <a:srgbClr val="1598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FE70A2E-4491-2A36-3353-9453A0A68C98}"/>
              </a:ext>
            </a:extLst>
          </p:cNvPr>
          <p:cNvSpPr txBox="1"/>
          <p:nvPr/>
        </p:nvSpPr>
        <p:spPr>
          <a:xfrm>
            <a:off x="4356100" y="7531100"/>
            <a:ext cx="1320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Backend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270DFA1-B247-E4E5-9588-1F6DB7857D10}"/>
              </a:ext>
            </a:extLst>
          </p:cNvPr>
          <p:cNvCxnSpPr/>
          <p:nvPr/>
        </p:nvCxnSpPr>
        <p:spPr>
          <a:xfrm>
            <a:off x="5842000" y="7645400"/>
            <a:ext cx="1206500" cy="0"/>
          </a:xfrm>
          <a:prstGeom prst="line">
            <a:avLst/>
          </a:prstGeom>
          <a:ln w="38100">
            <a:solidFill>
              <a:srgbClr val="005AA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5C3974CE-900C-FA5C-539D-DA772F642CC1}"/>
              </a:ext>
            </a:extLst>
          </p:cNvPr>
          <p:cNvSpPr/>
          <p:nvPr/>
        </p:nvSpPr>
        <p:spPr>
          <a:xfrm>
            <a:off x="7112000" y="7429500"/>
            <a:ext cx="1333500" cy="431800"/>
          </a:xfrm>
          <a:prstGeom prst="roundRect">
            <a:avLst/>
          </a:prstGeom>
          <a:solidFill>
            <a:srgbClr val="002D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D7F4B61-F6D7-3FFC-C816-A0407262E0AB}"/>
              </a:ext>
            </a:extLst>
          </p:cNvPr>
          <p:cNvSpPr txBox="1"/>
          <p:nvPr/>
        </p:nvSpPr>
        <p:spPr>
          <a:xfrm>
            <a:off x="7213600" y="7531100"/>
            <a:ext cx="11303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SMTP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C8DCF6F-71D2-44EE-0347-F63158741D6B}"/>
              </a:ext>
            </a:extLst>
          </p:cNvPr>
          <p:cNvCxnSpPr/>
          <p:nvPr/>
        </p:nvCxnSpPr>
        <p:spPr>
          <a:xfrm>
            <a:off x="8509000" y="7645400"/>
            <a:ext cx="1206500" cy="0"/>
          </a:xfrm>
          <a:prstGeom prst="line">
            <a:avLst/>
          </a:prstGeom>
          <a:ln w="38100">
            <a:solidFill>
              <a:srgbClr val="005AA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3D1DE6E-12C2-5390-C9D1-3471EA273FF2}"/>
              </a:ext>
            </a:extLst>
          </p:cNvPr>
          <p:cNvSpPr/>
          <p:nvPr/>
        </p:nvSpPr>
        <p:spPr>
          <a:xfrm>
            <a:off x="9779000" y="7429500"/>
            <a:ext cx="1460500" cy="431800"/>
          </a:xfrm>
          <a:prstGeom prst="roundRect">
            <a:avLst/>
          </a:prstGeom>
          <a:solidFill>
            <a:srgbClr val="1E94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1575F32-D764-2B5F-E891-7DCA869F7194}"/>
              </a:ext>
            </a:extLst>
          </p:cNvPr>
          <p:cNvSpPr txBox="1"/>
          <p:nvPr/>
        </p:nvSpPr>
        <p:spPr>
          <a:xfrm>
            <a:off x="9880600" y="7531100"/>
            <a:ext cx="12573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Correo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78C83CF-D730-FFD3-28BE-2165DC211AE9}"/>
              </a:ext>
            </a:extLst>
          </p:cNvPr>
          <p:cNvCxnSpPr/>
          <p:nvPr/>
        </p:nvCxnSpPr>
        <p:spPr>
          <a:xfrm>
            <a:off x="11303000" y="7645400"/>
            <a:ext cx="1206500" cy="0"/>
          </a:xfrm>
          <a:prstGeom prst="line">
            <a:avLst/>
          </a:prstGeom>
          <a:ln w="38100">
            <a:solidFill>
              <a:srgbClr val="005AA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A68B30CD-F4DA-F1B0-FC3E-E6216DD0E241}"/>
              </a:ext>
            </a:extLst>
          </p:cNvPr>
          <p:cNvSpPr/>
          <p:nvPr/>
        </p:nvSpPr>
        <p:spPr>
          <a:xfrm>
            <a:off x="12573000" y="7429500"/>
            <a:ext cx="2159000" cy="431800"/>
          </a:xfrm>
          <a:prstGeom prst="roundRect">
            <a:avLst/>
          </a:prstGeom>
          <a:solidFill>
            <a:srgbClr val="F091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E8A3F57-4A06-BD1A-2AC2-E3E5D7FDC878}"/>
              </a:ext>
            </a:extLst>
          </p:cNvPr>
          <p:cNvSpPr txBox="1"/>
          <p:nvPr/>
        </p:nvSpPr>
        <p:spPr>
          <a:xfrm>
            <a:off x="12674600" y="7531100"/>
            <a:ext cx="1955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Usuario / Unidad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B723EEF-4F24-DE02-75DC-33157BC3563C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E753F9-9818-40A2-078D-5033407A54AE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78820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7EEFCFE-6B0C-9E6A-EE53-F3CAF83A8147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6C9C970-44B0-1FAB-3CFA-763B5754ECF7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B483B1-BC8E-BA1A-F1BF-5BD4FE483F82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002D5A"/>
                </a:solidFill>
                <a:latin typeface="Aptos" panose="020B0004020202020204" pitchFamily="34" charset="0"/>
              </a:rPr>
              <a:t>Criterios para pasar cambios de pruebas a producción</a:t>
            </a:r>
            <a:endParaRPr lang="es-GT" sz="3400" b="1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9504515-992B-3B47-C4B3-0EB73FA912FD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Checklist mínimo para proteger la operación institucional.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21E96AC-359E-81FE-A042-F0309F75A163}"/>
              </a:ext>
            </a:extLst>
          </p:cNvPr>
          <p:cNvSpPr/>
          <p:nvPr/>
        </p:nvSpPr>
        <p:spPr>
          <a:xfrm>
            <a:off x="889000" y="2794000"/>
            <a:ext cx="4445000" cy="406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CAEF1AF-7C3B-9F14-EB84-DAF4D1960430}"/>
              </a:ext>
            </a:extLst>
          </p:cNvPr>
          <p:cNvSpPr txBox="1"/>
          <p:nvPr/>
        </p:nvSpPr>
        <p:spPr>
          <a:xfrm>
            <a:off x="1168400" y="3022600"/>
            <a:ext cx="3886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Validación funcional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D31E58-E383-7870-4EE0-7B67A9F0E60C}"/>
              </a:ext>
            </a:extLst>
          </p:cNvPr>
          <p:cNvSpPr txBox="1"/>
          <p:nvPr/>
        </p:nvSpPr>
        <p:spPr>
          <a:xfrm>
            <a:off x="1168400" y="3530600"/>
            <a:ext cx="3886200" cy="120032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002D5A"/>
                </a:solidFill>
                <a:latin typeface="Aptos" panose="020B0004020202020204" pitchFamily="34" charset="0"/>
              </a:rPr>
              <a:t>• Formularios RAN/FINANCIERO completos.</a:t>
            </a:r>
          </a:p>
          <a:p>
            <a:r>
              <a:rPr lang="es-ES" sz="1300">
                <a:solidFill>
                  <a:srgbClr val="002D5A"/>
                </a:solidFill>
                <a:latin typeface="Aptos" panose="020B0004020202020204" pitchFamily="34" charset="0"/>
              </a:rPr>
              <a:t>• Roles y permisos correctos.</a:t>
            </a:r>
          </a:p>
          <a:p>
            <a:r>
              <a:rPr lang="es-ES" sz="1300">
                <a:solidFill>
                  <a:srgbClr val="002D5A"/>
                </a:solidFill>
                <a:latin typeface="Aptos" panose="020B0004020202020204" pitchFamily="34" charset="0"/>
              </a:rPr>
              <a:t>• Flujos de devolución/aprobación probados.</a:t>
            </a:r>
          </a:p>
          <a:p>
            <a:r>
              <a:rPr lang="es-ES" sz="1300">
                <a:solidFill>
                  <a:srgbClr val="002D5A"/>
                </a:solidFill>
                <a:latin typeface="Aptos" panose="020B0004020202020204" pitchFamily="34" charset="0"/>
              </a:rPr>
              <a:t>• reCAPTCHA activo en login/recuperación.</a:t>
            </a:r>
          </a:p>
          <a:p>
            <a:r>
              <a:rPr lang="es-ES" sz="1300">
                <a:solidFill>
                  <a:srgbClr val="002D5A"/>
                </a:solidFill>
                <a:latin typeface="Aptos" panose="020B0004020202020204" pitchFamily="34" charset="0"/>
              </a:rPr>
              <a:t>• Archivos adjuntos descargan y cargan correctamente.</a:t>
            </a:r>
            <a:endParaRPr lang="es-GT" sz="13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3922316-C817-E1C2-AE94-2B5929E80AE9}"/>
              </a:ext>
            </a:extLst>
          </p:cNvPr>
          <p:cNvSpPr/>
          <p:nvPr/>
        </p:nvSpPr>
        <p:spPr>
          <a:xfrm>
            <a:off x="5905500" y="2794000"/>
            <a:ext cx="4445000" cy="406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97BB83A-B9B7-8577-FF9E-731A0BF367BC}"/>
              </a:ext>
            </a:extLst>
          </p:cNvPr>
          <p:cNvSpPr txBox="1"/>
          <p:nvPr/>
        </p:nvSpPr>
        <p:spPr>
          <a:xfrm>
            <a:off x="6184900" y="3022600"/>
            <a:ext cx="3886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Validación operativa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D9FFAC0-1BC1-2E2B-1421-3E184EF5CE04}"/>
              </a:ext>
            </a:extLst>
          </p:cNvPr>
          <p:cNvSpPr txBox="1"/>
          <p:nvPr/>
        </p:nvSpPr>
        <p:spPr>
          <a:xfrm>
            <a:off x="6184900" y="3530600"/>
            <a:ext cx="3886200" cy="10002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300">
                <a:solidFill>
                  <a:srgbClr val="002D5A"/>
                </a:solidFill>
                <a:latin typeface="Aptos" panose="020B0004020202020204" pitchFamily="34" charset="0"/>
              </a:rPr>
              <a:t>• Datos de prueba limpiados.</a:t>
            </a:r>
          </a:p>
          <a:p>
            <a:r>
              <a:rPr lang="es-ES" sz="1300">
                <a:solidFill>
                  <a:srgbClr val="002D5A"/>
                </a:solidFill>
                <a:latin typeface="Aptos" panose="020B0004020202020204" pitchFamily="34" charset="0"/>
              </a:rPr>
              <a:t>• Manuales/presentación actualizados.</a:t>
            </a:r>
          </a:p>
          <a:p>
            <a:r>
              <a:rPr lang="es-ES" sz="1300">
                <a:solidFill>
                  <a:srgbClr val="002D5A"/>
                </a:solidFill>
                <a:latin typeface="Aptos" panose="020B0004020202020204" pitchFamily="34" charset="0"/>
              </a:rPr>
              <a:t>• Notificaciones por correo electrónico verificadas.</a:t>
            </a:r>
          </a:p>
          <a:p>
            <a:r>
              <a:rPr lang="es-ES" sz="1300">
                <a:solidFill>
                  <a:srgbClr val="002D5A"/>
                </a:solidFill>
                <a:latin typeface="Aptos" panose="020B0004020202020204" pitchFamily="34" charset="0"/>
              </a:rPr>
              <a:t>• Usuarios internos capacitados.</a:t>
            </a:r>
          </a:p>
          <a:p>
            <a:r>
              <a:rPr lang="es-ES" sz="1300">
                <a:solidFill>
                  <a:srgbClr val="002D5A"/>
                </a:solidFill>
                <a:latin typeface="Aptos" panose="020B0004020202020204" pitchFamily="34" charset="0"/>
              </a:rPr>
              <a:t>• Correos y notificaciones confirmados.</a:t>
            </a:r>
            <a:endParaRPr lang="es-GT" sz="13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5E044FE-8AC4-AA35-397F-584B95DBBD13}"/>
              </a:ext>
            </a:extLst>
          </p:cNvPr>
          <p:cNvSpPr/>
          <p:nvPr/>
        </p:nvSpPr>
        <p:spPr>
          <a:xfrm>
            <a:off x="10922000" y="2794000"/>
            <a:ext cx="4445000" cy="406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4E0EE89-3AF5-15C0-D747-EC04E279A044}"/>
              </a:ext>
            </a:extLst>
          </p:cNvPr>
          <p:cNvSpPr txBox="1"/>
          <p:nvPr/>
        </p:nvSpPr>
        <p:spPr>
          <a:xfrm>
            <a:off x="11201400" y="3022600"/>
            <a:ext cx="3886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Publicación controlada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D7FC6C-4A0E-5656-3995-2B40EEA0948C}"/>
              </a:ext>
            </a:extLst>
          </p:cNvPr>
          <p:cNvSpPr txBox="1"/>
          <p:nvPr/>
        </p:nvSpPr>
        <p:spPr>
          <a:xfrm>
            <a:off x="11201400" y="3530600"/>
            <a:ext cx="38862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Respaldo previo.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Ventana de despliegue definida.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Prueba rápida posterior al despliegue.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Registro de cambios y responsable.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34DF39F-579B-CBF7-5C69-666C67358641}"/>
              </a:ext>
            </a:extLst>
          </p:cNvPr>
          <p:cNvSpPr txBox="1"/>
          <p:nvPr/>
        </p:nvSpPr>
        <p:spPr>
          <a:xfrm>
            <a:off x="1524000" y="7429500"/>
            <a:ext cx="1320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2400" b="1">
                <a:solidFill>
                  <a:srgbClr val="005AA9"/>
                </a:solidFill>
                <a:latin typeface="Aptos" panose="020B0004020202020204" pitchFamily="34" charset="0"/>
              </a:rPr>
              <a:t>Resultado esperado: continuidad operativa en producción y cambios validados desde pruebas.</a:t>
            </a:r>
            <a:endParaRPr lang="es-GT" sz="2400" b="1">
              <a:solidFill>
                <a:srgbClr val="005AA9"/>
              </a:solidFill>
              <a:latin typeface="Aptos" panose="020B00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CE5045E-B24D-8D15-B8CE-4DF2C636BA3F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C903379-415F-E127-C4F7-8B11FB4BD85F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789903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1064</Words>
  <Application>Microsoft Office PowerPoint</Application>
  <PresentationFormat>Personalizado</PresentationFormat>
  <Paragraphs>174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Perez</dc:creator>
  <cp:lastModifiedBy>Fernando Perez</cp:lastModifiedBy>
  <cp:revision>2</cp:revision>
  <dcterms:created xsi:type="dcterms:W3CDTF">2026-07-15T18:02:52Z</dcterms:created>
  <dcterms:modified xsi:type="dcterms:W3CDTF">2026-07-15T18:10:02Z</dcterms:modified>
</cp:coreProperties>
</file>