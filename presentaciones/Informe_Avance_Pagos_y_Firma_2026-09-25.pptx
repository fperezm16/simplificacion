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s-G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633E3-B6D9-46D7-C9FB-012340701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0F4920-B648-C4E4-2AA5-F97EE4C42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62A351-42F0-A03D-E690-475BB998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9545D8-B859-0074-8B6D-13A8D086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910DB8-0F43-9047-B179-AA03E96D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0069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C03B3-C0C8-FA9E-D16F-AE39415D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D4303F-58EA-C73B-0FDB-22EEB60D8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886FEE-FCE4-D66C-EACA-0CFF4737C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FD7C92-D138-7EF7-3D36-0BA534F3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48B264-7640-D074-5EA2-CC224978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6703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2C345-EF2C-2A0E-DD3B-AFA04C64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E3589-5E0A-B5E3-DC89-587323143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50CEBE-888B-47F2-565E-837EEF7A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80D4FF-05CD-3E9B-F03B-3D338B3D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8F8115-82F6-D2EF-F333-0DB04C79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5871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D5A2A-6D62-EB78-173E-939CEDB2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673996-CECC-8DDB-CF0C-504C98F5A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A827C3-AF33-1D38-F3FB-804D83A60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AFB342-9739-4EEA-C13A-B4B37FC1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1C39ED-063C-F527-228A-BCD3AAEF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1360C5-E784-5969-7870-482881C8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1359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CD029-19B5-C211-8FE4-C2E0FFA3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3D2BB9-3DAB-906E-BCCD-0C0F23757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63AB54-4136-11E3-5771-1CCF5A37C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AF5B08-C0AE-2527-BD90-3B2A086F1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A4ACA3-2FFB-D78C-09F6-9F92DEFD6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5C982E-8014-35E8-02AD-5BFB7B13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39EDC9-1589-1B5A-257D-68C7C3FE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99BD5E-8BC3-F856-8768-FC02302D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6824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78122-CC97-41F5-E985-B15F3965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7BC8F9-D2E4-9A1B-1579-B186A1B7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B879B1-A995-BBE0-F0D8-870A95D3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D869D2-DE7F-978F-F06E-6BAAEF246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18099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0DA5E2F-42E8-8201-1C6F-6E918A51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D1E094-CD0C-38AB-A8F9-11A8669C9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8248A8-9A75-0401-D8AF-0AC03766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0201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391D7-EB0A-6000-2D9F-C4341E6D1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36575F-7700-1039-2EE9-9A631C5AE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F53785-15EB-39CD-83F4-7D7E3E261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C0CB9E-0567-6C1C-D08C-159A66F1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4C7439-247F-92F9-D04C-1CD56F0C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2447B8-261F-9A3A-19CD-7037B243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7224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0090-E7D6-A285-1D3F-045E32EA3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FC5CA7-CE79-38FC-3F51-BE8E0CAFD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161DAE-CAB4-A33E-170E-42F1050C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9C4634-3497-9F8E-D9F8-E528AE23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01486B-B702-8A9D-E9D9-37EF9486D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DC4F24-7A44-CB16-F315-8A4683C9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9628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DDE65-83AD-589E-8493-9B403CA7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01822C-A969-1877-5BA8-1372C9CA0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E46CF1-235A-7609-BD5F-4198C0F19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5BB0DD-8094-18B6-932C-984DA177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430DFD-A36D-A723-D44A-7484AA20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45608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E14841-953E-6579-17CC-CB4F35ACE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40991A-E4CD-31B3-2B51-966D065CA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E04916-2531-41CD-7CDF-43D63BCB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1A05E8-BB3A-20D1-F057-C752716C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2A8F2E-E43A-684D-FD55-4F865CF1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0606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BAD99C-7429-C2A3-936A-CBCC655B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F0DE2-3B05-45E2-6A47-53057FEB3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6629F3-CEB4-7E6A-6D14-AB71A1EAF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CC25A-592F-4CC0-845B-9CEA206FDF1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E5D8D2-1C65-A762-7665-9B1AD989A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2E60B4-7CFE-6826-9BB8-CF0A20F0C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A3DFF-CA34-4298-B9C7-3878AD7C35A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4362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2D4AC7-29BD-E6D5-6C0B-E0F5C143CA6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698500"/>
            <a:ext cx="2667000" cy="5969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00CEC17-C316-BE8A-A418-761D7B167967}"/>
              </a:ext>
            </a:extLst>
          </p:cNvPr>
          <p:cNvSpPr txBox="1"/>
          <p:nvPr/>
        </p:nvSpPr>
        <p:spPr>
          <a:xfrm>
            <a:off x="825500" y="1968500"/>
            <a:ext cx="6858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3200" b="1">
                <a:solidFill>
                  <a:srgbClr val="FFFFFF"/>
                </a:solidFill>
                <a:latin typeface="Aptos" panose="020B0004020202020204" pitchFamily="34" charset="0"/>
              </a:rPr>
              <a:t>Informe de avance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1EE596-054D-45AF-D274-0B2A9AB3E594}"/>
              </a:ext>
            </a:extLst>
          </p:cNvPr>
          <p:cNvSpPr txBox="1"/>
          <p:nvPr/>
        </p:nvSpPr>
        <p:spPr>
          <a:xfrm>
            <a:off x="825500" y="2692400"/>
            <a:ext cx="825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100">
                <a:solidFill>
                  <a:srgbClr val="C4E2F4"/>
                </a:solidFill>
                <a:latin typeface="Aptos" panose="020B0004020202020204" pitchFamily="34" charset="0"/>
              </a:rPr>
              <a:t>Pasarela de pagos NeoNet y firma electrÃ³nica Prisma</a:t>
            </a:r>
            <a:endParaRPr lang="es-GT" sz="2100">
              <a:solidFill>
                <a:srgbClr val="C4E2F4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44D966-350B-148B-B304-18F67161FA0C}"/>
              </a:ext>
            </a:extLst>
          </p:cNvPr>
          <p:cNvSpPr txBox="1"/>
          <p:nvPr/>
        </p:nvSpPr>
        <p:spPr>
          <a:xfrm>
            <a:off x="825500" y="33782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FFFFFF"/>
                </a:solidFill>
                <a:latin typeface="Aptos" panose="020B0004020202020204" pitchFamily="34" charset="0"/>
              </a:rPr>
              <a:t>Estado funcional, evidencia de interfaz y ruta de cierre para pruebas y certificaciÃ³n.</a:t>
            </a:r>
            <a:endParaRPr lang="es-GT"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643B7B-9585-57D7-2DD9-7727E49F1AC2}"/>
              </a:ext>
            </a:extLst>
          </p:cNvPr>
          <p:cNvSpPr/>
          <p:nvPr/>
        </p:nvSpPr>
        <p:spPr>
          <a:xfrm>
            <a:off x="825500" y="4635500"/>
            <a:ext cx="10033000" cy="25400"/>
          </a:xfrm>
          <a:prstGeom prst="rect">
            <a:avLst/>
          </a:prstGeom>
          <a:solidFill>
            <a:srgbClr val="00A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4981CD-89C3-C642-9648-8BE80F560A46}"/>
              </a:ext>
            </a:extLst>
          </p:cNvPr>
          <p:cNvSpPr txBox="1"/>
          <p:nvPr/>
        </p:nvSpPr>
        <p:spPr>
          <a:xfrm>
            <a:off x="825500" y="5016500"/>
            <a:ext cx="635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C4E2F4"/>
                </a:solidFill>
                <a:latin typeface="Aptos" panose="020B0004020202020204" pitchFamily="34" charset="0"/>
              </a:rPr>
              <a:t>DirecciÃ³n General de AeronÃ¡utica Civil</a:t>
            </a:r>
            <a:endParaRPr lang="es-GT" sz="1400">
              <a:solidFill>
                <a:srgbClr val="C4E2F4"/>
              </a:solidFill>
              <a:latin typeface="Aptos" panose="020B00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388F17E-D0CC-1C74-1808-983A33201349}"/>
              </a:ext>
            </a:extLst>
          </p:cNvPr>
          <p:cNvSpPr txBox="1"/>
          <p:nvPr/>
        </p:nvSpPr>
        <p:spPr>
          <a:xfrm>
            <a:off x="825500" y="5397500"/>
            <a:ext cx="381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300" b="1">
                <a:solidFill>
                  <a:srgbClr val="FFFFFF"/>
                </a:solidFill>
                <a:latin typeface="Aptos" panose="020B0004020202020204" pitchFamily="34" charset="0"/>
              </a:rPr>
              <a:t>25 de septiembre de 2026</a:t>
            </a:r>
            <a:endParaRPr lang="es-GT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2024B7D-E74D-B12D-6A44-0ECF5570E10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333500"/>
            <a:ext cx="3175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00A2CD-9C13-12BC-DD93-BFFEDC784212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75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C84D84-286F-9E7E-3F10-EA2E2A8ECC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17500"/>
            <a:ext cx="18034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8F5CD9-CADD-C9CC-B6D8-B3ADEE889424}"/>
              </a:ext>
            </a:extLst>
          </p:cNvPr>
          <p:cNvSpPr txBox="1"/>
          <p:nvPr/>
        </p:nvSpPr>
        <p:spPr>
          <a:xfrm>
            <a:off x="736600" y="889000"/>
            <a:ext cx="889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500" b="1">
                <a:solidFill>
                  <a:srgbClr val="0A2A4E"/>
                </a:solidFill>
                <a:latin typeface="Aptos" panose="020B0004020202020204" pitchFamily="34" charset="0"/>
              </a:rPr>
              <a:t>Resumen ejecutivo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3AF7E0-54B3-5F33-982F-22715E331E64}"/>
              </a:ext>
            </a:extLst>
          </p:cNvPr>
          <p:cNvSpPr txBox="1"/>
          <p:nvPr/>
        </p:nvSpPr>
        <p:spPr>
          <a:xfrm>
            <a:off x="736600" y="13335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96D80"/>
                </a:solidFill>
                <a:latin typeface="Aptos" panose="020B0004020202020204" pitchFamily="34" charset="0"/>
              </a:rPr>
              <a:t>SituaciÃ³n consolidada al cierre del informe</a:t>
            </a:r>
            <a:endParaRPr lang="es-GT" sz="1100">
              <a:solidFill>
                <a:srgbClr val="596D8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53E4AF-9BAA-D65C-B3AA-E024290868B4}"/>
              </a:ext>
            </a:extLst>
          </p:cNvPr>
          <p:cNvSpPr txBox="1"/>
          <p:nvPr/>
        </p:nvSpPr>
        <p:spPr>
          <a:xfrm>
            <a:off x="736600" y="6502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DGAC | Informe de avance | 25 septiembre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4C1BDA-A077-B9E1-31FB-BCE7651BA983}"/>
              </a:ext>
            </a:extLst>
          </p:cNvPr>
          <p:cNvSpPr txBox="1"/>
          <p:nvPr/>
        </p:nvSpPr>
        <p:spPr>
          <a:xfrm>
            <a:off x="11366500" y="6502400"/>
            <a:ext cx="317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4A5CFB1-7713-006D-287C-83DB0A1DB770}"/>
              </a:ext>
            </a:extLst>
          </p:cNvPr>
          <p:cNvSpPr/>
          <p:nvPr/>
        </p:nvSpPr>
        <p:spPr>
          <a:xfrm>
            <a:off x="736600" y="1968500"/>
            <a:ext cx="3175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5D0C49A-47F1-126D-CC3C-2FBF5B632005}"/>
              </a:ext>
            </a:extLst>
          </p:cNvPr>
          <p:cNvSpPr/>
          <p:nvPr/>
        </p:nvSpPr>
        <p:spPr>
          <a:xfrm>
            <a:off x="736600" y="1968500"/>
            <a:ext cx="101600" cy="952500"/>
          </a:xfrm>
          <a:prstGeom prst="rect">
            <a:avLst/>
          </a:prstGeom>
          <a:solidFill>
            <a:srgbClr val="C07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A77953-11E3-4BA0-23B2-5CD6D0C4CE3D}"/>
              </a:ext>
            </a:extLst>
          </p:cNvPr>
          <p:cNvSpPr txBox="1"/>
          <p:nvPr/>
        </p:nvSpPr>
        <p:spPr>
          <a:xfrm>
            <a:off x="1016000" y="2159000"/>
            <a:ext cx="260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000" b="1">
                <a:solidFill>
                  <a:srgbClr val="596D80"/>
                </a:solidFill>
                <a:latin typeface="Aptos" panose="020B0004020202020204" pitchFamily="34" charset="0"/>
              </a:rPr>
              <a:t>PASARELA NEO NET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CCEC5B2-5388-77ED-C50B-9E8032F4E29F}"/>
              </a:ext>
            </a:extLst>
          </p:cNvPr>
          <p:cNvSpPr txBox="1"/>
          <p:nvPr/>
        </p:nvSpPr>
        <p:spPr>
          <a:xfrm>
            <a:off x="1016000" y="2451100"/>
            <a:ext cx="2667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182D44"/>
                </a:solidFill>
                <a:latin typeface="Aptos" panose="020B0004020202020204" pitchFamily="34" charset="0"/>
              </a:rPr>
              <a:t>IntegraciÃ³n funcional; diagnÃ³stico activo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654B53B-520A-E2DB-91DC-8A04B3E374B7}"/>
              </a:ext>
            </a:extLst>
          </p:cNvPr>
          <p:cNvSpPr/>
          <p:nvPr/>
        </p:nvSpPr>
        <p:spPr>
          <a:xfrm>
            <a:off x="4508500" y="1968500"/>
            <a:ext cx="3175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88B8F3B-874A-4D5D-FAD3-CB32E412B68C}"/>
              </a:ext>
            </a:extLst>
          </p:cNvPr>
          <p:cNvSpPr/>
          <p:nvPr/>
        </p:nvSpPr>
        <p:spPr>
          <a:xfrm>
            <a:off x="4508500" y="1968500"/>
            <a:ext cx="101600" cy="952500"/>
          </a:xfrm>
          <a:prstGeom prst="rect">
            <a:avLst/>
          </a:prstGeom>
          <a:solidFill>
            <a:srgbClr val="1C8E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80DE2EC-A0D2-FCCB-6CF9-2FB61B82C639}"/>
              </a:ext>
            </a:extLst>
          </p:cNvPr>
          <p:cNvSpPr txBox="1"/>
          <p:nvPr/>
        </p:nvSpPr>
        <p:spPr>
          <a:xfrm>
            <a:off x="4787900" y="2159000"/>
            <a:ext cx="260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000" b="1">
                <a:solidFill>
                  <a:srgbClr val="596D80"/>
                </a:solidFill>
                <a:latin typeface="Aptos" panose="020B0004020202020204" pitchFamily="34" charset="0"/>
              </a:rPr>
              <a:t>FIRMA PRISMA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793F66A-8D6D-3608-7DBE-5791083DB379}"/>
              </a:ext>
            </a:extLst>
          </p:cNvPr>
          <p:cNvSpPr txBox="1"/>
          <p:nvPr/>
        </p:nvSpPr>
        <p:spPr>
          <a:xfrm>
            <a:off x="4787900" y="2451100"/>
            <a:ext cx="2667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182D44"/>
                </a:solidFill>
                <a:latin typeface="Aptos" panose="020B0004020202020204" pitchFamily="34" charset="0"/>
              </a:rPr>
              <a:t>Flujo de firma implementado y probado</a:t>
            </a:r>
            <a:endParaRPr lang="es-GT" sz="1600" b="1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DA2045F-5258-02FF-A29C-37B7E6927F30}"/>
              </a:ext>
            </a:extLst>
          </p:cNvPr>
          <p:cNvSpPr/>
          <p:nvPr/>
        </p:nvSpPr>
        <p:spPr>
          <a:xfrm>
            <a:off x="8280400" y="1968500"/>
            <a:ext cx="3175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D894AD4-8618-EAB5-C9E1-370C4845DCE2}"/>
              </a:ext>
            </a:extLst>
          </p:cNvPr>
          <p:cNvSpPr/>
          <p:nvPr/>
        </p:nvSpPr>
        <p:spPr>
          <a:xfrm>
            <a:off x="8280400" y="1968500"/>
            <a:ext cx="101600" cy="952500"/>
          </a:xfrm>
          <a:prstGeom prst="rect">
            <a:avLst/>
          </a:prstGeom>
          <a:solidFill>
            <a:srgbClr val="00A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14EFA70-348F-590A-DE0D-7BD2AB92ABE9}"/>
              </a:ext>
            </a:extLst>
          </p:cNvPr>
          <p:cNvSpPr txBox="1"/>
          <p:nvPr/>
        </p:nvSpPr>
        <p:spPr>
          <a:xfrm>
            <a:off x="8559800" y="2159000"/>
            <a:ext cx="260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000" b="1">
                <a:solidFill>
                  <a:srgbClr val="596D80"/>
                </a:solidFill>
                <a:latin typeface="Aptos" panose="020B0004020202020204" pitchFamily="34" charset="0"/>
              </a:rPr>
              <a:t>DESPLIEGUE DE PRUEBA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2F25C99-8528-083C-D9A6-9B8840E74C05}"/>
              </a:ext>
            </a:extLst>
          </p:cNvPr>
          <p:cNvSpPr txBox="1"/>
          <p:nvPr/>
        </p:nvSpPr>
        <p:spPr>
          <a:xfrm>
            <a:off x="8559800" y="2451100"/>
            <a:ext cx="2667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182D44"/>
                </a:solidFill>
                <a:latin typeface="Aptos" panose="020B0004020202020204" pitchFamily="34" charset="0"/>
              </a:rPr>
              <a:t>Pendiente de cierre tÃ©cnico y validaciÃ³n</a:t>
            </a:r>
            <a:endParaRPr lang="es-GT" sz="1600" b="1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A3621ED-2C49-9373-890F-65A84D7D616B}"/>
              </a:ext>
            </a:extLst>
          </p:cNvPr>
          <p:cNvSpPr txBox="1"/>
          <p:nvPr/>
        </p:nvSpPr>
        <p:spPr>
          <a:xfrm>
            <a:off x="736600" y="3429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800" b="1">
                <a:solidFill>
                  <a:srgbClr val="0A2A4E"/>
                </a:solidFill>
                <a:latin typeface="Aptos" panose="020B0004020202020204" pitchFamily="34" charset="0"/>
              </a:rPr>
              <a:t>Lo completado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18D2692-3FCE-AD51-E0F4-859802D3C0D5}"/>
              </a:ext>
            </a:extLst>
          </p:cNvPr>
          <p:cNvSpPr txBox="1"/>
          <p:nvPr/>
        </p:nvSpPr>
        <p:spPr>
          <a:xfrm>
            <a:off x="736600" y="3873500"/>
            <a:ext cx="50165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Pago con tarjeta, 3DS frictionless y challenge.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Persistencia de estados, auditorÃ­a y comprobante.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Firma PDF con Prisma y posicionamiento visual.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Roles mÃºltiples y operador de pagos.</a:t>
            </a:r>
            <a:endParaRPr lang="es-GT" sz="15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782165A-685B-CEC2-508D-09F81E31E070}"/>
              </a:ext>
            </a:extLst>
          </p:cNvPr>
          <p:cNvSpPr txBox="1"/>
          <p:nvPr/>
        </p:nvSpPr>
        <p:spPr>
          <a:xfrm>
            <a:off x="6413500" y="34290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800" b="1">
                <a:solidFill>
                  <a:srgbClr val="0A2A4E"/>
                </a:solidFill>
                <a:latin typeface="Aptos" panose="020B0004020202020204" pitchFamily="34" charset="0"/>
              </a:rPr>
              <a:t>Foco inmediato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A6E5AEE-DEBD-C3E1-E43A-5F1596BBF008}"/>
              </a:ext>
            </a:extLst>
          </p:cNvPr>
          <p:cNvSpPr txBox="1"/>
          <p:nvPr/>
        </p:nvSpPr>
        <p:spPr>
          <a:xfrm>
            <a:off x="6413500" y="3873500"/>
            <a:ext cx="4699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Resolver respuesta 96 actual del ambiente NeoNet.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Certificar venta, reversa, anulaciÃ³n y vouchers.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Cerrar validaciones de seguridad, despliegue y operaciÃ³n.</a:t>
            </a:r>
            <a:endParaRPr lang="es-GT" sz="15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705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042319A-0E64-DB91-739D-E403C8972FAE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75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81AFB5-B8C4-46ED-237A-093B852B14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17500"/>
            <a:ext cx="18034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7E622A6-B86C-60CF-74EB-1BE150B19F6C}"/>
              </a:ext>
            </a:extLst>
          </p:cNvPr>
          <p:cNvSpPr txBox="1"/>
          <p:nvPr/>
        </p:nvSpPr>
        <p:spPr>
          <a:xfrm>
            <a:off x="736600" y="889000"/>
            <a:ext cx="889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500" b="1">
                <a:solidFill>
                  <a:srgbClr val="0A2A4E"/>
                </a:solidFill>
                <a:latin typeface="Aptos" panose="020B0004020202020204" pitchFamily="34" charset="0"/>
              </a:rPr>
              <a:t>Pasarela de pagos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D46110-C797-8EEF-F8FF-D09B53841647}"/>
              </a:ext>
            </a:extLst>
          </p:cNvPr>
          <p:cNvSpPr txBox="1"/>
          <p:nvPr/>
        </p:nvSpPr>
        <p:spPr>
          <a:xfrm>
            <a:off x="736600" y="13335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100">
                <a:solidFill>
                  <a:srgbClr val="596D80"/>
                </a:solidFill>
                <a:latin typeface="Aptos" panose="020B0004020202020204" pitchFamily="34" charset="0"/>
              </a:rPr>
              <a:t>Interfaz de pago disponible para el flujo de trÃ¡mites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11357C-85C2-13CD-F79F-817AC621C617}"/>
              </a:ext>
            </a:extLst>
          </p:cNvPr>
          <p:cNvSpPr txBox="1"/>
          <p:nvPr/>
        </p:nvSpPr>
        <p:spPr>
          <a:xfrm>
            <a:off x="736600" y="6502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DGAC | Informe de avance | 25 septiembre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C22FEF-6D0F-261F-5DCE-1B620F3C5FEB}"/>
              </a:ext>
            </a:extLst>
          </p:cNvPr>
          <p:cNvSpPr txBox="1"/>
          <p:nvPr/>
        </p:nvSpPr>
        <p:spPr>
          <a:xfrm>
            <a:off x="11366500" y="6502400"/>
            <a:ext cx="317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3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4224715-9F73-75EE-459C-D7B71B234A8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841500"/>
            <a:ext cx="6413500" cy="42799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E4B861-F2A8-CA1F-DAAE-035D078022B3}"/>
              </a:ext>
            </a:extLst>
          </p:cNvPr>
          <p:cNvSpPr txBox="1"/>
          <p:nvPr/>
        </p:nvSpPr>
        <p:spPr>
          <a:xfrm>
            <a:off x="7683500" y="1968500"/>
            <a:ext cx="3556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900" b="1">
                <a:solidFill>
                  <a:srgbClr val="0A2A4E"/>
                </a:solidFill>
                <a:latin typeface="Aptos" panose="020B0004020202020204" pitchFamily="34" charset="0"/>
              </a:rPr>
              <a:t>Avance implementado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D7058D5-1CD4-74CA-5885-9BA8D170FE94}"/>
              </a:ext>
            </a:extLst>
          </p:cNvPr>
          <p:cNvSpPr txBox="1"/>
          <p:nvPr/>
        </p:nvSpPr>
        <p:spPr>
          <a:xfrm>
            <a:off x="7683500" y="2540000"/>
            <a:ext cx="3683000" cy="21544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Formulario responsivo con identificaciÃ³n de Visa y Mastercard.</a:t>
            </a:r>
          </a:p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ValidaciÃ³n local de datos antes de la solicitud.</a:t>
            </a:r>
          </a:p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Estados visibles: pendiente, autenticando, aprobado, rechazado y en revisiÃ³n.</a:t>
            </a:r>
          </a:p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Comprobante con pago, referencia, autorizaciÃ³n, auditorÃ­a y monto.</a:t>
            </a:r>
          </a:p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No se capturÃ³ ni procesÃ³ un pago real para esta evidencia.</a:t>
            </a:r>
            <a:endParaRPr lang="es-GT" sz="14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65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AA9D613-37CB-C2AC-4BAA-44E5F48E153D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75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8D9A65-3F0C-2D99-039B-9338996668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17500"/>
            <a:ext cx="18034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EABBDF5-F54E-550E-9E9A-AEBF9D186D38}"/>
              </a:ext>
            </a:extLst>
          </p:cNvPr>
          <p:cNvSpPr txBox="1"/>
          <p:nvPr/>
        </p:nvSpPr>
        <p:spPr>
          <a:xfrm>
            <a:off x="736600" y="889000"/>
            <a:ext cx="889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500" b="1">
                <a:solidFill>
                  <a:srgbClr val="0A2A4E"/>
                </a:solidFill>
                <a:latin typeface="Aptos" panose="020B0004020202020204" pitchFamily="34" charset="0"/>
              </a:rPr>
              <a:t>AutenticaciÃ³n 3D Secure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68896D-A30A-0D57-DE01-6F871BA13C46}"/>
              </a:ext>
            </a:extLst>
          </p:cNvPr>
          <p:cNvSpPr txBox="1"/>
          <p:nvPr/>
        </p:nvSpPr>
        <p:spPr>
          <a:xfrm>
            <a:off x="736600" y="13335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100">
                <a:solidFill>
                  <a:srgbClr val="596D80"/>
                </a:solidFill>
                <a:latin typeface="Aptos" panose="020B0004020202020204" pitchFamily="34" charset="0"/>
              </a:rPr>
              <a:t>Flujo conectado a NeoNet para validaciÃ³n del emisor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F572AD-D91A-43B2-1CE4-FF4967544FF9}"/>
              </a:ext>
            </a:extLst>
          </p:cNvPr>
          <p:cNvSpPr txBox="1"/>
          <p:nvPr/>
        </p:nvSpPr>
        <p:spPr>
          <a:xfrm>
            <a:off x="736600" y="6502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DGAC | Informe de avance | 25 septiembre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E93D340-1C76-FC13-D0D0-12D7260B23AE}"/>
              </a:ext>
            </a:extLst>
          </p:cNvPr>
          <p:cNvSpPr txBox="1"/>
          <p:nvPr/>
        </p:nvSpPr>
        <p:spPr>
          <a:xfrm>
            <a:off x="11366500" y="6502400"/>
            <a:ext cx="317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A4B6319-D6C8-20A9-FCA6-A1633836D9E1}"/>
              </a:ext>
            </a:extLst>
          </p:cNvPr>
          <p:cNvSpPr/>
          <p:nvPr/>
        </p:nvSpPr>
        <p:spPr>
          <a:xfrm>
            <a:off x="736600" y="2349500"/>
            <a:ext cx="2438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FBD2FF7-8745-3152-840B-B3CC998232EE}"/>
              </a:ext>
            </a:extLst>
          </p:cNvPr>
          <p:cNvSpPr txBox="1"/>
          <p:nvPr/>
        </p:nvSpPr>
        <p:spPr>
          <a:xfrm>
            <a:off x="927100" y="2552700"/>
            <a:ext cx="44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200" b="1">
                <a:solidFill>
                  <a:srgbClr val="0758A0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BEC6C4-9086-D60F-351A-0DCA66F9315A}"/>
              </a:ext>
            </a:extLst>
          </p:cNvPr>
          <p:cNvSpPr txBox="1"/>
          <p:nvPr/>
        </p:nvSpPr>
        <p:spPr>
          <a:xfrm>
            <a:off x="927100" y="2946400"/>
            <a:ext cx="1968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500" b="1">
                <a:solidFill>
                  <a:srgbClr val="182D44"/>
                </a:solidFill>
                <a:latin typeface="Aptos" panose="020B0004020202020204" pitchFamily="34" charset="0"/>
              </a:rPr>
              <a:t>Solicitud de pago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716052A-EA4F-6EE7-67D4-C0528059020F}"/>
              </a:ext>
            </a:extLst>
          </p:cNvPr>
          <p:cNvSpPr txBox="1"/>
          <p:nvPr/>
        </p:nvSpPr>
        <p:spPr>
          <a:xfrm>
            <a:off x="927100" y="32639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596D80"/>
                </a:solidFill>
                <a:latin typeface="Aptos" panose="020B0004020202020204" pitchFamily="34" charset="0"/>
              </a:rPr>
              <a:t>Captura y envÃ­o seguro al backend</a:t>
            </a:r>
            <a:endParaRPr lang="es-GT" sz="1000">
              <a:solidFill>
                <a:srgbClr val="596D80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75D8930-D308-F629-B5D6-467F792A9158}"/>
              </a:ext>
            </a:extLst>
          </p:cNvPr>
          <p:cNvSpPr/>
          <p:nvPr/>
        </p:nvSpPr>
        <p:spPr>
          <a:xfrm>
            <a:off x="3467100" y="2349500"/>
            <a:ext cx="2438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90391F6-ACDA-C081-4B3B-F11F7FA2F059}"/>
              </a:ext>
            </a:extLst>
          </p:cNvPr>
          <p:cNvSpPr txBox="1"/>
          <p:nvPr/>
        </p:nvSpPr>
        <p:spPr>
          <a:xfrm>
            <a:off x="3657600" y="2552700"/>
            <a:ext cx="44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200" b="1">
                <a:solidFill>
                  <a:srgbClr val="0758A0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4AF08C3-0105-2E96-3353-E1870205D683}"/>
              </a:ext>
            </a:extLst>
          </p:cNvPr>
          <p:cNvSpPr txBox="1"/>
          <p:nvPr/>
        </p:nvSpPr>
        <p:spPr>
          <a:xfrm>
            <a:off x="3657600" y="2946400"/>
            <a:ext cx="1968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500" b="1">
                <a:solidFill>
                  <a:srgbClr val="182D44"/>
                </a:solidFill>
                <a:latin typeface="Aptos" panose="020B0004020202020204" pitchFamily="34" charset="0"/>
              </a:rPr>
              <a:t>Device data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1A7941A-1B3F-913E-3A0D-13AA209BFD10}"/>
              </a:ext>
            </a:extLst>
          </p:cNvPr>
          <p:cNvSpPr txBox="1"/>
          <p:nvPr/>
        </p:nvSpPr>
        <p:spPr>
          <a:xfrm>
            <a:off x="3657600" y="32639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000">
                <a:solidFill>
                  <a:srgbClr val="596D80"/>
                </a:solidFill>
                <a:latin typeface="Aptos" panose="020B0004020202020204" pitchFamily="34" charset="0"/>
              </a:rPr>
              <a:t>RecolecciÃ³n invisible del dispositivo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F659D70-BAC8-51FD-9FC2-B4D2719F9931}"/>
              </a:ext>
            </a:extLst>
          </p:cNvPr>
          <p:cNvSpPr/>
          <p:nvPr/>
        </p:nvSpPr>
        <p:spPr>
          <a:xfrm>
            <a:off x="6197600" y="2349500"/>
            <a:ext cx="2438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91EB009-7725-E5E6-E736-8ADADD061C79}"/>
              </a:ext>
            </a:extLst>
          </p:cNvPr>
          <p:cNvSpPr txBox="1"/>
          <p:nvPr/>
        </p:nvSpPr>
        <p:spPr>
          <a:xfrm>
            <a:off x="6388100" y="2552700"/>
            <a:ext cx="44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200" b="1">
                <a:solidFill>
                  <a:srgbClr val="0758A0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A7231E-AA1A-8B21-62B6-A2ACA98018BE}"/>
              </a:ext>
            </a:extLst>
          </p:cNvPr>
          <p:cNvSpPr txBox="1"/>
          <p:nvPr/>
        </p:nvSpPr>
        <p:spPr>
          <a:xfrm>
            <a:off x="6388100" y="2946400"/>
            <a:ext cx="1968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500" b="1">
                <a:solidFill>
                  <a:srgbClr val="182D44"/>
                </a:solidFill>
                <a:latin typeface="Aptos" panose="020B0004020202020204" pitchFamily="34" charset="0"/>
              </a:rPr>
              <a:t>ValidaciÃ³n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28C4BA3-0262-9072-2B60-8744B6C93F50}"/>
              </a:ext>
            </a:extLst>
          </p:cNvPr>
          <p:cNvSpPr txBox="1"/>
          <p:nvPr/>
        </p:nvSpPr>
        <p:spPr>
          <a:xfrm>
            <a:off x="6388100" y="32639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000">
                <a:solidFill>
                  <a:srgbClr val="596D80"/>
                </a:solidFill>
                <a:latin typeface="Aptos" panose="020B0004020202020204" pitchFamily="34" charset="0"/>
              </a:rPr>
              <a:t>Frictionless o solicitud de challenge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4182F56-E8E6-63D8-9DDD-618C8E084B98}"/>
              </a:ext>
            </a:extLst>
          </p:cNvPr>
          <p:cNvSpPr/>
          <p:nvPr/>
        </p:nvSpPr>
        <p:spPr>
          <a:xfrm>
            <a:off x="8928100" y="2349500"/>
            <a:ext cx="2438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8F81C1F-B810-9E71-E14D-06E8B8B9DA0E}"/>
              </a:ext>
            </a:extLst>
          </p:cNvPr>
          <p:cNvSpPr txBox="1"/>
          <p:nvPr/>
        </p:nvSpPr>
        <p:spPr>
          <a:xfrm>
            <a:off x="9118600" y="2552700"/>
            <a:ext cx="44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200" b="1">
                <a:solidFill>
                  <a:srgbClr val="0758A0"/>
                </a:solidFill>
                <a:latin typeface="Aptos" panose="020B0004020202020204" pitchFamily="34" charset="0"/>
              </a:rPr>
              <a:t>4-5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3D8F5FC-202E-4E5A-8E09-7F234B983078}"/>
              </a:ext>
            </a:extLst>
          </p:cNvPr>
          <p:cNvSpPr txBox="1"/>
          <p:nvPr/>
        </p:nvSpPr>
        <p:spPr>
          <a:xfrm>
            <a:off x="9118600" y="2946400"/>
            <a:ext cx="1968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500" b="1">
                <a:solidFill>
                  <a:srgbClr val="182D44"/>
                </a:solidFill>
                <a:latin typeface="Aptos" panose="020B0004020202020204" pitchFamily="34" charset="0"/>
              </a:rPr>
              <a:t>OTP / confirmaciÃ³n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68F06CA-F25F-EF7B-934C-1C704F422E36}"/>
              </a:ext>
            </a:extLst>
          </p:cNvPr>
          <p:cNvSpPr txBox="1"/>
          <p:nvPr/>
        </p:nvSpPr>
        <p:spPr>
          <a:xfrm>
            <a:off x="9118600" y="3263900"/>
            <a:ext cx="203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596D80"/>
                </a:solidFill>
                <a:latin typeface="Aptos" panose="020B0004020202020204" pitchFamily="34" charset="0"/>
              </a:rPr>
              <a:t>AutenticaciÃ³n del banco y resultado final</a:t>
            </a:r>
            <a:endParaRPr lang="es-GT" sz="1000">
              <a:solidFill>
                <a:srgbClr val="596D80"/>
              </a:solidFill>
              <a:latin typeface="Aptos" panose="020B00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4D21BD6-D643-C18D-AB9D-253D9C472F9D}"/>
              </a:ext>
            </a:extLst>
          </p:cNvPr>
          <p:cNvSpPr txBox="1"/>
          <p:nvPr/>
        </p:nvSpPr>
        <p:spPr>
          <a:xfrm>
            <a:off x="736600" y="4381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800" b="1">
                <a:solidFill>
                  <a:srgbClr val="0A2A4E"/>
                </a:solidFill>
                <a:latin typeface="Aptos" panose="020B0004020202020204" pitchFamily="34" charset="0"/>
              </a:rPr>
              <a:t>Evidencia de avance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4E56198-C96C-F245-ED8B-0AB17EB8DCFC}"/>
              </a:ext>
            </a:extLst>
          </p:cNvPr>
          <p:cNvSpPr txBox="1"/>
          <p:nvPr/>
        </p:nvSpPr>
        <p:spPr>
          <a:xfrm>
            <a:off x="736600" y="4826000"/>
            <a:ext cx="10033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Se validaron tarjetas de laboratorio Visa y Mastercard durante las pruebas previas.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La UI ya soporta el challenge del emisor en ventana controlada y retorno a la aplicaciÃ³n.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Los datos sensibles se filtran de respuestas al navegador y de trazas de diagnÃ³stico.</a:t>
            </a:r>
            <a:endParaRPr lang="es-GT" sz="15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37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F6D3D63-5D96-2DFB-A4EE-66ACD6FD0FE3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75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BE34A0-915A-1F4A-0900-26976474D73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17500"/>
            <a:ext cx="18034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55976F5-FAAC-D17B-5240-A0485D5F8B2E}"/>
              </a:ext>
            </a:extLst>
          </p:cNvPr>
          <p:cNvSpPr txBox="1"/>
          <p:nvPr/>
        </p:nvSpPr>
        <p:spPr>
          <a:xfrm>
            <a:off x="736600" y="889000"/>
            <a:ext cx="889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500" b="1">
                <a:solidFill>
                  <a:srgbClr val="0A2A4E"/>
                </a:solidFill>
                <a:latin typeface="Aptos" panose="020B0004020202020204" pitchFamily="34" charset="0"/>
              </a:rPr>
              <a:t>Estado actual de pruebas NeoNet</a:t>
            </a:r>
            <a:endParaRPr lang="es-GT" sz="2500" b="1">
              <a:solidFill>
                <a:srgbClr val="0A2A4E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281E8B6-6F4F-68D4-0BD8-6B471CFA64D5}"/>
              </a:ext>
            </a:extLst>
          </p:cNvPr>
          <p:cNvSpPr txBox="1"/>
          <p:nvPr/>
        </p:nvSpPr>
        <p:spPr>
          <a:xfrm>
            <a:off x="736600" y="13335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96D80"/>
                </a:solidFill>
                <a:latin typeface="Aptos" panose="020B0004020202020204" pitchFamily="34" charset="0"/>
              </a:rPr>
              <a:t>Hallazgo abierto que debe resolverse antes de la certificaciÃ³n</a:t>
            </a:r>
            <a:endParaRPr lang="es-GT" sz="1100">
              <a:solidFill>
                <a:srgbClr val="596D8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CDDB64-AECB-57E4-81F3-AEACD519F628}"/>
              </a:ext>
            </a:extLst>
          </p:cNvPr>
          <p:cNvSpPr txBox="1"/>
          <p:nvPr/>
        </p:nvSpPr>
        <p:spPr>
          <a:xfrm>
            <a:off x="736600" y="6502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DGAC | Informe de avance | 25 septiembre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DD1471-5826-B4B4-3518-3C9F7CF13FD1}"/>
              </a:ext>
            </a:extLst>
          </p:cNvPr>
          <p:cNvSpPr txBox="1"/>
          <p:nvPr/>
        </p:nvSpPr>
        <p:spPr>
          <a:xfrm>
            <a:off x="11366500" y="6502400"/>
            <a:ext cx="317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61014A1-4864-0BF1-5FA4-3E9FFC4692C6}"/>
              </a:ext>
            </a:extLst>
          </p:cNvPr>
          <p:cNvSpPr/>
          <p:nvPr/>
        </p:nvSpPr>
        <p:spPr>
          <a:xfrm>
            <a:off x="736600" y="1968500"/>
            <a:ext cx="10604500" cy="1117600"/>
          </a:xfrm>
          <a:prstGeom prst="rect">
            <a:avLst/>
          </a:prstGeom>
          <a:solidFill>
            <a:srgbClr val="FFF5F4"/>
          </a:solidFill>
          <a:ln w="12700">
            <a:solidFill>
              <a:srgbClr val="EE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097C9B-C46C-B6D5-66A6-07FCC712547D}"/>
              </a:ext>
            </a:extLst>
          </p:cNvPr>
          <p:cNvSpPr txBox="1"/>
          <p:nvPr/>
        </p:nvSpPr>
        <p:spPr>
          <a:xfrm>
            <a:off x="1016000" y="2286000"/>
            <a:ext cx="977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B43838"/>
                </a:solidFill>
                <a:latin typeface="Aptos" panose="020B0004020202020204" pitchFamily="34" charset="0"/>
              </a:rPr>
              <a:t>Respuesta observada en pruebas recientes: ResponseCode 96 - NO SE PUEDE PROCESAR LA OPERACION.</a:t>
            </a:r>
            <a:endParaRPr lang="es-GT" sz="1600" b="1">
              <a:solidFill>
                <a:srgbClr val="B43838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AF9A0B5-37FE-9FD1-DA18-DCC48B3D43EA}"/>
              </a:ext>
            </a:extLst>
          </p:cNvPr>
          <p:cNvSpPr txBox="1"/>
          <p:nvPr/>
        </p:nvSpPr>
        <p:spPr>
          <a:xfrm>
            <a:off x="1016000" y="2679700"/>
            <a:ext cx="889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200">
                <a:solidFill>
                  <a:srgbClr val="596D80"/>
                </a:solidFill>
                <a:latin typeface="Aptos" panose="020B0004020202020204" pitchFamily="34" charset="0"/>
              </a:rPr>
              <a:t>La respuesta ocurre antes de obtener referencia, autorizaciÃ³n o Step 3DS.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B7AA5E2-1789-5AD9-15CB-EE74DCB1E5EA}"/>
              </a:ext>
            </a:extLst>
          </p:cNvPr>
          <p:cNvSpPr txBox="1"/>
          <p:nvPr/>
        </p:nvSpPr>
        <p:spPr>
          <a:xfrm>
            <a:off x="736600" y="36195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800" b="1">
                <a:solidFill>
                  <a:srgbClr val="0A2A4E"/>
                </a:solidFill>
                <a:latin typeface="Aptos" panose="020B0004020202020204" pitchFamily="34" charset="0"/>
              </a:rPr>
              <a:t>Evidencia tÃ©cnica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E1BADCA-BA22-72D4-DE86-4C043921812C}"/>
              </a:ext>
            </a:extLst>
          </p:cNvPr>
          <p:cNvSpPr txBox="1"/>
          <p:nvPr/>
        </p:nvSpPr>
        <p:spPr>
          <a:xfrm>
            <a:off x="736600" y="4064000"/>
            <a:ext cx="55880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La UI, el backend y el endpoint NeoNet estÃ¡n comunicÃ¡ndose.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Los intentos llegan a persistirse como rechazados; no es una falla de CORS ni de interfaz.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Los cambios recientes no modificaron builders, headers, credenciales, terminal ni payload.</a:t>
            </a:r>
          </a:p>
          <a:p>
            <a:r>
              <a:rPr lang="es-ES" sz="1500">
                <a:solidFill>
                  <a:srgbClr val="182D44"/>
                </a:solidFill>
                <a:latin typeface="Aptos" panose="020B0004020202020204" pitchFamily="34" charset="0"/>
              </a:rPr>
              <a:t>â€¢ Se requiere comparaciÃ³n request a request y validaciÃ³n del perfil de pruebas con NeoNet.</a:t>
            </a:r>
            <a:endParaRPr lang="es-GT" sz="15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0A8748E-BFAE-CD3E-D0F3-22A89083B944}"/>
              </a:ext>
            </a:extLst>
          </p:cNvPr>
          <p:cNvSpPr txBox="1"/>
          <p:nvPr/>
        </p:nvSpPr>
        <p:spPr>
          <a:xfrm>
            <a:off x="7048500" y="36195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800" b="1">
                <a:solidFill>
                  <a:srgbClr val="0A2A4E"/>
                </a:solidFill>
                <a:latin typeface="Aptos" panose="020B0004020202020204" pitchFamily="34" charset="0"/>
              </a:rPr>
              <a:t>AcciÃ³n de cierre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43E189C-778D-03A9-C73B-434863201369}"/>
              </a:ext>
            </a:extLst>
          </p:cNvPr>
          <p:cNvSpPr txBox="1"/>
          <p:nvPr/>
        </p:nvSpPr>
        <p:spPr>
          <a:xfrm>
            <a:off x="7048500" y="4064000"/>
            <a:ext cx="38100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500">
                <a:solidFill>
                  <a:srgbClr val="182D44"/>
                </a:solidFill>
                <a:latin typeface="Aptos" panose="020B0004020202020204" pitchFamily="34" charset="0"/>
              </a:rPr>
              <a:t>â€¢ Enviar evidencia sanitaria a NeoNet.</a:t>
            </a:r>
          </a:p>
          <a:p>
            <a:r>
              <a:rPr lang="es-GT" sz="1500">
                <a:solidFill>
                  <a:srgbClr val="182D44"/>
                </a:solidFill>
                <a:latin typeface="Aptos" panose="020B0004020202020204" pitchFamily="34" charset="0"/>
              </a:rPr>
              <a:t>â€¢ Solicitar revisiÃ³n de terminal/credenciales del ambiente.</a:t>
            </a:r>
          </a:p>
          <a:p>
            <a:r>
              <a:rPr lang="es-GT" sz="1500">
                <a:solidFill>
                  <a:srgbClr val="182D44"/>
                </a:solidFill>
                <a:latin typeface="Aptos" panose="020B0004020202020204" pitchFamily="34" charset="0"/>
              </a:rPr>
              <a:t>â€¢ Repetir matriz Visa y Mastercard tras su confirmaciÃ³n.</a:t>
            </a:r>
          </a:p>
        </p:txBody>
      </p:sp>
    </p:spTree>
    <p:extLst>
      <p:ext uri="{BB962C8B-B14F-4D97-AF65-F5344CB8AC3E}">
        <p14:creationId xmlns:p14="http://schemas.microsoft.com/office/powerpoint/2010/main" val="276324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E512A86-D717-DE37-3C46-EF59F591F3AC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75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53DDEF-504E-0579-FF5F-8F4099C6CC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17500"/>
            <a:ext cx="18034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2CA8A59-9BFD-3F45-24BE-1AAEBDDA7D4C}"/>
              </a:ext>
            </a:extLst>
          </p:cNvPr>
          <p:cNvSpPr txBox="1"/>
          <p:nvPr/>
        </p:nvSpPr>
        <p:spPr>
          <a:xfrm>
            <a:off x="736600" y="889000"/>
            <a:ext cx="889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500" b="1">
                <a:solidFill>
                  <a:srgbClr val="0A2A4E"/>
                </a:solidFill>
                <a:latin typeface="Aptos" panose="020B0004020202020204" pitchFamily="34" charset="0"/>
              </a:rPr>
              <a:t>Firma electrÃ³nica Prisma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E663F3-89CC-9A45-3932-F7BC1E39A8C9}"/>
              </a:ext>
            </a:extLst>
          </p:cNvPr>
          <p:cNvSpPr txBox="1"/>
          <p:nvPr/>
        </p:nvSpPr>
        <p:spPr>
          <a:xfrm>
            <a:off x="736600" y="13335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100">
                <a:solidFill>
                  <a:srgbClr val="596D80"/>
                </a:solidFill>
                <a:latin typeface="Aptos" panose="020B0004020202020204" pitchFamily="34" charset="0"/>
              </a:rPr>
              <a:t>IntegraciÃ³n de firma PDF con ubicaciÃ³n visual controlada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4323668-2FF1-C70A-D901-4CAC92ABC3F1}"/>
              </a:ext>
            </a:extLst>
          </p:cNvPr>
          <p:cNvSpPr txBox="1"/>
          <p:nvPr/>
        </p:nvSpPr>
        <p:spPr>
          <a:xfrm>
            <a:off x="736600" y="6502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DGAC | Informe de avance | 25 septiembre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857C14-B385-B392-D6EA-310EB6A5F6D6}"/>
              </a:ext>
            </a:extLst>
          </p:cNvPr>
          <p:cNvSpPr txBox="1"/>
          <p:nvPr/>
        </p:nvSpPr>
        <p:spPr>
          <a:xfrm>
            <a:off x="11366500" y="6502400"/>
            <a:ext cx="317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99F8673-517A-31E4-851D-49797C547BE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841500"/>
            <a:ext cx="5905500" cy="40005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A5C9178-9AB7-638A-A8DA-EE7212A5A6AE}"/>
              </a:ext>
            </a:extLst>
          </p:cNvPr>
          <p:cNvSpPr txBox="1"/>
          <p:nvPr/>
        </p:nvSpPr>
        <p:spPr>
          <a:xfrm>
            <a:off x="7175500" y="1968500"/>
            <a:ext cx="361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900" b="1">
                <a:solidFill>
                  <a:srgbClr val="0A2A4E"/>
                </a:solidFill>
                <a:latin typeface="Aptos" panose="020B0004020202020204" pitchFamily="34" charset="0"/>
              </a:rPr>
              <a:t>Avance implementado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B77343B-F017-6FC4-9AAE-E02416F6D2A6}"/>
              </a:ext>
            </a:extLst>
          </p:cNvPr>
          <p:cNvSpPr txBox="1"/>
          <p:nvPr/>
        </p:nvSpPr>
        <p:spPr>
          <a:xfrm>
            <a:off x="7175500" y="2540000"/>
            <a:ext cx="4000500" cy="21544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Solicitud de firma electrÃ³nica enviada al proveedor Prisma.</a:t>
            </a:r>
          </a:p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UbicaciÃ³n manual sobre la vista previa del PDF.</a:t>
            </a:r>
          </a:p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ConfiguraciÃ³n de concepto, lugar, pÃ¡gina, coordenadas y tamaÃ±o de fuente.</a:t>
            </a:r>
          </a:p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ParÃ¡metro show_dn soportado para controlar datos descriptivos.</a:t>
            </a:r>
          </a:p>
          <a:p>
            <a:r>
              <a:rPr lang="es-ES" sz="1400">
                <a:solidFill>
                  <a:srgbClr val="182D44"/>
                </a:solidFill>
                <a:latin typeface="Aptos" panose="020B0004020202020204" pitchFamily="34" charset="0"/>
              </a:rPr>
              <a:t>â€¢ El PDF firmado se guarda y queda disponible en el expediente.</a:t>
            </a:r>
            <a:endParaRPr lang="es-GT" sz="14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163AC3B-8B28-CB99-4263-12602D954EC1}"/>
              </a:ext>
            </a:extLst>
          </p:cNvPr>
          <p:cNvSpPr txBox="1"/>
          <p:nvPr/>
        </p:nvSpPr>
        <p:spPr>
          <a:xfrm>
            <a:off x="7175500" y="5143500"/>
            <a:ext cx="3619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C07700"/>
                </a:solidFill>
                <a:latin typeface="Aptos" panose="020B0004020202020204" pitchFamily="34" charset="0"/>
              </a:rPr>
              <a:t>Pendiente funcional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45E30E-99A5-794E-377B-924627F5A49B}"/>
              </a:ext>
            </a:extLst>
          </p:cNvPr>
          <p:cNvSpPr txBox="1"/>
          <p:nvPr/>
        </p:nvSpPr>
        <p:spPr>
          <a:xfrm>
            <a:off x="7175500" y="5524500"/>
            <a:ext cx="4000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182D44"/>
                </a:solidFill>
                <a:latin typeface="Aptos" panose="020B0004020202020204" pitchFamily="34" charset="0"/>
              </a:rPr>
              <a:t>Confirmar con Prisma la apariencia final deseada del estampado y los parÃ¡metros definitivos de prueba/producciÃ³n.</a:t>
            </a:r>
            <a:endParaRPr lang="es-GT" sz="12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87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818DEC2-07F1-0AFA-0B83-CDF96B01C916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75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EEB9A2-83DA-9C44-0C83-9FEB0F9F2EE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17500"/>
            <a:ext cx="18034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7BECCFD-E3BB-A33C-177E-639B05A8FF0A}"/>
              </a:ext>
            </a:extLst>
          </p:cNvPr>
          <p:cNvSpPr txBox="1"/>
          <p:nvPr/>
        </p:nvSpPr>
        <p:spPr>
          <a:xfrm>
            <a:off x="736600" y="889000"/>
            <a:ext cx="889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500" b="1">
                <a:solidFill>
                  <a:srgbClr val="0A2A4E"/>
                </a:solidFill>
                <a:latin typeface="Aptos" panose="020B0004020202020204" pitchFamily="34" charset="0"/>
              </a:rPr>
              <a:t>AdministraciÃ³n y control operativo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57D5AB-887C-90E6-7563-A448107CE4D5}"/>
              </a:ext>
            </a:extLst>
          </p:cNvPr>
          <p:cNvSpPr txBox="1"/>
          <p:nvPr/>
        </p:nvSpPr>
        <p:spPr>
          <a:xfrm>
            <a:off x="736600" y="13335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100">
                <a:solidFill>
                  <a:srgbClr val="596D80"/>
                </a:solidFill>
                <a:latin typeface="Aptos" panose="020B0004020202020204" pitchFamily="34" charset="0"/>
              </a:rPr>
              <a:t>Roles mÃºltiples y capacidades de gestiÃ³n ya incorporadas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59231F-5835-2BB2-8D51-97A3771DCDAF}"/>
              </a:ext>
            </a:extLst>
          </p:cNvPr>
          <p:cNvSpPr txBox="1"/>
          <p:nvPr/>
        </p:nvSpPr>
        <p:spPr>
          <a:xfrm>
            <a:off x="736600" y="6502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DGAC | Informe de avance | 25 septiembre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58ECFE-6D27-43DB-0F97-D9CFD04319B1}"/>
              </a:ext>
            </a:extLst>
          </p:cNvPr>
          <p:cNvSpPr txBox="1"/>
          <p:nvPr/>
        </p:nvSpPr>
        <p:spPr>
          <a:xfrm>
            <a:off x="11366500" y="6502400"/>
            <a:ext cx="317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7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60CB283-B7B6-3789-1731-B16CC59221B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841500"/>
            <a:ext cx="6921500" cy="3937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85706A2-9C35-4BD7-7751-6648D7CAD20A}"/>
              </a:ext>
            </a:extLst>
          </p:cNvPr>
          <p:cNvSpPr txBox="1"/>
          <p:nvPr/>
        </p:nvSpPr>
        <p:spPr>
          <a:xfrm>
            <a:off x="8064500" y="19685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800" b="1">
                <a:solidFill>
                  <a:srgbClr val="0A2A4E"/>
                </a:solidFill>
                <a:latin typeface="Aptos" panose="020B0004020202020204" pitchFamily="34" charset="0"/>
              </a:rPr>
              <a:t>Capacidades disponibles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F6D5CB7-8D38-A33D-1AA7-90A10265185A}"/>
              </a:ext>
            </a:extLst>
          </p:cNvPr>
          <p:cNvSpPr txBox="1"/>
          <p:nvPr/>
        </p:nvSpPr>
        <p:spPr>
          <a:xfrm>
            <a:off x="8064500" y="2540000"/>
            <a:ext cx="3238500" cy="23698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AsignaciÃ³n de varios roles por usuario.</a:t>
            </a:r>
          </a:p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Rol operador_pagos para futuras funciones financieras.</a:t>
            </a:r>
          </a:p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Acceso administrativo a usuarios y unidades.</a:t>
            </a:r>
          </a:p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SeparaciÃ³n de permisos para revisiÃ³n, aprobaciÃ³n, supervisiÃ³n y pagos.</a:t>
            </a:r>
          </a:p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MÃ³dulo de reversas restringido por rol.</a:t>
            </a:r>
          </a:p>
        </p:txBody>
      </p:sp>
    </p:spTree>
    <p:extLst>
      <p:ext uri="{BB962C8B-B14F-4D97-AF65-F5344CB8AC3E}">
        <p14:creationId xmlns:p14="http://schemas.microsoft.com/office/powerpoint/2010/main" val="629500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83D3603-5A8F-7D8F-9745-25A9DEC84440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75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C27806-F10D-87BC-87E5-003582030D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17500"/>
            <a:ext cx="18034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FCB2ADA-5B8A-9099-02CD-44E5C387C282}"/>
              </a:ext>
            </a:extLst>
          </p:cNvPr>
          <p:cNvSpPr txBox="1"/>
          <p:nvPr/>
        </p:nvSpPr>
        <p:spPr>
          <a:xfrm>
            <a:off x="736600" y="889000"/>
            <a:ext cx="889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500" b="1">
                <a:solidFill>
                  <a:srgbClr val="0A2A4E"/>
                </a:solidFill>
                <a:latin typeface="Aptos" panose="020B0004020202020204" pitchFamily="34" charset="0"/>
              </a:rPr>
              <a:t>OperaciÃ³n financiera y trazabilidad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C679AA7-E908-BDF6-195D-1BF50156FEBD}"/>
              </a:ext>
            </a:extLst>
          </p:cNvPr>
          <p:cNvSpPr txBox="1"/>
          <p:nvPr/>
        </p:nvSpPr>
        <p:spPr>
          <a:xfrm>
            <a:off x="736600" y="13335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96D80"/>
                </a:solidFill>
                <a:latin typeface="Aptos" panose="020B0004020202020204" pitchFamily="34" charset="0"/>
              </a:rPr>
              <a:t>Controles que acompaÃ±an el ciclo de pago</a:t>
            </a:r>
            <a:endParaRPr lang="es-GT" sz="1100">
              <a:solidFill>
                <a:srgbClr val="596D8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A89A08-D73B-B452-034C-00B0EF83B0BF}"/>
              </a:ext>
            </a:extLst>
          </p:cNvPr>
          <p:cNvSpPr txBox="1"/>
          <p:nvPr/>
        </p:nvSpPr>
        <p:spPr>
          <a:xfrm>
            <a:off x="736600" y="6502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DGAC | Informe de avance | 25 septiembre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EBD1831-777E-0B15-1B99-D23E1967C6C6}"/>
              </a:ext>
            </a:extLst>
          </p:cNvPr>
          <p:cNvSpPr txBox="1"/>
          <p:nvPr/>
        </p:nvSpPr>
        <p:spPr>
          <a:xfrm>
            <a:off x="11366500" y="6502400"/>
            <a:ext cx="317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8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7258F1C-00A3-95A9-EE1B-DD985A4D393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841500"/>
            <a:ext cx="5334000" cy="36195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1F4104F-5F63-6E70-B2C5-67437C21690E}"/>
              </a:ext>
            </a:extLst>
          </p:cNvPr>
          <p:cNvSpPr txBox="1"/>
          <p:nvPr/>
        </p:nvSpPr>
        <p:spPr>
          <a:xfrm>
            <a:off x="6604000" y="1968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800" b="1">
                <a:solidFill>
                  <a:srgbClr val="0A2A4E"/>
                </a:solidFill>
                <a:latin typeface="Aptos" panose="020B0004020202020204" pitchFamily="34" charset="0"/>
              </a:rPr>
              <a:t>Implementado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5E4D11-5A2E-418F-7B4E-AFD72AF76462}"/>
              </a:ext>
            </a:extLst>
          </p:cNvPr>
          <p:cNvSpPr txBox="1"/>
          <p:nvPr/>
        </p:nvSpPr>
        <p:spPr>
          <a:xfrm>
            <a:off x="6604000" y="2540000"/>
            <a:ext cx="4381500" cy="17235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Registro persistente de estado, monto, referencia y auditorÃ­a.</a:t>
            </a:r>
          </a:p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Consulta de transacciones para gestiÃ³n financiera.</a:t>
            </a:r>
          </a:p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Reversas con autorizaciÃ³n de rol y registro administrativo.</a:t>
            </a:r>
          </a:p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Comprobante descargable para pagos aprobados.</a:t>
            </a:r>
          </a:p>
          <a:p>
            <a:r>
              <a:rPr lang="es-GT" sz="1400">
                <a:solidFill>
                  <a:srgbClr val="182D44"/>
                </a:solidFill>
                <a:latin typeface="Aptos" panose="020B0004020202020204" pitchFamily="34" charset="0"/>
              </a:rPr>
              <a:t>â€¢ SanitizaciÃ³n de respuestas de la pasarela para no exponer secretos.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C155149-754A-8A9A-F257-159C22789D4D}"/>
              </a:ext>
            </a:extLst>
          </p:cNvPr>
          <p:cNvSpPr txBox="1"/>
          <p:nvPr/>
        </p:nvSpPr>
        <p:spPr>
          <a:xfrm>
            <a:off x="6604000" y="4953000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C07700"/>
                </a:solidFill>
                <a:latin typeface="Aptos" panose="020B0004020202020204" pitchFamily="34" charset="0"/>
              </a:rPr>
              <a:t>Pendiente de certificaciÃ³n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CF04D80-C617-A45E-2BED-C329A7F63030}"/>
              </a:ext>
            </a:extLst>
          </p:cNvPr>
          <p:cNvSpPr txBox="1"/>
          <p:nvPr/>
        </p:nvSpPr>
        <p:spPr>
          <a:xfrm>
            <a:off x="6604000" y="5334000"/>
            <a:ext cx="425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182D44"/>
                </a:solidFill>
                <a:latin typeface="Aptos" panose="020B0004020202020204" pitchFamily="34" charset="0"/>
              </a:rPr>
              <a:t>Validar con NeoNet la reversa automÃ¡tica, anulaciÃ³n y comprobantes en escenarios reales de laboratorio.</a:t>
            </a:r>
            <a:endParaRPr lang="es-GT" sz="12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528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8902B5F-207C-AE19-F70E-86B8B58FA830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75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76C921-6EA5-92B5-C38B-21A8263AC10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17500"/>
            <a:ext cx="18034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EE6C24C-AAB2-B760-03A1-4220EB95B90D}"/>
              </a:ext>
            </a:extLst>
          </p:cNvPr>
          <p:cNvSpPr txBox="1"/>
          <p:nvPr/>
        </p:nvSpPr>
        <p:spPr>
          <a:xfrm>
            <a:off x="736600" y="889000"/>
            <a:ext cx="889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500" b="1">
                <a:solidFill>
                  <a:srgbClr val="0A2A4E"/>
                </a:solidFill>
                <a:latin typeface="Aptos" panose="020B0004020202020204" pitchFamily="34" charset="0"/>
              </a:rPr>
              <a:t>Ruta para entorno de pruebas y certificaciÃ³n</a:t>
            </a:r>
            <a:endParaRPr lang="es-GT" sz="2500" b="1">
              <a:solidFill>
                <a:srgbClr val="0A2A4E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6D46EE-B85A-A517-9017-6E500D188C2E}"/>
              </a:ext>
            </a:extLst>
          </p:cNvPr>
          <p:cNvSpPr txBox="1"/>
          <p:nvPr/>
        </p:nvSpPr>
        <p:spPr>
          <a:xfrm>
            <a:off x="736600" y="13335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100">
                <a:solidFill>
                  <a:srgbClr val="596D80"/>
                </a:solidFill>
                <a:latin typeface="Aptos" panose="020B0004020202020204" pitchFamily="34" charset="0"/>
              </a:rPr>
              <a:t>Trabajo pendiente priorizado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30FAFD-70CF-D118-C902-FDB583105B35}"/>
              </a:ext>
            </a:extLst>
          </p:cNvPr>
          <p:cNvSpPr txBox="1"/>
          <p:nvPr/>
        </p:nvSpPr>
        <p:spPr>
          <a:xfrm>
            <a:off x="736600" y="65024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DGAC | Informe de avance | 25 septiembre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ECB34A-1E67-E2C4-36F7-EAA49AE4A0D7}"/>
              </a:ext>
            </a:extLst>
          </p:cNvPr>
          <p:cNvSpPr txBox="1"/>
          <p:nvPr/>
        </p:nvSpPr>
        <p:spPr>
          <a:xfrm>
            <a:off x="11366500" y="6502400"/>
            <a:ext cx="317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96D80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45095A1-A094-FA55-FC59-DAD31791362C}"/>
              </a:ext>
            </a:extLst>
          </p:cNvPr>
          <p:cNvSpPr/>
          <p:nvPr/>
        </p:nvSpPr>
        <p:spPr>
          <a:xfrm>
            <a:off x="736600" y="1841500"/>
            <a:ext cx="106045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0DFBC33-4889-A7AE-3373-FF42818A3748}"/>
              </a:ext>
            </a:extLst>
          </p:cNvPr>
          <p:cNvSpPr txBox="1"/>
          <p:nvPr/>
        </p:nvSpPr>
        <p:spPr>
          <a:xfrm>
            <a:off x="1016000" y="20574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0758A0"/>
                </a:solidFill>
                <a:latin typeface="Aptos" panose="020B0004020202020204" pitchFamily="34" charset="0"/>
              </a:rPr>
              <a:t>1. Restablecer matriz NeoNet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367B6AB-6883-1237-82B9-DC1BE8B9B3E7}"/>
              </a:ext>
            </a:extLst>
          </p:cNvPr>
          <p:cNvSpPr txBox="1"/>
          <p:nvPr/>
        </p:nvSpPr>
        <p:spPr>
          <a:xfrm>
            <a:off x="4064000" y="2070100"/>
            <a:ext cx="6667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300">
                <a:solidFill>
                  <a:srgbClr val="182D44"/>
                </a:solidFill>
                <a:latin typeface="Aptos" panose="020B0004020202020204" pitchFamily="34" charset="0"/>
              </a:rPr>
              <a:t>Confirmar respuesta del ambiente y ejecutar Visa/Mastercard, frictionless y challenge.</a:t>
            </a:r>
            <a:endParaRPr lang="es-GT" sz="13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6F534DB-90F2-D336-3360-FF42EDFAD6B5}"/>
              </a:ext>
            </a:extLst>
          </p:cNvPr>
          <p:cNvSpPr/>
          <p:nvPr/>
        </p:nvSpPr>
        <p:spPr>
          <a:xfrm>
            <a:off x="736600" y="2857500"/>
            <a:ext cx="106045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23C5431-4732-F16F-8A0A-38D323074B1C}"/>
              </a:ext>
            </a:extLst>
          </p:cNvPr>
          <p:cNvSpPr txBox="1"/>
          <p:nvPr/>
        </p:nvSpPr>
        <p:spPr>
          <a:xfrm>
            <a:off x="1016000" y="30734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0758A0"/>
                </a:solidFill>
                <a:latin typeface="Aptos" panose="020B0004020202020204" pitchFamily="34" charset="0"/>
              </a:rPr>
              <a:t>2. Certificar operaciones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84A2F09-34A9-3AFD-1FF5-FBFBAD397EAB}"/>
              </a:ext>
            </a:extLst>
          </p:cNvPr>
          <p:cNvSpPr txBox="1"/>
          <p:nvPr/>
        </p:nvSpPr>
        <p:spPr>
          <a:xfrm>
            <a:off x="4064000" y="3086100"/>
            <a:ext cx="6667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300">
                <a:solidFill>
                  <a:srgbClr val="182D44"/>
                </a:solidFill>
                <a:latin typeface="Aptos" panose="020B0004020202020204" pitchFamily="34" charset="0"/>
              </a:rPr>
              <a:t>Venta aprobada, rechazada, timeout con reversa, anulaciÃ³n y comprobantes.</a:t>
            </a:r>
            <a:endParaRPr lang="es-GT" sz="13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FA714D-BB7B-A0DC-89C6-93526C22550C}"/>
              </a:ext>
            </a:extLst>
          </p:cNvPr>
          <p:cNvSpPr/>
          <p:nvPr/>
        </p:nvSpPr>
        <p:spPr>
          <a:xfrm>
            <a:off x="736600" y="3873500"/>
            <a:ext cx="106045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CD15191-A0D5-14E1-D073-8752F437968B}"/>
              </a:ext>
            </a:extLst>
          </p:cNvPr>
          <p:cNvSpPr txBox="1"/>
          <p:nvPr/>
        </p:nvSpPr>
        <p:spPr>
          <a:xfrm>
            <a:off x="1016000" y="40894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008080"/>
                </a:solidFill>
                <a:latin typeface="Aptos" panose="020B0004020202020204" pitchFamily="34" charset="0"/>
              </a:rPr>
              <a:t>3. Cerrar firma Prisma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4E42F59-5F1C-4CF0-6CA6-69B5A9DA2688}"/>
              </a:ext>
            </a:extLst>
          </p:cNvPr>
          <p:cNvSpPr txBox="1"/>
          <p:nvPr/>
        </p:nvSpPr>
        <p:spPr>
          <a:xfrm>
            <a:off x="4064000" y="4102100"/>
            <a:ext cx="6667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300">
                <a:solidFill>
                  <a:srgbClr val="182D44"/>
                </a:solidFill>
                <a:latin typeface="Aptos" panose="020B0004020202020204" pitchFamily="34" charset="0"/>
              </a:rPr>
              <a:t>Validar parÃ¡metros finales de ambiente, apariencia oficial y operaciÃ³n repetida.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5C02D7E-83DC-8C3B-4E43-CBBF0B58B5DA}"/>
              </a:ext>
            </a:extLst>
          </p:cNvPr>
          <p:cNvSpPr/>
          <p:nvPr/>
        </p:nvSpPr>
        <p:spPr>
          <a:xfrm>
            <a:off x="736600" y="4889500"/>
            <a:ext cx="106045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3BE8710-4CF3-6342-559C-48C3DE06680F}"/>
              </a:ext>
            </a:extLst>
          </p:cNvPr>
          <p:cNvSpPr txBox="1"/>
          <p:nvPr/>
        </p:nvSpPr>
        <p:spPr>
          <a:xfrm>
            <a:off x="1016000" y="51054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1C8E5E"/>
                </a:solidFill>
                <a:latin typeface="Aptos" panose="020B0004020202020204" pitchFamily="34" charset="0"/>
              </a:rPr>
              <a:t>4. Desplegar en pruebas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8DE7747-D8DE-1F3B-F3B9-1D70D0203987}"/>
              </a:ext>
            </a:extLst>
          </p:cNvPr>
          <p:cNvSpPr txBox="1"/>
          <p:nvPr/>
        </p:nvSpPr>
        <p:spPr>
          <a:xfrm>
            <a:off x="4064000" y="5118100"/>
            <a:ext cx="6667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300">
                <a:solidFill>
                  <a:srgbClr val="182D44"/>
                </a:solidFill>
                <a:latin typeface="Aptos" panose="020B0004020202020204" pitchFamily="34" charset="0"/>
              </a:rPr>
              <a:t>Aplicar migraciones verificadas, variables de entorno, pruebas de humo y monitoreo.</a:t>
            </a:r>
            <a:endParaRPr lang="es-GT" sz="1300">
              <a:solidFill>
                <a:srgbClr val="182D4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74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</Words>
  <Application>Microsoft Office PowerPoint</Application>
  <PresentationFormat>Presentación en pantalla (16:9)</PresentationFormat>
  <Paragraphs>115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Gerber Eduardo Salazar Estrada</dc:creator>
  <cp:lastModifiedBy>Gerber Eduardo Salazar Estrada</cp:lastModifiedBy>
  <cp:revision>1</cp:revision>
  <dcterms:created xsi:type="dcterms:W3CDTF">2026-09-25T17:17:35Z</dcterms:created>
  <dcterms:modified xsi:type="dcterms:W3CDTF">2026-09-25T17:17:35Z</dcterms:modified>
</cp:coreProperties>
</file>